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601200" cy="73152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53060" y="857250"/>
            <a:ext cx="303788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Sample_size_determination" TargetMode="External"/><Relationship Id="rId1" Type="http://schemas.openxmlformats.org/officeDocument/2006/relationships/hyperlink" Target="https://en.wikipedia.org/wiki/Sampling_(statistics)" TargetMode="Externa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hyperlink" Target="https://en.wikipedia.org/wiki/Electronic_data_interchange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hyperlink" Target="https://www.amazon.com/Six-Sigma-Way-Maximize-Improvement/dp/0071497323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hyperlink" Target="https://www.studocu.com/hk?utm_campaign=shared-document&amp;utm_source=studocu-document&amp;utm_medium=social_sharing&amp;utm_content=lecture-6-project-quality-management-part-ii" TargetMode="Externa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hyperlink" Target="https://www.studocu.com/hk?utm_campaign=shared-document&amp;utm_source=studocu-document&amp;utm_medium=social_sharing&amp;utm_content=lecture-6-project-quality-management-part-ii" TargetMode="Externa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en.wikipedia.org/wiki/Normal_distribution" TargetMode="Externa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studocu.com/hk?utm_campaign=shared-document&amp;utm_source=studocu-document&amp;utm_medium=social_sharing&amp;utm_content=lecture-6-project-quality-management-part-ii" TargetMode="Externa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www.studocu.com/hk?utm_campaign=shared-document&amp;utm_source=studocu-document&amp;utm_medium=social_sharing&amp;utm_content=lecture-6-project-quality-management-part-ii" TargetMode="External"/><Relationship Id="rId4" Type="http://schemas.openxmlformats.org/officeDocument/2006/relationships/image" Target="../media/image20.png"/><Relationship Id="rId3" Type="http://schemas.openxmlformats.org/officeDocument/2006/relationships/hyperlink" Target="https://en.wikipedia.org/wiki/Scalability_testing" TargetMode="External"/><Relationship Id="rId2" Type="http://schemas.openxmlformats.org/officeDocument/2006/relationships/hyperlink" Target="https://en.wikipedia.org/wiki/Software_performance_testing" TargetMode="External"/><Relationship Id="rId1" Type="http://schemas.openxmlformats.org/officeDocument/2006/relationships/hyperlink" Target="https://www.softwaretestinghelp.com/what-is-alpha-testing-beta-testing/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hyperlink" Target="https://www.istqb.org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hyperlink" Target="https://www.studocu.com/hk?utm_campaign=shared-document&amp;utm_source=studocu-document&amp;utm_medium=social_sharing&amp;utm_content=lecture-6-project-quality-management-part-ii" TargetMode="Externa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baike.baidu.com/item/%E4%B8%AD%E5%9B%BD%E8%B4%A8%E9%87%8F%E5%A5%96/1835350" TargetMode="External"/><Relationship Id="rId3" Type="http://schemas.openxmlformats.org/officeDocument/2006/relationships/hyperlink" Target="https://baike.baidu.com/item/%E5%85%A8%E5%9B%BD%E8%B4%A8%E9%87%8F%E5%A5%96/1084646" TargetMode="External"/><Relationship Id="rId2" Type="http://schemas.openxmlformats.org/officeDocument/2006/relationships/hyperlink" Target="https://www.nist.gov/baldrige/baldrige-award" TargetMode="External"/><Relationship Id="rId1" Type="http://schemas.openxmlformats.org/officeDocument/2006/relationships/hyperlink" Target="https://en.wikipedia.org/wiki/Malcolm_Baldrige_National_Quality_Award" TargetMode="Externa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hyperlink" Target="https://en.wikipedia.org/wiki/International_Organization_for_Standardization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hyperlink" Target="https://www.studocu.com/hk?utm_campaign=shared-document&amp;utm_source=studocu-document&amp;utm_medium=social_sharing&amp;utm_content=lecture-6-project-quality-management-part-ii" TargetMode="Externa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5.png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hyperlink" Target="https://www.amazon.com/Peopleware-Productive-Projects-Teams-3rd/dp/0321934113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hyperlink" Target="https://www.studocu.com/hk?utm_campaign=shared-document&amp;utm_source=studocu-document&amp;utm_medium=social_sharing&amp;utm_content=lecture-6-project-quality-management-part-ii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en.wikipedia.org/wiki/Capability_Maturity_Model_Integration" TargetMode="External"/><Relationship Id="rId1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hyperlink" Target="https://www.amazon.com/Organizational-Management-Maturity-Knowledge-Foundation/dp/1935589709?ref_=ast_author_dp&amp;dib=eyJ2IjoiMSJ9.LppZeGzncCU-cDfhLCaTo0iSsG3S4mAOPJXQiGa7VHrqpzd3oXni4yOPYpWXMUrEek4mPpiM1pUOsF1t6k4csYTnOud7FBFr3YIvH0dWz8J0kO0R5Dcjgogv1gM3D_5Fqm5fq95YEKVYW4lQfDV9LnAcJPLrZ3VaJckn7kCyX-EwuNOoCo5F-rNjaJFJGUDnHQmUOAO3DRnOvYr_HsNwt2FeYvdsq9CXmYqHTtJaX74.9lKm2wvSMpju-7uU9foj23joaZgb3JqbuzBRWH1BPGQ&amp;dib_tag=AUTHOR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486081" y="1379735"/>
            <a:ext cx="8545194" cy="2174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1950" indent="-349250" algn="l" rtl="0" eaLnBrk="0">
              <a:lnSpc>
                <a:spcPct val="97000"/>
              </a:lnSpc>
            </a:pPr>
            <a:r>
              <a:rPr sz="1900" kern="0" spc="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n</a:t>
            </a:r>
            <a:r>
              <a:rPr sz="1900" kern="0" spc="-5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-39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5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Statistical sampling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involves choosing part of</a:t>
            </a:r>
            <a:r>
              <a:rPr sz="21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population of</a:t>
            </a:r>
            <a:r>
              <a:rPr sz="21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interest for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inspection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7000"/>
              </a:lnSpc>
              <a:spcBef>
                <a:spcPts val="118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statistical technique to determine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 app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ropriate sample size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when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4860" algn="l" rtl="0" eaLnBrk="0">
              <a:lnSpc>
                <a:spcPct val="88000"/>
              </a:lnSpc>
              <a:spcBef>
                <a:spcPts val="315"/>
              </a:spcBef>
            </a:pP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impractical or impossible to study every member of</a:t>
            </a:r>
            <a:r>
              <a:rPr sz="2000" kern="0" spc="-1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populati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4000"/>
              </a:lnSpc>
            </a:pP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5125" indent="-352425" algn="l" rtl="0" eaLnBrk="0">
              <a:lnSpc>
                <a:spcPct val="104000"/>
              </a:lnSpc>
              <a:spcBef>
                <a:spcPts val="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n</a:t>
            </a:r>
            <a:r>
              <a:rPr sz="1900" kern="0" spc="-5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-38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Sample</a:t>
            </a:r>
            <a:r>
              <a:rPr sz="2100" u="sng" kern="0" spc="15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size</a:t>
            </a:r>
            <a:r>
              <a:rPr sz="2100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depends on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how representative you want it to be. A simple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formula for determining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sample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siz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e: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6769" y="2169553"/>
            <a:ext cx="135255" cy="211073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964057" y="4292513"/>
            <a:ext cx="8091169" cy="1247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07975" indent="-295275" algn="l" rtl="0" eaLnBrk="0">
              <a:lnSpc>
                <a:spcPct val="88000"/>
              </a:lnSpc>
              <a:tabLst>
                <a:tab pos="147320" algn="l"/>
              </a:tabLst>
            </a:pP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i="1" kern="0" spc="18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Certainty</a:t>
            </a:r>
            <a:r>
              <a:rPr sz="2000" i="1" kern="0" spc="-3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factor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calculated based on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desired certainty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 the sampled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data provides the characteristic of</a:t>
            </a: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whole population.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8000"/>
              </a:lnSpc>
            </a:pP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08610" indent="-295910" algn="l" rtl="0" eaLnBrk="0">
              <a:lnSpc>
                <a:spcPct val="88000"/>
              </a:lnSpc>
              <a:tabLst>
                <a:tab pos="147320" algn="l"/>
              </a:tabLst>
            </a:pP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i="1" kern="0" spc="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Acceptable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specifies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range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acceptable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characteristic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drawn from the sampled data and is set based on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problem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context.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76770" y="4996573"/>
            <a:ext cx="135255" cy="21107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76757" y="4310773"/>
            <a:ext cx="135255" cy="211073"/>
          </a:xfrm>
          <a:prstGeom prst="rect">
            <a:avLst/>
          </a:prstGeom>
        </p:spPr>
      </p:pic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2472055" y="5690781"/>
          <a:ext cx="5056505" cy="1113155"/>
        </p:xfrm>
        <a:graphic>
          <a:graphicData uri="http://schemas.openxmlformats.org/drawingml/2006/table">
            <a:tbl>
              <a:tblPr/>
              <a:tblGrid>
                <a:gridCol w="2556510"/>
                <a:gridCol w="2499995"/>
              </a:tblGrid>
              <a:tr h="2813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3030" algn="l" rtl="0" eaLnBrk="0">
                        <a:lnSpc>
                          <a:spcPct val="73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Desired Certain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ty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00380" algn="l" rtl="0" eaLnBrk="0">
                        <a:lnSpc>
                          <a:spcPct val="73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Certainty F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actor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</a:tr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6680" algn="l" rtl="0" eaLnBrk="0">
                        <a:lnSpc>
                          <a:spcPct val="69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95%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6475" algn="l" rtl="0" eaLnBrk="0">
                        <a:lnSpc>
                          <a:spcPct val="68000"/>
                        </a:lnSpc>
                        <a:spcBef>
                          <a:spcPts val="0"/>
                        </a:spcBef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1.960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274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6680" algn="l" rtl="0" eaLnBrk="0">
                        <a:lnSpc>
                          <a:spcPct val="69000"/>
                        </a:lnSpc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90%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6475" algn="l" rtl="0" eaLnBrk="0">
                        <a:lnSpc>
                          <a:spcPct val="68000"/>
                        </a:lnSpc>
                        <a:spcBef>
                          <a:spcPts val="0"/>
                        </a:spcBef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1.645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  <a:tr h="2813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6680" algn="l" rtl="0" eaLnBrk="0">
                        <a:lnSpc>
                          <a:spcPct val="69000"/>
                        </a:lnSpc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6475" algn="l" rtl="0" eaLnBrk="0">
                        <a:lnSpc>
                          <a:spcPct val="68000"/>
                        </a:lnSpc>
                        <a:spcBef>
                          <a:spcPts val="0"/>
                        </a:spcBef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1.281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6"/>
          <p:cNvSpPr/>
          <p:nvPr/>
        </p:nvSpPr>
        <p:spPr>
          <a:xfrm>
            <a:off x="2009279" y="3745753"/>
            <a:ext cx="6141720" cy="338454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7000"/>
              </a:lnSpc>
              <a:spcBef>
                <a:spcPts val="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Sample size = 0.25 *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certainty</a:t>
            </a:r>
            <a:r>
              <a:rPr sz="2000" i="1" kern="0" spc="-3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</a:t>
            </a:r>
            <a:r>
              <a:rPr sz="2000" i="1" kern="0" spc="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÷</a:t>
            </a:r>
            <a:r>
              <a:rPr sz="2000" kern="0" spc="-4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acceptable error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r>
              <a:rPr sz="2400" kern="0" spc="-10" baseline="30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</a:t>
            </a:r>
            <a:endParaRPr sz="2400" baseline="30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8" name="path 1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" name="path 2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2"/>
          <p:cNvSpPr/>
          <p:nvPr/>
        </p:nvSpPr>
        <p:spPr>
          <a:xfrm>
            <a:off x="417562" y="447230"/>
            <a:ext cx="3665854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Statistical</a:t>
            </a:r>
            <a:r>
              <a:rPr sz="3600" kern="0" spc="3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Sampling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3241756" y="6919277"/>
            <a:ext cx="3556634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400" kern="0" spc="9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Table 8-1</a:t>
            </a:r>
            <a:r>
              <a:rPr sz="1400" kern="0" spc="8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Commonly used certainty factors</a:t>
            </a:r>
            <a:endParaRPr sz="1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9337816" y="7058950"/>
            <a:ext cx="9969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 2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rect 30"/>
          <p:cNvSpPr/>
          <p:nvPr/>
        </p:nvSpPr>
        <p:spPr>
          <a:xfrm>
            <a:off x="2775851" y="4346206"/>
            <a:ext cx="2270760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rect 32"/>
          <p:cNvSpPr/>
          <p:nvPr/>
        </p:nvSpPr>
        <p:spPr>
          <a:xfrm>
            <a:off x="5046611" y="4346206"/>
            <a:ext cx="633983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rect 34"/>
          <p:cNvSpPr/>
          <p:nvPr/>
        </p:nvSpPr>
        <p:spPr>
          <a:xfrm>
            <a:off x="5999111" y="4346206"/>
            <a:ext cx="448057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" name="rect 36"/>
          <p:cNvSpPr/>
          <p:nvPr/>
        </p:nvSpPr>
        <p:spPr>
          <a:xfrm>
            <a:off x="6447167" y="4346206"/>
            <a:ext cx="83815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rect 38"/>
          <p:cNvSpPr/>
          <p:nvPr/>
        </p:nvSpPr>
        <p:spPr>
          <a:xfrm>
            <a:off x="6530987" y="4346206"/>
            <a:ext cx="85342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rect 40"/>
          <p:cNvSpPr/>
          <p:nvPr/>
        </p:nvSpPr>
        <p:spPr>
          <a:xfrm>
            <a:off x="6674242" y="4346206"/>
            <a:ext cx="527308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" name="rect 42"/>
          <p:cNvSpPr/>
          <p:nvPr/>
        </p:nvSpPr>
        <p:spPr>
          <a:xfrm>
            <a:off x="5680595" y="4346206"/>
            <a:ext cx="254505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textbox 44"/>
          <p:cNvSpPr/>
          <p:nvPr/>
        </p:nvSpPr>
        <p:spPr>
          <a:xfrm>
            <a:off x="560362" y="1375867"/>
            <a:ext cx="8298180" cy="485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8300" indent="-355600" algn="l" rtl="0" eaLnBrk="0">
              <a:lnSpc>
                <a:spcPct val="93000"/>
              </a:lnSpc>
            </a:pPr>
            <a:r>
              <a:rPr sz="18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Suppose a compan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 wants to develop an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electronic data interchange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000" u="sng" kern="0" spc="-1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EDI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 for handling invoice data from all its suppli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ers. It receives 50,000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3220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invoices from 200 different suppliers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the past year.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7400" indent="-295275" algn="l" rtl="0" eaLnBrk="0">
              <a:lnSpc>
                <a:spcPct val="88000"/>
              </a:lnSpc>
              <a:spcBef>
                <a:spcPts val="1495"/>
              </a:spcBef>
              <a:tabLst>
                <a:tab pos="62738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Very time consuming and expensive to review every invoi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ce to determine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data requirements for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new system.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8140" indent="-345440" algn="l" rtl="0" eaLnBrk="0">
              <a:lnSpc>
                <a:spcPct val="95000"/>
              </a:lnSpc>
              <a:spcBef>
                <a:spcPts val="1560"/>
              </a:spcBef>
            </a:pPr>
            <a:r>
              <a:rPr sz="1800" kern="0" spc="-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Suppose 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 system developers would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accept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90% certainty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 a sample o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invoices would contain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 variation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unless it was present in the population of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total invoices. In this context, ac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ceptable error is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10%.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231390" algn="l" rtl="0" eaLnBrk="0">
              <a:lnSpc>
                <a:spcPct val="86000"/>
              </a:lnSpc>
              <a:spcBef>
                <a:spcPts val="610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Sample size = 0.25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*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000" i="1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1.645</a:t>
            </a:r>
            <a:r>
              <a:rPr sz="2000" i="1" kern="0" spc="2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÷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000" i="1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0.10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r>
              <a:rPr sz="2000" kern="0" spc="-20" baseline="29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=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68.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4490" indent="-351790" algn="l" rtl="0" eaLnBrk="0">
              <a:lnSpc>
                <a:spcPct val="93000"/>
              </a:lnSpc>
              <a:spcBef>
                <a:spcPts val="605"/>
              </a:spcBef>
            </a:pPr>
            <a:r>
              <a:rPr sz="18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So, they only need to </a:t>
            </a:r>
            <a:r>
              <a:rPr sz="2000" i="1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randomly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examine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68 invoices to determine the type of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data the system would need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to capture.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5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80415" indent="-288290" algn="l" rtl="0" eaLnBrk="0">
              <a:lnSpc>
                <a:spcPct val="88000"/>
              </a:lnSpc>
              <a:tabLst>
                <a:tab pos="62738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 means of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data collection should be used to ensure important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user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requirements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are met.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82" y="5689993"/>
            <a:ext cx="135255" cy="211074"/>
          </a:xfrm>
          <a:prstGeom prst="rect">
            <a:avLst/>
          </a:prstGeom>
        </p:spPr>
      </p:pic>
      <p:sp>
        <p:nvSpPr>
          <p:cNvPr id="48" name="path 48"/>
          <p:cNvSpPr/>
          <p:nvPr/>
        </p:nvSpPr>
        <p:spPr>
          <a:xfrm>
            <a:off x="6614914" y="4346206"/>
            <a:ext cx="57909" cy="281939"/>
          </a:xfrm>
          <a:custGeom>
            <a:avLst/>
            <a:gdLst/>
            <a:ahLst/>
            <a:cxnLst/>
            <a:rect l="0" t="0" r="0" b="0"/>
            <a:pathLst>
              <a:path w="91" h="443">
                <a:moveTo>
                  <a:pt x="0" y="443"/>
                </a:moveTo>
                <a:lnTo>
                  <a:pt x="91" y="443"/>
                </a:lnTo>
                <a:lnTo>
                  <a:pt x="91" y="0"/>
                </a:lnTo>
                <a:lnTo>
                  <a:pt x="0" y="0"/>
                </a:lnTo>
                <a:lnTo>
                  <a:pt x="0" y="443"/>
                </a:lnTo>
                <a:close/>
              </a:path>
            </a:pathLst>
          </a:cu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path 50"/>
          <p:cNvSpPr/>
          <p:nvPr/>
        </p:nvSpPr>
        <p:spPr>
          <a:xfrm>
            <a:off x="5954539" y="4346206"/>
            <a:ext cx="64010" cy="281939"/>
          </a:xfrm>
          <a:custGeom>
            <a:avLst/>
            <a:gdLst/>
            <a:ahLst/>
            <a:cxnLst/>
            <a:rect l="0" t="0" r="0" b="0"/>
            <a:pathLst>
              <a:path w="100" h="443">
                <a:moveTo>
                  <a:pt x="0" y="443"/>
                </a:moveTo>
                <a:lnTo>
                  <a:pt x="100" y="443"/>
                </a:lnTo>
                <a:lnTo>
                  <a:pt x="100" y="0"/>
                </a:lnTo>
                <a:lnTo>
                  <a:pt x="0" y="0"/>
                </a:lnTo>
                <a:lnTo>
                  <a:pt x="0" y="443"/>
                </a:lnTo>
                <a:close/>
              </a:path>
            </a:pathLst>
          </a:cu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69" y="2489580"/>
            <a:ext cx="135255" cy="211073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54" name="path 5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" name="path 5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8" name="textbox 58"/>
          <p:cNvSpPr/>
          <p:nvPr/>
        </p:nvSpPr>
        <p:spPr>
          <a:xfrm>
            <a:off x="392416" y="447230"/>
            <a:ext cx="2319020" cy="500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 Example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9339639" y="7058950"/>
            <a:ext cx="97789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 6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562281" y="1379722"/>
            <a:ext cx="8612505" cy="4627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“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comprehensive and</a:t>
            </a:r>
            <a:r>
              <a:rPr sz="2100" i="1" kern="0" spc="-4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flexible system</a:t>
            </a:r>
            <a:r>
              <a:rPr sz="2100" i="1" kern="0" spc="-3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achieving, sustaining, and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8775" algn="l" rtl="0" eaLnBrk="0">
              <a:lnSpc>
                <a:spcPct val="87000"/>
              </a:lnSpc>
              <a:spcBef>
                <a:spcPts val="655"/>
              </a:spcBef>
            </a:pP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maximizing</a:t>
            </a:r>
            <a:r>
              <a:rPr sz="2100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business</a:t>
            </a:r>
            <a:r>
              <a:rPr sz="2100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success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”                   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 --- </a:t>
            </a:r>
            <a:r>
              <a:rPr sz="2100" i="1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Six</a:t>
            </a:r>
            <a:r>
              <a:rPr sz="2100" i="1" u="sng" kern="0" spc="5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i="1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Sigma</a:t>
            </a:r>
            <a:r>
              <a:rPr sz="2100" i="1" u="sng" kern="0" spc="28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i="1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Way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5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Driven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uniquely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by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close</a:t>
            </a:r>
            <a:r>
              <a:rPr sz="20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understanding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customer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disciplined</a:t>
            </a:r>
            <a:r>
              <a:rPr sz="20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facts, data and statistical analysis, and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diligent attention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to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managi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ng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8670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reinventing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iness processes.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5600" indent="-343535" algn="l" rtl="0" eaLnBrk="0">
              <a:lnSpc>
                <a:spcPct val="97000"/>
              </a:lnSpc>
              <a:spcBef>
                <a:spcPts val="1300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8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target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more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than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3.4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defects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errors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        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mistakes per million opportunities (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be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explained later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 organization can apply Six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principles to t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 design and production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product, a help desk or other customer-service processes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5125" indent="-352425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 using</a:t>
            </a:r>
            <a:r>
              <a:rPr sz="2100" kern="0" spc="2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100" kern="0" spc="2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principles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100" kern="0" spc="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 normally</a:t>
            </a:r>
            <a:r>
              <a:rPr sz="2100" kern="0" spc="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follow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five-phase improvement process called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DMAIC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5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0220" algn="l" rtl="0" eaLnBrk="0">
              <a:lnSpc>
                <a:spcPct val="88000"/>
              </a:lnSpc>
              <a:tabLst>
                <a:tab pos="625475" algn="l"/>
              </a:tabLst>
            </a:pP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i="1" kern="0" spc="8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i="1" u="sng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efine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u="sng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easure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i="1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u="sng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nalyze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i="1" kern="0" spc="-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u="sng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mprove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u="sng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ontrol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58" y="5720473"/>
            <a:ext cx="135255" cy="211074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70" y="4135500"/>
            <a:ext cx="135255" cy="211073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969" y="2245740"/>
            <a:ext cx="135255" cy="211073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72" name="path 7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" name="path 7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6" name="textbox 76"/>
          <p:cNvSpPr/>
          <p:nvPr/>
        </p:nvSpPr>
        <p:spPr>
          <a:xfrm>
            <a:off x="417562" y="447230"/>
            <a:ext cx="337502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(1</a:t>
            </a:r>
            <a:r>
              <a:rPr sz="3600" kern="0" spc="1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335572" y="7058950"/>
            <a:ext cx="10160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 8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1028588" y="1847710"/>
            <a:ext cx="4491990" cy="3721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06400" indent="-389255" algn="l" rtl="0" eaLnBrk="0">
              <a:lnSpc>
                <a:spcPct val="88000"/>
              </a:lnSpc>
            </a:pPr>
            <a:r>
              <a:rPr sz="1600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     </a:t>
            </a:r>
            <a:r>
              <a:rPr sz="1800" i="1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</a:t>
            </a:r>
            <a:r>
              <a:rPr sz="18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efine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Define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problem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/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opportunity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process, and customer requirements.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7145" algn="l" rtl="0" eaLnBrk="0">
              <a:lnSpc>
                <a:spcPct val="76000"/>
              </a:lnSpc>
              <a:spcBef>
                <a:spcPts val="1420"/>
              </a:spcBef>
            </a:pPr>
            <a:r>
              <a:rPr sz="16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</a:t>
            </a:r>
            <a:r>
              <a:rPr sz="16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 </a:t>
            </a:r>
            <a:r>
              <a:rPr sz="1800" i="1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</a:t>
            </a:r>
            <a:r>
              <a:rPr sz="18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easure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Define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measures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then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collect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15290" algn="l" rtl="0" eaLnBrk="0">
              <a:lnSpc>
                <a:spcPct val="88000"/>
              </a:lnSpc>
              <a:spcBef>
                <a:spcPts val="51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compile, and display dat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a. Measures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are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14655" algn="l" rtl="0" eaLnBrk="0">
              <a:lnSpc>
                <a:spcPct val="88000"/>
              </a:lnSpc>
              <a:spcBef>
                <a:spcPts val="26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defined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terms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defects</a:t>
            </a:r>
            <a:r>
              <a:rPr sz="1800" i="1" kern="0" spc="-2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</a:t>
            </a:r>
            <a:r>
              <a:rPr sz="1800" i="1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opportunity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14020" indent="-396875" algn="l" rtl="0" eaLnBrk="0">
              <a:lnSpc>
                <a:spcPct val="88000"/>
              </a:lnSpc>
              <a:spcBef>
                <a:spcPts val="1165"/>
              </a:spcBef>
            </a:pPr>
            <a:r>
              <a:rPr sz="16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iii</a:t>
            </a:r>
            <a:r>
              <a:rPr sz="16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</a:t>
            </a:r>
            <a:r>
              <a:rPr sz="1800" i="1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18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nalyze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Scrutinize</a:t>
            </a:r>
            <a:r>
              <a:rPr sz="18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details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find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improvement opportuni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ties.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14020" indent="-396875" algn="l" rtl="0" eaLnBrk="0">
              <a:lnSpc>
                <a:spcPct val="88000"/>
              </a:lnSpc>
              <a:spcBef>
                <a:spcPts val="1420"/>
              </a:spcBef>
            </a:pPr>
            <a:r>
              <a:rPr sz="16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iv.</a:t>
            </a:r>
            <a:r>
              <a:rPr sz="1600" i="1" kern="0" spc="1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1800" i="1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</a:t>
            </a:r>
            <a:r>
              <a:rPr sz="18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mprove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Generate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solutions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ideas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improving the pr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oblem.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7000"/>
              </a:lnSpc>
            </a:pP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13385" indent="-401320" algn="l" rtl="0" eaLnBrk="0">
              <a:lnSpc>
                <a:spcPct val="92000"/>
              </a:lnSpc>
              <a:spcBef>
                <a:spcPts val="5"/>
              </a:spcBef>
            </a:pPr>
            <a:r>
              <a:rPr sz="16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v.     </a:t>
            </a:r>
            <a:r>
              <a:rPr sz="1800" i="1" u="sng" kern="0" spc="-3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</a:t>
            </a:r>
            <a:r>
              <a:rPr sz="18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ontrol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Track and verify the stability of</a:t>
            </a:r>
            <a:r>
              <a:rPr sz="1800" kern="0" spc="-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improvements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predictability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solution.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620512" y="1895855"/>
            <a:ext cx="3523487" cy="3285744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606399" y="5759754"/>
            <a:ext cx="8173084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3220" indent="-350520" algn="l" rtl="0" eaLnBrk="0">
              <a:lnSpc>
                <a:spcPct val="94000"/>
              </a:lnSpc>
            </a:pPr>
            <a:r>
              <a:rPr sz="18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DMAIC is a sy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stematic, closed-loop process for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continued improvement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scienti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fic, and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 based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88" name="path 8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" name="path 9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2" name="textbox 92"/>
          <p:cNvSpPr/>
          <p:nvPr/>
        </p:nvSpPr>
        <p:spPr>
          <a:xfrm>
            <a:off x="417562" y="447230"/>
            <a:ext cx="337502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(2</a:t>
            </a:r>
            <a:r>
              <a:rPr sz="3600" kern="0" spc="1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94" name="picture 94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95600" y="6760461"/>
            <a:ext cx="3810000" cy="364238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562281" y="1379722"/>
            <a:ext cx="1260475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i="1" kern="0" spc="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DMAIC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9339639" y="7058950"/>
            <a:ext cx="97789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 10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rect 102"/>
          <p:cNvSpPr/>
          <p:nvPr/>
        </p:nvSpPr>
        <p:spPr>
          <a:xfrm>
            <a:off x="1340243" y="2621038"/>
            <a:ext cx="408434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rect 104"/>
          <p:cNvSpPr/>
          <p:nvPr/>
        </p:nvSpPr>
        <p:spPr>
          <a:xfrm>
            <a:off x="7012571" y="2316238"/>
            <a:ext cx="1162809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rect 106"/>
          <p:cNvSpPr/>
          <p:nvPr/>
        </p:nvSpPr>
        <p:spPr>
          <a:xfrm>
            <a:off x="8301875" y="2316238"/>
            <a:ext cx="697989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textbox 108"/>
          <p:cNvSpPr/>
          <p:nvPr/>
        </p:nvSpPr>
        <p:spPr>
          <a:xfrm>
            <a:off x="562281" y="1379735"/>
            <a:ext cx="8583930" cy="4791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Several new ideas in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ix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principles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</a:t>
            </a:r>
            <a:r>
              <a:rPr sz="2000" kern="0" spc="-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principles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require an organizati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on-wide commitment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1525" indent="-281305" algn="l" rtl="0" eaLnBrk="0">
              <a:lnSpc>
                <a:spcPct val="86000"/>
              </a:lnSpc>
              <a:spcBef>
                <a:spcPts val="149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</a:t>
            </a:r>
            <a:r>
              <a:rPr sz="2000" i="1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normally follows the “belt” system: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Yellow Belt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</a:t>
            </a:r>
            <a:r>
              <a:rPr sz="2000" i="1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een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Belt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Black</a:t>
            </a:r>
            <a:r>
              <a:rPr sz="2000" i="1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Belt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Master</a:t>
            </a:r>
            <a:r>
              <a:rPr sz="2000" i="1" u="sng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Black</a:t>
            </a:r>
            <a:r>
              <a:rPr sz="2000" i="1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Belt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86130" indent="-295910" algn="l" rtl="0" eaLnBrk="0">
              <a:lnSpc>
                <a:spcPct val="92000"/>
              </a:lnSpc>
              <a:spcBef>
                <a:spcPts val="60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 have the ability and willingness to adop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seemingly contrary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objectives at the same time, such as being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creative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i="1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rational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reducing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errors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getting things d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 faster.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3590" indent="-293370" algn="l" rtl="0" eaLnBrk="0">
              <a:lnSpc>
                <a:spcPct val="92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is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 operating philosoph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 is </a:t>
            </a:r>
            <a:r>
              <a:rPr sz="20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customer focused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and </a:t>
            </a:r>
            <a:r>
              <a:rPr sz="20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strives to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drive out waste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raise levels of</a:t>
            </a:r>
            <a:r>
              <a:rPr sz="2000" u="sng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 financial perform</a:t>
            </a:r>
            <a:r>
              <a:rPr sz="20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ance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at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breakthrough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levels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r>
              <a:rPr sz="20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Six Sigma organization sets high goals an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 uses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0255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DMAIC to achieve extraordinary quality improvement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3220" indent="-351155" algn="l" rtl="0" eaLnBrk="0">
              <a:lnSpc>
                <a:spcPct val="97000"/>
              </a:lnSpc>
              <a:spcBef>
                <a:spcPts val="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brings togeth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 many different themes, concepts and tools into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coherent management process used organizati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onal-wide.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68" y="4196473"/>
            <a:ext cx="135255" cy="211073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70" y="3129673"/>
            <a:ext cx="135255" cy="211073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2367660"/>
            <a:ext cx="135255" cy="211073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69" y="1910473"/>
            <a:ext cx="135255" cy="211073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396531" y="447230"/>
            <a:ext cx="7992744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How is</a:t>
            </a:r>
            <a:r>
              <a:rPr sz="3600" kern="0" spc="2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Quality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Control Unique?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20" name="path 120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" name="path 122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4" name="textbox 124"/>
          <p:cNvSpPr/>
          <p:nvPr/>
        </p:nvSpPr>
        <p:spPr>
          <a:xfrm>
            <a:off x="9339078" y="7058950"/>
            <a:ext cx="98425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 126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rect 128"/>
          <p:cNvSpPr/>
          <p:nvPr/>
        </p:nvSpPr>
        <p:spPr>
          <a:xfrm>
            <a:off x="7808099" y="1897138"/>
            <a:ext cx="577597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rect 130"/>
          <p:cNvSpPr/>
          <p:nvPr/>
        </p:nvSpPr>
        <p:spPr>
          <a:xfrm>
            <a:off x="1149742" y="1897138"/>
            <a:ext cx="6291072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rect 132"/>
          <p:cNvSpPr/>
          <p:nvPr/>
        </p:nvSpPr>
        <p:spPr>
          <a:xfrm>
            <a:off x="1036970" y="1897138"/>
            <a:ext cx="112772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rect 134"/>
          <p:cNvSpPr/>
          <p:nvPr/>
        </p:nvSpPr>
        <p:spPr>
          <a:xfrm>
            <a:off x="7440815" y="1897138"/>
            <a:ext cx="176783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" name="rect 136"/>
          <p:cNvSpPr/>
          <p:nvPr/>
        </p:nvSpPr>
        <p:spPr>
          <a:xfrm>
            <a:off x="7617599" y="1897138"/>
            <a:ext cx="128016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" name="rect 138"/>
          <p:cNvSpPr/>
          <p:nvPr/>
        </p:nvSpPr>
        <p:spPr>
          <a:xfrm>
            <a:off x="8385695" y="1897138"/>
            <a:ext cx="553215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0" name="rect 140"/>
          <p:cNvSpPr/>
          <p:nvPr/>
        </p:nvSpPr>
        <p:spPr>
          <a:xfrm>
            <a:off x="2038235" y="5989077"/>
            <a:ext cx="1196340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rect 142"/>
          <p:cNvSpPr/>
          <p:nvPr/>
        </p:nvSpPr>
        <p:spPr>
          <a:xfrm>
            <a:off x="1340243" y="5989077"/>
            <a:ext cx="638557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" name="rect 144"/>
          <p:cNvSpPr/>
          <p:nvPr/>
        </p:nvSpPr>
        <p:spPr>
          <a:xfrm>
            <a:off x="8661539" y="5684278"/>
            <a:ext cx="373380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rect 146"/>
          <p:cNvSpPr/>
          <p:nvPr/>
        </p:nvSpPr>
        <p:spPr>
          <a:xfrm>
            <a:off x="1340243" y="5684278"/>
            <a:ext cx="1011937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2411615" y="5684278"/>
            <a:ext cx="6249924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562282" y="1379735"/>
            <a:ext cx="8491219" cy="4904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82600" indent="-469900" algn="l" rtl="0" eaLnBrk="0">
              <a:lnSpc>
                <a:spcPct val="126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 implement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by selectin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 and managing projects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“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All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improvement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takes</a:t>
            </a:r>
            <a:r>
              <a:rPr sz="2000" i="1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by</a:t>
            </a:r>
            <a:r>
              <a:rPr sz="2000" i="1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” – J. M.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Juran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  <a:spcBef>
                <a:spcPts val="63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0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makes a project a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potential 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project?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86790" indent="-506095" algn="l" rtl="0" eaLnBrk="0">
              <a:lnSpc>
                <a:spcPct val="88000"/>
              </a:lnSpc>
              <a:spcBef>
                <a:spcPts val="178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There must be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quality problem or gap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between t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 current and desired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performance.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695" algn="l" rtl="0" eaLnBrk="0">
              <a:lnSpc>
                <a:spcPct val="88000"/>
              </a:lnSpc>
              <a:spcBef>
                <a:spcPts val="177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should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have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u="sng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clearly</a:t>
            </a:r>
            <a:r>
              <a:rPr sz="2000" u="sng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understood</a:t>
            </a:r>
            <a:r>
              <a:rPr sz="2000" u="sng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problem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91870" indent="-511175" algn="l" rtl="0" eaLnBrk="0">
              <a:lnSpc>
                <a:spcPct val="88000"/>
              </a:lnSpc>
              <a:spcBef>
                <a:spcPts val="149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iii.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solution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should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 predetermined, and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ptimal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solution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should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 appare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nt.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3220" indent="-350520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Once a projec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is selected as a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good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candidate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many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PM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concepts, tools and techniques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come into play.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6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79145" indent="-288925" algn="l" rtl="0" eaLnBrk="0">
              <a:lnSpc>
                <a:spcPct val="88000"/>
              </a:lnSpc>
              <a:spcBef>
                <a:spcPts val="5"/>
              </a:spcBef>
              <a:tabLst>
                <a:tab pos="625475" algn="l"/>
              </a:tabLst>
            </a:pP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i="1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 are simply types of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 that focus on supporting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philosophy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71" y="5735713"/>
            <a:ext cx="135255" cy="211074"/>
          </a:xfrm>
          <a:prstGeom prst="rect">
            <a:avLst/>
          </a:prstGeom>
        </p:spPr>
      </p:pic>
      <p:sp>
        <p:nvSpPr>
          <p:cNvPr id="154" name="path 154"/>
          <p:cNvSpPr/>
          <p:nvPr/>
        </p:nvSpPr>
        <p:spPr>
          <a:xfrm>
            <a:off x="1978315" y="5989077"/>
            <a:ext cx="59437" cy="281939"/>
          </a:xfrm>
          <a:custGeom>
            <a:avLst/>
            <a:gdLst/>
            <a:ahLst/>
            <a:cxnLst/>
            <a:rect l="0" t="0" r="0" b="0"/>
            <a:pathLst>
              <a:path w="93" h="443">
                <a:moveTo>
                  <a:pt x="0" y="443"/>
                </a:moveTo>
                <a:lnTo>
                  <a:pt x="93" y="443"/>
                </a:lnTo>
                <a:lnTo>
                  <a:pt x="93" y="0"/>
                </a:lnTo>
                <a:lnTo>
                  <a:pt x="0" y="0"/>
                </a:lnTo>
                <a:lnTo>
                  <a:pt x="0" y="443"/>
                </a:lnTo>
                <a:close/>
              </a:path>
            </a:pathLst>
          </a:cu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path 156"/>
          <p:cNvSpPr/>
          <p:nvPr/>
        </p:nvSpPr>
        <p:spPr>
          <a:xfrm>
            <a:off x="7732558" y="1897138"/>
            <a:ext cx="62483" cy="281940"/>
          </a:xfrm>
          <a:custGeom>
            <a:avLst/>
            <a:gdLst/>
            <a:ahLst/>
            <a:cxnLst/>
            <a:rect l="0" t="0" r="0" b="0"/>
            <a:pathLst>
              <a:path w="98" h="444">
                <a:moveTo>
                  <a:pt x="0" y="444"/>
                </a:moveTo>
                <a:lnTo>
                  <a:pt x="98" y="444"/>
                </a:lnTo>
                <a:lnTo>
                  <a:pt x="98" y="0"/>
                </a:lnTo>
                <a:lnTo>
                  <a:pt x="0" y="0"/>
                </a:lnTo>
                <a:lnTo>
                  <a:pt x="0" y="444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" name="textbox 158"/>
          <p:cNvSpPr/>
          <p:nvPr/>
        </p:nvSpPr>
        <p:spPr>
          <a:xfrm>
            <a:off x="396531" y="172465"/>
            <a:ext cx="6686550" cy="990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indent="20955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and Project</a:t>
            </a:r>
            <a:r>
              <a:rPr sz="3600" kern="0" spc="2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Selection </a:t>
            </a:r>
            <a:r>
              <a:rPr sz="3600" kern="0" spc="-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60" name="path 160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2" name="path 162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64" name="picture 164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95600" y="6760461"/>
            <a:ext cx="3810000" cy="364238"/>
          </a:xfrm>
          <a:prstGeom prst="rect">
            <a:avLst/>
          </a:prstGeom>
        </p:spPr>
      </p:pic>
      <p:sp>
        <p:nvSpPr>
          <p:cNvPr id="166" name="rect 166"/>
          <p:cNvSpPr/>
          <p:nvPr/>
        </p:nvSpPr>
        <p:spPr>
          <a:xfrm>
            <a:off x="2352179" y="5684278"/>
            <a:ext cx="59437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9340339" y="7058950"/>
            <a:ext cx="97155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 17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2" name="textbox 172"/>
          <p:cNvSpPr/>
          <p:nvPr/>
        </p:nvSpPr>
        <p:spPr>
          <a:xfrm>
            <a:off x="562269" y="1379722"/>
            <a:ext cx="8504555" cy="4243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6235" indent="-343535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 important concept i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is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improving quality by reducing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variation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600"/>
              </a:spcBef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means standard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deviat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ion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5495" indent="-295275" algn="l" rtl="0" eaLnBrk="0">
              <a:lnSpc>
                <a:spcPct val="92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i="1" kern="0" spc="1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Standard deviation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measures how much variation exists in a distribution of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data, a key factor in determining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acceptable number of</a:t>
            </a:r>
            <a:r>
              <a:rPr sz="2000" kern="0" spc="-1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defective 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units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found in a pop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ulation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77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Statisticians use the Greek symbol σ (sigma) to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represent standard deviation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49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small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σ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data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clusters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closely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around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ofa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distribution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there is little variabili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ty among the data.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3220" indent="-350520" algn="l" rtl="0" eaLnBrk="0">
              <a:lnSpc>
                <a:spcPct val="97000"/>
              </a:lnSpc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100" i="1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</a:t>
            </a:r>
            <a:r>
              <a:rPr sz="2100" i="1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strive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more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than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7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</a:t>
            </a:r>
            <a:r>
              <a:rPr sz="2100" kern="0" spc="1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defects</a:t>
            </a:r>
            <a:r>
              <a:rPr sz="2100" kern="0" spc="1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</a:t>
            </a:r>
            <a:r>
              <a:rPr sz="2100" kern="0" spc="1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million             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opportunities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72" y="4257421"/>
            <a:ext cx="135255" cy="211073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82" y="3800220"/>
            <a:ext cx="135255" cy="211073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56" y="2733433"/>
            <a:ext cx="135255" cy="211073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417562" y="447230"/>
            <a:ext cx="5914390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and</a:t>
            </a:r>
            <a:r>
              <a:rPr sz="3600" kern="0" spc="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Statistics (1</a:t>
            </a:r>
            <a:r>
              <a:rPr sz="36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82" name="path 18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4" name="path 18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6" name="textbox 186"/>
          <p:cNvSpPr/>
          <p:nvPr/>
        </p:nvSpPr>
        <p:spPr>
          <a:xfrm>
            <a:off x="9339498" y="7058950"/>
            <a:ext cx="97789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 18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90" name="picture 1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828800" y="2253997"/>
            <a:ext cx="6234684" cy="4754877"/>
          </a:xfrm>
          <a:prstGeom prst="rect">
            <a:avLst/>
          </a:prstGeom>
        </p:spPr>
      </p:pic>
      <p:sp>
        <p:nvSpPr>
          <p:cNvPr id="192" name="textbox 192"/>
          <p:cNvSpPr/>
          <p:nvPr/>
        </p:nvSpPr>
        <p:spPr>
          <a:xfrm>
            <a:off x="562282" y="1379735"/>
            <a:ext cx="8058150" cy="659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2" rIns="0" bIns="0"/>
          <a:lstStyle/>
          <a:p>
            <a:pPr marL="367665" indent="-354965" algn="l" rtl="0" eaLnBrk="0">
              <a:lnSpc>
                <a:spcPct val="99000"/>
              </a:lnSpc>
              <a:spcBef>
                <a:spcPts val="0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Figure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8-10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shows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normal</a:t>
            </a:r>
            <a:r>
              <a:rPr sz="2100" u="sng" kern="0" spc="15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distribution</a:t>
            </a:r>
            <a:r>
              <a:rPr sz="2100" kern="0" spc="15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–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bell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shaped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curve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symmetrical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around the mean 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population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417562" y="447230"/>
            <a:ext cx="5914390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and</a:t>
            </a:r>
            <a:r>
              <a:rPr sz="3600" kern="0" spc="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Statistics (2</a:t>
            </a:r>
            <a:r>
              <a:rPr sz="36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96" name="path 196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" name="path 198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0" name="textbox 200"/>
          <p:cNvSpPr/>
          <p:nvPr/>
        </p:nvSpPr>
        <p:spPr>
          <a:xfrm>
            <a:off x="9339639" y="7058950"/>
            <a:ext cx="97789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 20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04" name="table 204"/>
          <p:cNvGraphicFramePr>
            <a:graphicFrameLocks noGrp="1"/>
          </p:cNvGraphicFramePr>
          <p:nvPr/>
        </p:nvGraphicFramePr>
        <p:xfrm>
          <a:off x="1593850" y="2596120"/>
          <a:ext cx="6875780" cy="2816859"/>
        </p:xfrm>
        <a:graphic>
          <a:graphicData uri="http://schemas.openxmlformats.org/drawingml/2006/table">
            <a:tbl>
              <a:tblPr/>
              <a:tblGrid>
                <a:gridCol w="2139950"/>
                <a:gridCol w="2286000"/>
                <a:gridCol w="2449829"/>
              </a:tblGrid>
              <a:tr h="541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9220" indent="-444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Specification Range</a:t>
                      </a:r>
                      <a:r>
                        <a:rPr sz="18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(in ±</a:t>
                      </a:r>
                      <a:r>
                        <a:rPr sz="18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Sigmas)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5250" indent="1143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Percent of</a:t>
                      </a:r>
                      <a:r>
                        <a:rPr sz="18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Population</a:t>
                      </a:r>
                      <a:r>
                        <a:rPr sz="18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within</a:t>
                      </a:r>
                      <a:r>
                        <a:rPr sz="1800" b="1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7315" algn="l" rtl="0" eaLnBrk="0">
                        <a:lnSpc>
                          <a:spcPts val="1250"/>
                        </a:lnSpc>
                        <a:spcBef>
                          <a:spcPts val="5"/>
                        </a:spcBef>
                      </a:pPr>
                      <a:r>
                        <a:rPr sz="1800" b="1" kern="0" spc="-2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Defective</a:t>
                      </a:r>
                      <a:r>
                        <a:rPr sz="1800" b="1" kern="0" spc="1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Un</a:t>
                      </a:r>
                      <a:r>
                        <a:rPr sz="1800" b="1" kern="0" spc="-3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05410" algn="l" rtl="0" eaLnBrk="0">
                        <a:lnSpc>
                          <a:spcPct val="94000"/>
                        </a:lnSpc>
                      </a:pPr>
                      <a:r>
                        <a:rPr sz="1800" b="1" kern="0" spc="-3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per</a:t>
                      </a:r>
                      <a:r>
                        <a:rPr sz="1800" b="1" kern="0" spc="18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3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Billion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</a:tr>
              <a:tr h="4146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6840" algn="l" rtl="0" eaLnBrk="0">
                        <a:lnSpc>
                          <a:spcPct val="68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287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68.27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287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317,300,000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049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33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95.45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652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45,400,000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922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33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99.73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414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2,700,000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2870" algn="l" rtl="0" eaLnBrk="0">
                        <a:lnSpc>
                          <a:spcPct val="67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33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99.9937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287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63,000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8585" algn="l" rtl="0" eaLnBrk="0">
                        <a:lnSpc>
                          <a:spcPct val="67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330" algn="l" rtl="0" eaLnBrk="0">
                        <a:lnSpc>
                          <a:spcPct val="6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99.999943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2235" algn="l" rtl="0" eaLnBrk="0">
                        <a:lnSpc>
                          <a:spcPct val="67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57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77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9855" algn="l" rtl="0" eaLnBrk="0">
                        <a:lnSpc>
                          <a:spcPct val="68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</a:tbl>
          </a:graphicData>
        </a:graphic>
      </p:graphicFrame>
      <p:sp>
        <p:nvSpPr>
          <p:cNvPr id="206" name="textbox 206"/>
          <p:cNvSpPr/>
          <p:nvPr/>
        </p:nvSpPr>
        <p:spPr>
          <a:xfrm>
            <a:off x="524182" y="1379735"/>
            <a:ext cx="8564244" cy="981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Table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8-2 illustrates the relationship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between sigma, the percentage of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3060" indent="3175" algn="l" rtl="0" eaLnBrk="0">
              <a:lnSpc>
                <a:spcPct val="98000"/>
              </a:lnSpc>
              <a:spcBef>
                <a:spcPts val="340"/>
              </a:spcBef>
            </a:pP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population within that sigma range, and the number of</a:t>
            </a:r>
            <a:r>
              <a:rPr sz="21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defective units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 billion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8" name="rect 208"/>
          <p:cNvSpPr/>
          <p:nvPr/>
        </p:nvSpPr>
        <p:spPr>
          <a:xfrm>
            <a:off x="4133939" y="6167194"/>
            <a:ext cx="1415796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rect 210"/>
          <p:cNvSpPr/>
          <p:nvPr/>
        </p:nvSpPr>
        <p:spPr>
          <a:xfrm>
            <a:off x="5549734" y="6167194"/>
            <a:ext cx="3302508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rect 212"/>
          <p:cNvSpPr/>
          <p:nvPr/>
        </p:nvSpPr>
        <p:spPr>
          <a:xfrm>
            <a:off x="8852243" y="6167194"/>
            <a:ext cx="114300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rect 214"/>
          <p:cNvSpPr/>
          <p:nvPr/>
        </p:nvSpPr>
        <p:spPr>
          <a:xfrm>
            <a:off x="901536" y="6167194"/>
            <a:ext cx="2161032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rect 216"/>
          <p:cNvSpPr/>
          <p:nvPr/>
        </p:nvSpPr>
        <p:spPr>
          <a:xfrm>
            <a:off x="3062566" y="6167194"/>
            <a:ext cx="1011937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textbox 218"/>
          <p:cNvSpPr/>
          <p:nvPr/>
        </p:nvSpPr>
        <p:spPr>
          <a:xfrm>
            <a:off x="892143" y="5494972"/>
            <a:ext cx="8086090" cy="1003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8350" algn="l" rtl="0" eaLnBrk="0">
              <a:lnSpc>
                <a:spcPct val="88000"/>
              </a:lnSpc>
            </a:pPr>
            <a:r>
              <a:rPr sz="1800" kern="0" spc="10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Table 8-2 </a:t>
            </a:r>
            <a:r>
              <a:rPr sz="1800" kern="0" spc="9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and defective</a:t>
            </a:r>
            <a:r>
              <a:rPr sz="1800" kern="0" spc="17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9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units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</a:pP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Why is the target for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Programs 3.4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defects per million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opportunities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?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0" name="path 220"/>
          <p:cNvSpPr/>
          <p:nvPr/>
        </p:nvSpPr>
        <p:spPr>
          <a:xfrm>
            <a:off x="4081139" y="6167194"/>
            <a:ext cx="59437" cy="281939"/>
          </a:xfrm>
          <a:custGeom>
            <a:avLst/>
            <a:gdLst/>
            <a:ahLst/>
            <a:cxnLst/>
            <a:rect l="0" t="0" r="0" b="0"/>
            <a:pathLst>
              <a:path w="93" h="443">
                <a:moveTo>
                  <a:pt x="0" y="443"/>
                </a:moveTo>
                <a:lnTo>
                  <a:pt x="93" y="443"/>
                </a:lnTo>
                <a:lnTo>
                  <a:pt x="93" y="0"/>
                </a:lnTo>
                <a:lnTo>
                  <a:pt x="0" y="0"/>
                </a:lnTo>
                <a:lnTo>
                  <a:pt x="0" y="443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" name="textbox 222"/>
          <p:cNvSpPr/>
          <p:nvPr/>
        </p:nvSpPr>
        <p:spPr>
          <a:xfrm>
            <a:off x="417562" y="447230"/>
            <a:ext cx="5914390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and</a:t>
            </a:r>
            <a:r>
              <a:rPr sz="3600" kern="0" spc="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Statistics (3</a:t>
            </a:r>
            <a:r>
              <a:rPr sz="36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224" name="path 22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6" name="path 22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8" name="textbox 228"/>
          <p:cNvSpPr/>
          <p:nvPr/>
        </p:nvSpPr>
        <p:spPr>
          <a:xfrm>
            <a:off x="3825240" y="5027153"/>
            <a:ext cx="1101089" cy="28067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68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99.9999998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6111240" y="5027153"/>
            <a:ext cx="116204" cy="28067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70000"/>
              </a:lnSpc>
              <a:spcBef>
                <a:spcPts val="0"/>
              </a:spcBef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endParaRPr sz="1700" dirty="0">
              <a:latin typeface="Calibri"/>
              <a:ea typeface="Calibri"/>
              <a:cs typeface="Calibri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 234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rect 236"/>
          <p:cNvSpPr/>
          <p:nvPr/>
        </p:nvSpPr>
        <p:spPr>
          <a:xfrm>
            <a:off x="2669171" y="1676158"/>
            <a:ext cx="1488947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8" name="textbox 238"/>
          <p:cNvSpPr/>
          <p:nvPr/>
        </p:nvSpPr>
        <p:spPr>
          <a:xfrm>
            <a:off x="560362" y="1375867"/>
            <a:ext cx="8513444" cy="2456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8140" indent="-345440" algn="l" rtl="0" eaLnBrk="0">
              <a:lnSpc>
                <a:spcPct val="93000"/>
              </a:lnSpc>
            </a:pPr>
            <a:r>
              <a:rPr sz="18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convention used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by Motorola in the1980s is a scoring system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 accounts for more variation in a process than normal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distribution.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8000"/>
              </a:lnSpc>
              <a:spcBef>
                <a:spcPts val="1555"/>
              </a:spcBef>
            </a:pPr>
            <a:r>
              <a:rPr sz="18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Table 8-3 shows a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Sigma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conversion table applied to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1490" algn="l" rtl="0" eaLnBrk="0">
              <a:lnSpc>
                <a:spcPct val="88000"/>
              </a:lnSpc>
              <a:spcBef>
                <a:spcPts val="1380"/>
              </a:spcBef>
              <a:tabLst>
                <a:tab pos="619760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18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</a:t>
            </a: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yield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represents the </a:t>
            </a: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percentage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units handled correctly through th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1050" indent="-1905" algn="l" rtl="0" eaLnBrk="0">
              <a:lnSpc>
                <a:spcPct val="93000"/>
              </a:lnSpc>
              <a:spcBef>
                <a:spcPts val="375"/>
              </a:spcBef>
            </a:pP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 steps. A </a:t>
            </a: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any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instance in which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product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service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fails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meet customer requiremen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ts.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1490" algn="l" rtl="0" eaLnBrk="0">
              <a:lnSpc>
                <a:spcPct val="88000"/>
              </a:lnSpc>
              <a:spcBef>
                <a:spcPts val="5"/>
              </a:spcBef>
              <a:tabLst>
                <a:tab pos="619760" algn="l"/>
              </a:tabLst>
            </a:pP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1800" i="1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1800" i="1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measures the num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ber of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defects based on </a:t>
            </a: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number of</a:t>
            </a:r>
            <a:r>
              <a:rPr sz="1800" kern="0" spc="-9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opportunities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40" name="picture 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201" y="3582880"/>
            <a:ext cx="128762" cy="200942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90" y="2599900"/>
            <a:ext cx="128762" cy="200942"/>
          </a:xfrm>
          <a:prstGeom prst="rect">
            <a:avLst/>
          </a:prstGeom>
        </p:spPr>
      </p:pic>
      <p:graphicFrame>
        <p:nvGraphicFramePr>
          <p:cNvPr id="244" name="table 244"/>
          <p:cNvGraphicFramePr>
            <a:graphicFrameLocks noGrp="1"/>
          </p:cNvGraphicFramePr>
          <p:nvPr/>
        </p:nvGraphicFramePr>
        <p:xfrm>
          <a:off x="1419707" y="3956050"/>
          <a:ext cx="6875780" cy="2755900"/>
        </p:xfrm>
        <a:graphic>
          <a:graphicData uri="http://schemas.openxmlformats.org/drawingml/2006/table">
            <a:tbl>
              <a:tblPr/>
              <a:tblGrid>
                <a:gridCol w="1611630"/>
                <a:gridCol w="2628900"/>
                <a:gridCol w="2635250"/>
              </a:tblGrid>
              <a:tr h="541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4775" algn="l" rtl="0" eaLnBrk="0">
                        <a:lnSpc>
                          <a:spcPct val="73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Sigma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3345" algn="l" rtl="0" eaLnBrk="0">
                        <a:lnSpc>
                          <a:spcPct val="72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Yield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7315" algn="l" rtl="0" eaLnBrk="0">
                        <a:lnSpc>
                          <a:spcPct val="73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20" dirty="0">
                          <a:solidFill>
                            <a:srgbClr val="FFFF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Defects per</a:t>
                      </a:r>
                      <a:r>
                        <a:rPr sz="1800" b="1" kern="0" spc="160" dirty="0">
                          <a:solidFill>
                            <a:srgbClr val="FFFF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FFFF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Million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00330" algn="l" rtl="0" eaLnBrk="0">
                        <a:lnSpc>
                          <a:spcPct val="73000"/>
                        </a:lnSpc>
                        <a:spcBef>
                          <a:spcPts val="165"/>
                        </a:spcBef>
                      </a:pPr>
                      <a:r>
                        <a:rPr sz="1800" b="1" kern="0" spc="-10" dirty="0">
                          <a:solidFill>
                            <a:srgbClr val="FFFF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Opportunities (DPMO)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</a:tr>
              <a:tr h="3638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6840" algn="l" rtl="0" eaLnBrk="0">
                        <a:lnSpc>
                          <a:spcPct val="68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2870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31.0%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3505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690,000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049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3505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69.2%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287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308,000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922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93.3%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3505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66,800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2870" algn="l" rtl="0" eaLnBrk="0">
                        <a:lnSpc>
                          <a:spcPct val="67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99.4%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3505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6,210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8585" algn="l" rtl="0" eaLnBrk="0">
                        <a:lnSpc>
                          <a:spcPct val="67000"/>
                        </a:lnSpc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99.97%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4140" algn="l" rtl="0" eaLnBrk="0">
                        <a:lnSpc>
                          <a:spcPct val="68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230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9220" algn="l" rtl="0" eaLnBrk="0">
                        <a:lnSpc>
                          <a:spcPct val="68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</a:tbl>
          </a:graphicData>
        </a:graphic>
      </p:graphicFrame>
      <p:sp>
        <p:nvSpPr>
          <p:cNvPr id="246" name="textbox 246"/>
          <p:cNvSpPr/>
          <p:nvPr/>
        </p:nvSpPr>
        <p:spPr>
          <a:xfrm>
            <a:off x="417562" y="447230"/>
            <a:ext cx="5914390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and</a:t>
            </a:r>
            <a:r>
              <a:rPr sz="3600" kern="0" spc="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Statistics (4</a:t>
            </a:r>
            <a:r>
              <a:rPr sz="36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248" name="path 24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0" name="path 25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52" name="textbox 252"/>
          <p:cNvSpPr/>
          <p:nvPr/>
        </p:nvSpPr>
        <p:spPr>
          <a:xfrm>
            <a:off x="3368247" y="6846054"/>
            <a:ext cx="3018154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400" kern="0" spc="7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3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Table 8-3 Six Sigma conv</a:t>
            </a:r>
            <a:r>
              <a:rPr sz="1400" kern="0" spc="6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3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ersion table</a:t>
            </a:r>
            <a:endParaRPr sz="1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3123095" y="6326122"/>
            <a:ext cx="1033144" cy="280670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69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99.99966%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5751995" y="6326122"/>
            <a:ext cx="290195" cy="280670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68000"/>
              </a:lnSpc>
              <a:spcBef>
                <a:spcPts val="5"/>
              </a:spcBef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3.4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 26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2" name="rect 262"/>
          <p:cNvSpPr/>
          <p:nvPr/>
        </p:nvSpPr>
        <p:spPr>
          <a:xfrm>
            <a:off x="1614563" y="3626878"/>
            <a:ext cx="3201923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4" name="textbox 264"/>
          <p:cNvSpPr/>
          <p:nvPr/>
        </p:nvSpPr>
        <p:spPr>
          <a:xfrm>
            <a:off x="562282" y="1379735"/>
            <a:ext cx="8595994" cy="4366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3220" indent="-350520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Most organizations today use the term “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</a:t>
            </a:r>
            <a:r>
              <a:rPr sz="2100" i="1" kern="0" spc="-2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” broad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ly to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describe projects that will help them in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achieving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sustaining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8775" algn="l" rtl="0" eaLnBrk="0">
              <a:lnSpc>
                <a:spcPct val="88000"/>
              </a:lnSpc>
              <a:spcBef>
                <a:spcPts val="645"/>
              </a:spcBef>
            </a:pP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maximizing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business success through better busines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 processes.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37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9s of</a:t>
            </a:r>
            <a:r>
              <a:rPr sz="2100" kern="0" spc="-1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a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term in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telecommunications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industry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3590" indent="-293370" algn="l" rtl="0" eaLnBrk="0">
              <a:lnSpc>
                <a:spcPct val="92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measure 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control equal to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 fault in one million opportunities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the telecommunications industry, it means 99.9999%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service availability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30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seconds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down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i="1" kern="0" spc="-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year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765" indent="-296545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level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also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been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target</a:t>
            </a:r>
            <a:r>
              <a:rPr sz="2000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goal</a:t>
            </a:r>
            <a:r>
              <a:rPr sz="2000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number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errors in a communications circuit, system failures, or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errors in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lines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code.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77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Achieving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9s of quality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requires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continual testing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find and eliminate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635" algn="l" rtl="0" eaLnBrk="0">
              <a:lnSpc>
                <a:spcPct val="88000"/>
              </a:lnSpc>
              <a:spcBef>
                <a:spcPts val="29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errors or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enough redundancy and backup equipment in sys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tems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reduce the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overall system failure rate to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required level.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66" name="picture 2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82" y="4897513"/>
            <a:ext cx="135255" cy="211073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4135501"/>
            <a:ext cx="135255" cy="211073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69" y="3068713"/>
            <a:ext cx="135255" cy="211073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417562" y="447230"/>
            <a:ext cx="5914390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3600" kern="0" spc="2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Sigma and</a:t>
            </a:r>
            <a:r>
              <a:rPr sz="3600" kern="0" spc="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Statistics (5</a:t>
            </a:r>
            <a:r>
              <a:rPr sz="36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274" name="path 27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6" name="path 27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78" name="textbox 27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 28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2" name="textbox 282"/>
          <p:cNvSpPr/>
          <p:nvPr/>
        </p:nvSpPr>
        <p:spPr>
          <a:xfrm>
            <a:off x="486081" y="1394010"/>
            <a:ext cx="8653144" cy="4523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3220" indent="-350520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Many IT professionals think 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 as a st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age that</a:t>
            </a:r>
            <a:r>
              <a:rPr sz="2100" kern="0" spc="1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comes near the</a:t>
            </a:r>
            <a:r>
              <a:rPr sz="2100" kern="0" spc="1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end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1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 product d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evelopment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78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Some organizations rely on testing</a:t>
            </a: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just before a product ships to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ensure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3590" indent="6350" algn="l" rtl="0" eaLnBrk="0">
              <a:lnSpc>
                <a:spcPct val="88000"/>
              </a:lnSpc>
              <a:spcBef>
                <a:spcPts val="29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some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degree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instead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putting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serious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effort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into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proper</a:t>
            </a:r>
            <a:r>
              <a:rPr sz="2000" i="1" kern="0" spc="-2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planning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analysis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design</a:t>
            </a:r>
            <a:r>
              <a:rPr sz="20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</a:t>
            </a:r>
            <a:r>
              <a:rPr sz="2000" i="1" kern="0" spc="-4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590"/>
              </a:spcBef>
            </a:pPr>
            <a:r>
              <a:rPr sz="1900" kern="0" spc="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 needs to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be done during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almost every</a:t>
            </a:r>
            <a:r>
              <a:rPr sz="2100" i="1" kern="0" spc="-2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phase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systems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5600" indent="6985" algn="l" rtl="0" eaLnBrk="0">
              <a:lnSpc>
                <a:spcPct val="92000"/>
              </a:lnSpc>
              <a:spcBef>
                <a:spcPts val="645"/>
              </a:spcBef>
            </a:pP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development life cycle (SDLC),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</a:t>
            </a:r>
            <a:r>
              <a:rPr sz="2100" i="1" kern="0" spc="-19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just before the organization ships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hands over a product to the cu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stomer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1950" indent="-349250" algn="l" rtl="0" eaLnBrk="0">
              <a:lnSpc>
                <a:spcPct val="97000"/>
              </a:lnSpc>
              <a:spcBef>
                <a:spcPts val="1590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Figure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8-11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shows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way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portraying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SDLC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including</a:t>
            </a:r>
            <a:r>
              <a:rPr sz="2100" kern="0" spc="2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17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main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tasks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involved in a software development proje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ct and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showing their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5600" algn="l" rtl="0" eaLnBrk="0">
              <a:lnSpc>
                <a:spcPct val="87000"/>
              </a:lnSpc>
              <a:spcBef>
                <a:spcPts val="645"/>
              </a:spcBef>
            </a:pP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relationships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0220" algn="l" rtl="0" eaLnBrk="0">
              <a:lnSpc>
                <a:spcPct val="88000"/>
              </a:lnSpc>
              <a:spcBef>
                <a:spcPts val="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Tasks</a:t>
            </a:r>
            <a:r>
              <a:rPr sz="2000" kern="0" spc="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12 to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15 a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 related to testing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84" name="picture 2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76771" y="5643321"/>
            <a:ext cx="135255" cy="211074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6769" y="2260028"/>
            <a:ext cx="135255" cy="211073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288" name="path 28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0" name="path 29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92" name="textbox 292"/>
          <p:cNvSpPr/>
          <p:nvPr/>
        </p:nvSpPr>
        <p:spPr>
          <a:xfrm>
            <a:off x="402475" y="447230"/>
            <a:ext cx="286892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 (1</a:t>
            </a:r>
            <a:r>
              <a:rPr sz="3600" kern="0" spc="1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601200" cy="7315200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 30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2" name="rect 302"/>
          <p:cNvSpPr/>
          <p:nvPr/>
        </p:nvSpPr>
        <p:spPr>
          <a:xfrm>
            <a:off x="4475111" y="3840238"/>
            <a:ext cx="1245105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4" name="rect 304"/>
          <p:cNvSpPr/>
          <p:nvPr/>
        </p:nvSpPr>
        <p:spPr>
          <a:xfrm>
            <a:off x="4348619" y="4948189"/>
            <a:ext cx="4655820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6" name="rect 306"/>
          <p:cNvSpPr/>
          <p:nvPr/>
        </p:nvSpPr>
        <p:spPr>
          <a:xfrm>
            <a:off x="916573" y="5283468"/>
            <a:ext cx="1476755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8" name="textbox 308"/>
          <p:cNvSpPr/>
          <p:nvPr/>
        </p:nvSpPr>
        <p:spPr>
          <a:xfrm>
            <a:off x="562282" y="1379735"/>
            <a:ext cx="8593455" cy="528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Types 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ing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4860" indent="-296545" algn="l" rtl="0" eaLnBrk="0">
              <a:lnSpc>
                <a:spcPct val="88000"/>
              </a:lnSpc>
              <a:spcBef>
                <a:spcPts val="1185"/>
              </a:spcBef>
            </a:pPr>
            <a:r>
              <a:rPr sz="15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   </a:t>
            </a: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Unit testing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tests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each individual component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(often a p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rogram) to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ensure it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as defect-free 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 possible.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9940" indent="-309245" algn="l" rtl="0" eaLnBrk="0">
              <a:lnSpc>
                <a:spcPct val="88000"/>
              </a:lnSpc>
              <a:spcBef>
                <a:spcPts val="1175"/>
              </a:spcBef>
            </a:pPr>
            <a:r>
              <a:rPr sz="15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   </a:t>
            </a: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Integration testing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tests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functionally grouped components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It ensures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that a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subset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subsets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ofthe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entire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together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6605" indent="-297815" algn="l" rtl="0" eaLnBrk="0">
              <a:lnSpc>
                <a:spcPct val="88000"/>
              </a:lnSpc>
              <a:spcBef>
                <a:spcPts val="1175"/>
              </a:spcBef>
            </a:pPr>
            <a:r>
              <a:rPr sz="15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   </a:t>
            </a: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 testing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tests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entire system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entity.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focuses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 the big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picture to ensure that the entire system is working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properly.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9780" indent="-299085" algn="l" rtl="0" eaLnBrk="0">
              <a:lnSpc>
                <a:spcPct val="88000"/>
              </a:lnSpc>
              <a:spcBef>
                <a:spcPts val="1175"/>
              </a:spcBef>
            </a:pPr>
            <a:r>
              <a:rPr sz="15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4.   </a:t>
            </a: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User acceptance testing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an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independent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 performed by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end users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prior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accepting the deliver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ed system.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3235" algn="l" rtl="0" eaLnBrk="0">
              <a:lnSpc>
                <a:spcPct val="88000"/>
              </a:lnSpc>
              <a:spcBef>
                <a:spcPts val="1175"/>
              </a:spcBef>
            </a:pPr>
            <a:r>
              <a:rPr sz="1500" b="1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000099"/>
                      <wpsdc:folHlinkClr xmlns:wpsdc="http://www.wps.cn/officeDocument/2017/drawingmlCustomData" val="000099"/>
                      <wpsdc:hlinkUnderline xmlns:wpsdc="http://www.wps.cn/officeDocument/2017/drawingmlCustomData" val="0"/>
                    </a:ext>
                  </a:extLst>
                </a:hlinkClick>
              </a:rPr>
              <a:t>5.   </a:t>
            </a:r>
            <a:r>
              <a:rPr sz="2000" b="1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Alpha</a:t>
            </a:r>
            <a:r>
              <a:rPr sz="2000" b="1" i="1" u="sng" kern="0" spc="2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b="1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beta</a:t>
            </a:r>
            <a:r>
              <a:rPr sz="2000" b="1" i="1" u="sng" kern="0" spc="2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b="1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testing</a:t>
            </a:r>
            <a:r>
              <a:rPr sz="2000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kern="0" spc="-2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p</a:t>
            </a:r>
            <a:r>
              <a:rPr sz="2000" b="1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erformance</a:t>
            </a:r>
            <a:r>
              <a:rPr sz="2000" b="1" i="1" u="sng" kern="0" spc="2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b="1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testing</a:t>
            </a:r>
            <a:r>
              <a:rPr sz="2000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3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scalability</a:t>
            </a:r>
            <a:r>
              <a:rPr sz="2000" b="1" i="1" u="sng" kern="0" spc="1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3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b="1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3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testing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5600" indent="-343535" algn="l" rtl="0" eaLnBrk="0">
              <a:lnSpc>
                <a:spcPct val="97000"/>
              </a:lnSpc>
              <a:spcBef>
                <a:spcPts val="100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Important for organizations to foll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ow a thorough and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disciplined testing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methodology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6605" indent="-286385" algn="l" rtl="0" eaLnBrk="0">
              <a:lnSpc>
                <a:spcPct val="88000"/>
              </a:lnSpc>
              <a:spcBef>
                <a:spcPts val="14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 developers a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nd testers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must make sure that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1) the system meets all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stakeholders’ needs and expectations, and 2) the te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sts are done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7240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properly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970" y="5781433"/>
            <a:ext cx="135255" cy="211074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12" name="path 31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4" name="path 31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16" name="picture 316">
            <a:hlinkClick r:id="rId5" action="ppaction://hlinkfil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95600" y="6760461"/>
            <a:ext cx="3810000" cy="364238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402475" y="447230"/>
            <a:ext cx="286892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 (2</a:t>
            </a:r>
            <a:r>
              <a:rPr sz="3600" kern="0" spc="1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 32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4" name="rect 324"/>
          <p:cNvSpPr/>
          <p:nvPr/>
        </p:nvSpPr>
        <p:spPr>
          <a:xfrm>
            <a:off x="3876180" y="4967998"/>
            <a:ext cx="1004316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" name="rect 326"/>
          <p:cNvSpPr/>
          <p:nvPr/>
        </p:nvSpPr>
        <p:spPr>
          <a:xfrm>
            <a:off x="5369699" y="4967998"/>
            <a:ext cx="719330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" name="textbox 328"/>
          <p:cNvSpPr/>
          <p:nvPr/>
        </p:nvSpPr>
        <p:spPr>
          <a:xfrm>
            <a:off x="562282" y="1379735"/>
            <a:ext cx="8625205" cy="5018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 alone cannot a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lways solve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 defect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problems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5495" indent="-295275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W. S. Humphrey, a renowned expert on software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quality, defines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10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defect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anything that must be changed before delivery of the</a:t>
            </a:r>
            <a:r>
              <a:rPr sz="2000" i="1" kern="0" spc="-1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8510" indent="-28829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 doe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 not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sufficiently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prevent software defects,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because the number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</a:t>
            </a:r>
            <a:r>
              <a:rPr sz="2000" kern="0" spc="10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</a:t>
            </a:r>
            <a:r>
              <a:rPr sz="2000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ways to test a compl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</a:t>
            </a:r>
            <a:r>
              <a:rPr sz="2000" kern="0" spc="8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 is huge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8510" indent="-28829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Users will continue to invent new ways to use a system that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its developers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never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considered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5125" indent="-352425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Humphrey suggests that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developers be responsib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 for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providing error-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free code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</a:t>
            </a:r>
            <a:r>
              <a:rPr sz="2100" kern="0" spc="1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each</a:t>
            </a:r>
            <a:r>
              <a:rPr sz="2100" kern="0" spc="1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stage</a:t>
            </a:r>
            <a:r>
              <a:rPr sz="2100" kern="0" spc="1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9145" indent="-288925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Programmers need to be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motivated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excited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do high-q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uality work and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have some control (or freedom) over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how they do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5600" indent="-342900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See more information on softwa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 testing at the </a:t>
            </a:r>
            <a:r>
              <a:rPr sz="2100" u="sng" kern="0" spc="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website</a:t>
            </a:r>
            <a:r>
              <a:rPr sz="2100" kern="0" spc="11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International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</a:t>
            </a:r>
            <a:r>
              <a:rPr sz="2100" i="1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 Qualification Bo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ard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(ISTQB</a:t>
            </a:r>
            <a:r>
              <a:rPr sz="2200" kern="0" spc="30" baseline="31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®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30" name="picture 3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70" y="5019433"/>
            <a:ext cx="135255" cy="211073"/>
          </a:xfrm>
          <a:prstGeom prst="rect">
            <a:avLst/>
          </a:prstGeom>
        </p:spPr>
      </p:pic>
      <p:pic>
        <p:nvPicPr>
          <p:cNvPr id="332" name="picture 3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3434473"/>
            <a:ext cx="135255" cy="211073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2672473"/>
            <a:ext cx="135254" cy="211073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71" y="1910473"/>
            <a:ext cx="135255" cy="211073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38" name="path 33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0" name="path 34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42" name="textbox 342"/>
          <p:cNvSpPr/>
          <p:nvPr/>
        </p:nvSpPr>
        <p:spPr>
          <a:xfrm>
            <a:off x="402475" y="447230"/>
            <a:ext cx="286892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Testing (3</a:t>
            </a:r>
            <a:r>
              <a:rPr sz="3600" kern="0" spc="15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16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 346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textbox 348"/>
          <p:cNvSpPr/>
          <p:nvPr/>
        </p:nvSpPr>
        <p:spPr>
          <a:xfrm>
            <a:off x="553404" y="1379722"/>
            <a:ext cx="8579484" cy="518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23850" indent="-311150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0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Modern quality management</a:t>
            </a:r>
            <a:r>
              <a:rPr sz="2100" kern="0" spc="3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1)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requires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cust</a:t>
            </a:r>
            <a:r>
              <a:rPr sz="21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omer satisfaction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2)</a:t>
            </a:r>
            <a:r>
              <a:rPr sz="2100" kern="0" spc="-2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prefers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prevention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i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nspection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2)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recognizes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 responsibility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06070" algn="l" rtl="0" eaLnBrk="0">
              <a:lnSpc>
                <a:spcPct val="88000"/>
              </a:lnSpc>
              <a:spcBef>
                <a:spcPts val="645"/>
              </a:spcBef>
            </a:pPr>
            <a:r>
              <a:rPr sz="2100" i="1" kern="0" spc="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quality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6235" indent="-343535" algn="l" rtl="0" eaLnBrk="0">
              <a:lnSpc>
                <a:spcPct val="100000"/>
              </a:lnSpc>
              <a:spcBef>
                <a:spcPts val="139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noteworthy quality experts de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veloped theories, tools, and techniques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 define modern quality management and provided the foundation for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ects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1725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  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W. Edwards Deming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14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Points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Management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14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ii. 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Joseph M. Juran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Stressing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i="1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importance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i="1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top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14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iii.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Philip B. Crosby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Striving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zero de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fects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14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iv.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Kaoru Ishikawa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circles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cause-and-effect diagrams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5615" algn="l" rtl="0" eaLnBrk="0">
              <a:lnSpc>
                <a:spcPct val="88000"/>
              </a:lnSpc>
              <a:spcBef>
                <a:spcPts val="14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v.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Genichi Taguchi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Robust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design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methods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93140" indent="-517525" algn="l" rtl="0" eaLnBrk="0">
              <a:lnSpc>
                <a:spcPct val="88000"/>
              </a:lnSpc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vi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Armand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Feigenbaum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Total quality control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(TQC)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workers’            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responsibility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 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396531" y="447230"/>
            <a:ext cx="545210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Modern Quality M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anagement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52" name="path 35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4" name="path 35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56" name="picture 356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95600" y="6760461"/>
            <a:ext cx="3810000" cy="364238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17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 36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2" name="rect 362"/>
          <p:cNvSpPr/>
          <p:nvPr/>
        </p:nvSpPr>
        <p:spPr>
          <a:xfrm>
            <a:off x="916573" y="4696729"/>
            <a:ext cx="1144522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4" name="rect 364"/>
          <p:cNvSpPr/>
          <p:nvPr/>
        </p:nvSpPr>
        <p:spPr>
          <a:xfrm>
            <a:off x="3437267" y="4361449"/>
            <a:ext cx="1502664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" name="textbox 366"/>
          <p:cNvSpPr/>
          <p:nvPr/>
        </p:nvSpPr>
        <p:spPr>
          <a:xfrm>
            <a:off x="562282" y="1379735"/>
            <a:ext cx="8484869" cy="4624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Originated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2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1987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.S.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recognize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.S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4490" indent="-3175" algn="l" rtl="0" eaLnBrk="0">
              <a:lnSpc>
                <a:spcPct val="92000"/>
              </a:lnSpc>
              <a:spcBef>
                <a:spcPts val="645"/>
              </a:spcBef>
            </a:pP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business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health care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education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nonprofit s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ectors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performance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100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excellence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6605" indent="-286385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honor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2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Malcolm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Baldrige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former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.S.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Secretary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Commerce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proponent of</a:t>
            </a:r>
            <a:r>
              <a:rPr sz="2000" kern="0" spc="-1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management as a key element in improving the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7240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prosperity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long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term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strength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.S.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49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only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formal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recognition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performance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excellence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both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public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private U.S. organizations given by the U.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S. President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3855" indent="-351155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award recognizes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achievements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&amp;</a:t>
            </a:r>
            <a:r>
              <a:rPr sz="21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performance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raise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awareness about the importance of</a:t>
            </a:r>
            <a:r>
              <a:rPr sz="21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as a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competitive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edge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90000"/>
              </a:lnSpc>
              <a:spcBef>
                <a:spcPts val="1580"/>
              </a:spcBef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See its </a:t>
            </a:r>
            <a:r>
              <a:rPr sz="2100" u="sng" kern="0" spc="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Wikipedia entry</a:t>
            </a:r>
            <a:r>
              <a:rPr sz="2100" kern="0" spc="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100" u="sng" kern="0" spc="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official website</a:t>
            </a:r>
            <a:r>
              <a:rPr sz="2100" kern="0" spc="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more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details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China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we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have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u="sng" kern="0" spc="100" dirty="0">
                <a:solidFill>
                  <a:srgbClr val="B2B2B2">
                    <a:alpha val="100000"/>
                  </a:srgbClr>
                </a:solidFill>
                <a:latin typeface="宋体"/>
                <a:ea typeface="宋体"/>
                <a:cs typeface="宋体"/>
                <a:hlinkClick r:id="rId3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全国质量奖</a:t>
            </a:r>
            <a:r>
              <a:rPr sz="2100" kern="0" spc="-400" dirty="0">
                <a:solidFill>
                  <a:srgbClr val="B2B2B2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u="sng" kern="0" spc="100" dirty="0">
                <a:solidFill>
                  <a:srgbClr val="B2B2B2">
                    <a:alpha val="100000"/>
                  </a:srgbClr>
                </a:solidFill>
                <a:latin typeface="宋体"/>
                <a:ea typeface="宋体"/>
                <a:cs typeface="宋体"/>
                <a:hlinkClick r:id="rId4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中国质</a:t>
            </a:r>
            <a:r>
              <a:rPr sz="2100" u="sng" kern="0" spc="90" dirty="0">
                <a:solidFill>
                  <a:srgbClr val="B2B2B2">
                    <a:alpha val="100000"/>
                  </a:srgbClr>
                </a:solidFill>
                <a:latin typeface="宋体"/>
                <a:ea typeface="宋体"/>
                <a:cs typeface="宋体"/>
                <a:hlinkClick r:id="rId4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量奖</a:t>
            </a:r>
            <a:endParaRPr sz="2100" dirty="0">
              <a:latin typeface="宋体"/>
              <a:ea typeface="宋体"/>
              <a:cs typeface="宋体"/>
            </a:endParaRPr>
          </a:p>
        </p:txBody>
      </p:sp>
      <p:pic>
        <p:nvPicPr>
          <p:cNvPr id="368" name="picture 3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2968" y="3647821"/>
            <a:ext cx="135255" cy="211073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2969" y="2581021"/>
            <a:ext cx="135255" cy="211073"/>
          </a:xfrm>
          <a:prstGeom prst="rect">
            <a:avLst/>
          </a:prstGeom>
        </p:spPr>
      </p:pic>
      <p:sp>
        <p:nvSpPr>
          <p:cNvPr id="372" name="textbox 372"/>
          <p:cNvSpPr/>
          <p:nvPr/>
        </p:nvSpPr>
        <p:spPr>
          <a:xfrm>
            <a:off x="395676" y="463857"/>
            <a:ext cx="7024369" cy="452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Malcolm Baldrige National Quality</a:t>
            </a:r>
            <a:r>
              <a:rPr sz="32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Award</a:t>
            </a:r>
            <a:endParaRPr sz="3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74" name="path 37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6" name="path 37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78" name="textbox 37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 38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2" name="textbox 382"/>
          <p:cNvSpPr/>
          <p:nvPr/>
        </p:nvSpPr>
        <p:spPr>
          <a:xfrm>
            <a:off x="562281" y="1379722"/>
            <a:ext cx="8554084" cy="4701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1790" indent="-339090" algn="l" rtl="0" eaLnBrk="0">
              <a:lnSpc>
                <a:spcPct val="101000"/>
              </a:lnSpc>
              <a:tabLst>
                <a:tab pos="360045" algn="l"/>
              </a:tabLst>
            </a:pPr>
            <a:r>
              <a:rPr sz="2100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2100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International</a:t>
            </a:r>
            <a:r>
              <a:rPr sz="2100" u="sng" kern="0" spc="1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Organization</a:t>
            </a:r>
            <a:r>
              <a:rPr sz="2100" u="sng" kern="0" spc="1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for</a:t>
            </a:r>
            <a:r>
              <a:rPr sz="2100" u="sng" kern="0" spc="22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Standardization</a:t>
            </a: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u="sng" kern="0" spc="-18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900" kern="0" spc="-12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ISO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international    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standard-setting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body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composed of</a:t>
            </a:r>
            <a:r>
              <a:rPr sz="2100" kern="0" spc="-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representatives from various national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standards organizatio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73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Founded in</a:t>
            </a:r>
            <a:r>
              <a:rPr sz="2000" kern="0" spc="2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1947, it develops and publ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ishes worldwide technical, industrial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commercia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 standards, and works in</a:t>
            </a:r>
            <a:r>
              <a:rPr sz="2000" kern="0" spc="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165 countries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7665" indent="-354965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ISO offers standards to provide a fr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amework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the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assessment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 processes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2320" indent="-292100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u="sng" kern="0" spc="-4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Overall goals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encourage organizations to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employ</a:t>
            </a:r>
            <a:r>
              <a:rPr sz="2000" i="1" kern="0" spc="-2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proven, consistent,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     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reliable methods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assessing the state of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their software development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8035" indent="-11430" algn="l" rtl="0" eaLnBrk="0">
              <a:lnSpc>
                <a:spcPct val="88000"/>
              </a:lnSpc>
              <a:spcBef>
                <a:spcPts val="58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processes. They can also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 their assessment results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 part of</a:t>
            </a:r>
            <a:r>
              <a:rPr sz="20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coherent        </a:t>
            </a:r>
            <a:r>
              <a:rPr sz="20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improvement</a:t>
            </a:r>
            <a:r>
              <a:rPr sz="2000" i="1" kern="0" spc="-3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5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49300" indent="-259080" algn="l" rtl="0" eaLnBrk="0">
              <a:lnSpc>
                <a:spcPct val="88000"/>
              </a:lnSpc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 outcome of</a:t>
            </a:r>
            <a:r>
              <a:rPr sz="20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assessment and improvement programs is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rel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iable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predictable</a:t>
            </a:r>
            <a:r>
              <a:rPr sz="2000" i="1" kern="0" spc="1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continuously</a:t>
            </a:r>
            <a:r>
              <a:rPr sz="2000" i="1" kern="0" spc="1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improving</a:t>
            </a:r>
            <a:r>
              <a:rPr sz="2000" i="1" kern="0" spc="-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</a:t>
            </a:r>
            <a:r>
              <a:rPr sz="2000" i="1" kern="0" spc="-2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processes</a:t>
            </a:r>
            <a:r>
              <a:rPr sz="2000" i="1" kern="0" spc="1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5537593"/>
            <a:ext cx="135255" cy="211074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70" y="4165993"/>
            <a:ext cx="135255" cy="211073"/>
          </a:xfrm>
          <a:prstGeom prst="rect">
            <a:avLst/>
          </a:prstGeom>
        </p:spPr>
      </p:pic>
      <p:pic>
        <p:nvPicPr>
          <p:cNvPr id="388" name="picture 3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981" y="2581033"/>
            <a:ext cx="135255" cy="211073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90" name="path 390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2" name="path 392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94" name="textbox 394"/>
          <p:cNvSpPr/>
          <p:nvPr/>
        </p:nvSpPr>
        <p:spPr>
          <a:xfrm>
            <a:off x="400189" y="447230"/>
            <a:ext cx="2667000" cy="429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3600" kern="0" spc="-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ISO</a:t>
            </a:r>
            <a:r>
              <a:rPr sz="3600" kern="0" spc="24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Standards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6" name="textbox 396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19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 39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0" name="rect 400"/>
          <p:cNvSpPr/>
          <p:nvPr/>
        </p:nvSpPr>
        <p:spPr>
          <a:xfrm>
            <a:off x="2402471" y="2773438"/>
            <a:ext cx="1810512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2" name="rect 402"/>
          <p:cNvSpPr/>
          <p:nvPr/>
        </p:nvSpPr>
        <p:spPr>
          <a:xfrm>
            <a:off x="2783471" y="2316238"/>
            <a:ext cx="1825751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" name="rect 404"/>
          <p:cNvSpPr/>
          <p:nvPr/>
        </p:nvSpPr>
        <p:spPr>
          <a:xfrm>
            <a:off x="2542679" y="1859038"/>
            <a:ext cx="1743456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rect 406"/>
          <p:cNvSpPr/>
          <p:nvPr/>
        </p:nvSpPr>
        <p:spPr>
          <a:xfrm>
            <a:off x="4359287" y="3230638"/>
            <a:ext cx="2180844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8" name="textbox 408"/>
          <p:cNvSpPr/>
          <p:nvPr/>
        </p:nvSpPr>
        <p:spPr>
          <a:xfrm>
            <a:off x="562282" y="1379735"/>
            <a:ext cx="8564244" cy="2446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More suggestions for improv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ing the quality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IT projects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1775"/>
              </a:spcBef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  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Establish</a:t>
            </a:r>
            <a:r>
              <a:rPr sz="2000" kern="0" spc="1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strong leadership that promotes 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1490"/>
              </a:spcBef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</a:t>
            </a:r>
            <a:r>
              <a:rPr sz="15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Understand</a:t>
            </a:r>
            <a:r>
              <a:rPr sz="2000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1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</a:t>
            </a:r>
            <a:r>
              <a:rPr sz="20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1490"/>
              </a:spcBef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iii.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Provide a good workplace to</a:t>
            </a:r>
            <a:r>
              <a:rPr sz="2000" kern="0" spc="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enhance 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96950" indent="-516890" algn="l" rtl="0" eaLnBrk="0">
              <a:lnSpc>
                <a:spcPct val="88000"/>
              </a:lnSpc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iv.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 the organization’s overall maturity level in</a:t>
            </a:r>
            <a:r>
              <a:rPr sz="2000" kern="0" spc="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</a:t>
            </a:r>
            <a:r>
              <a:rPr sz="20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ment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proje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ct management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400189" y="446772"/>
            <a:ext cx="538416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Improving IT Pro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ject Quality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412" name="path 41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4" name="path 41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16" name="textbox 416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20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 41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0" name="rect 420"/>
          <p:cNvSpPr/>
          <p:nvPr/>
        </p:nvSpPr>
        <p:spPr>
          <a:xfrm>
            <a:off x="6151511" y="3017278"/>
            <a:ext cx="80769" cy="26670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2" name="rect 422"/>
          <p:cNvSpPr/>
          <p:nvPr/>
        </p:nvSpPr>
        <p:spPr>
          <a:xfrm>
            <a:off x="1145173" y="3017278"/>
            <a:ext cx="5006339" cy="26670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4" name="rect 424"/>
          <p:cNvSpPr/>
          <p:nvPr/>
        </p:nvSpPr>
        <p:spPr>
          <a:xfrm>
            <a:off x="6232283" y="3017278"/>
            <a:ext cx="2528316" cy="26670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6" name="rect 426"/>
          <p:cNvSpPr/>
          <p:nvPr/>
        </p:nvSpPr>
        <p:spPr>
          <a:xfrm>
            <a:off x="5075567" y="3751848"/>
            <a:ext cx="1149092" cy="30936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8" name="rect 428"/>
          <p:cNvSpPr/>
          <p:nvPr/>
        </p:nvSpPr>
        <p:spPr>
          <a:xfrm>
            <a:off x="1036970" y="3306838"/>
            <a:ext cx="6510528" cy="26670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0" name="rect 430"/>
          <p:cNvSpPr/>
          <p:nvPr/>
        </p:nvSpPr>
        <p:spPr>
          <a:xfrm>
            <a:off x="2010803" y="5912877"/>
            <a:ext cx="4235196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2" name="rect 432"/>
          <p:cNvSpPr/>
          <p:nvPr/>
        </p:nvSpPr>
        <p:spPr>
          <a:xfrm>
            <a:off x="3283343" y="4236478"/>
            <a:ext cx="819914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4" name="rect 434"/>
          <p:cNvSpPr/>
          <p:nvPr/>
        </p:nvSpPr>
        <p:spPr>
          <a:xfrm>
            <a:off x="6331343" y="5912877"/>
            <a:ext cx="1639824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6" name="rect 436"/>
          <p:cNvSpPr/>
          <p:nvPr/>
        </p:nvSpPr>
        <p:spPr>
          <a:xfrm>
            <a:off x="6245999" y="5912877"/>
            <a:ext cx="85342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8" name="textbox 438"/>
          <p:cNvSpPr/>
          <p:nvPr/>
        </p:nvSpPr>
        <p:spPr>
          <a:xfrm>
            <a:off x="562269" y="1379735"/>
            <a:ext cx="8517255" cy="5128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large percentage of</a:t>
            </a:r>
            <a:r>
              <a:rPr sz="21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problems are associated with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9410" algn="l" rtl="0" eaLnBrk="0">
              <a:lnSpc>
                <a:spcPct val="79000"/>
              </a:lnSpc>
              <a:spcBef>
                <a:spcPts val="650"/>
              </a:spcBef>
            </a:pP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technical issues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23850" indent="-311150" algn="l" rtl="0" eaLnBrk="0">
              <a:lnSpc>
                <a:spcPct val="104000"/>
              </a:lnSpc>
              <a:spcBef>
                <a:spcPts val="129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Top management must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take responsibility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reating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supporting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promoting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programs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2600" algn="l" rtl="0" eaLnBrk="0">
              <a:lnSpc>
                <a:spcPct val="88000"/>
              </a:lnSpc>
              <a:spcBef>
                <a:spcPts val="1705"/>
              </a:spcBef>
            </a:pP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“</a:t>
            </a:r>
            <a:r>
              <a:rPr sz="18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 is most important that top management be quality-minded. </a:t>
            </a:r>
            <a:r>
              <a:rPr sz="18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the absence</a:t>
            </a:r>
            <a:r>
              <a:rPr sz="1800" i="1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r" rtl="0" eaLnBrk="0">
              <a:lnSpc>
                <a:spcPct val="88000"/>
              </a:lnSpc>
              <a:spcBef>
                <a:spcPts val="380"/>
              </a:spcBef>
            </a:pP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sincere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manifestation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interest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top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little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will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happen</a:t>
            </a:r>
            <a:r>
              <a:rPr sz="1800" i="1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below</a:t>
            </a:r>
            <a:r>
              <a:rPr sz="1800" i="1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”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--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J.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M.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Juran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42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8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 provides an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environment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conducive to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producing quality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must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publicly</a:t>
            </a:r>
            <a:r>
              <a:rPr sz="2000" i="1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1)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declare</a:t>
            </a:r>
            <a:r>
              <a:rPr sz="2000" i="1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company</a:t>
            </a:r>
            <a:r>
              <a:rPr sz="2000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000" i="1" kern="0" spc="-2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philosophy</a:t>
            </a:r>
            <a:r>
              <a:rPr sz="2000" i="1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3590" indent="635" algn="l" rtl="0" eaLnBrk="0">
              <a:lnSpc>
                <a:spcPct val="92000"/>
              </a:lnSpc>
              <a:spcBef>
                <a:spcPts val="295"/>
              </a:spcBef>
            </a:pP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commitment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2)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implement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company</a:t>
            </a:r>
            <a:r>
              <a:rPr sz="20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wide</a:t>
            </a:r>
            <a:r>
              <a:rPr sz="20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</a:t>
            </a:r>
            <a:r>
              <a:rPr sz="2000" i="1" kern="0" spc="-30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programs</a:t>
            </a:r>
            <a:r>
              <a:rPr sz="20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0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concepts</a:t>
            </a:r>
            <a:r>
              <a:rPr sz="20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i="1" kern="0" spc="-2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principles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3)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implement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measurement</a:t>
            </a:r>
            <a:r>
              <a:rPr sz="2000" i="1" kern="0" spc="-29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programs</a:t>
            </a:r>
            <a:r>
              <a:rPr sz="20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 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establish and track quality levels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4)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vely </a:t>
            </a:r>
            <a:r>
              <a:rPr sz="2000" i="1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demonstrate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8670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importance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 quality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79145" indent="-288925" algn="l" rtl="0" eaLnBrk="0">
              <a:lnSpc>
                <a:spcPct val="88000"/>
              </a:lnSpc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When every employee insists on producing high-quality pr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oducts, then top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has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done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good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job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promoting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importance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440" name="picture 4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68" y="5964301"/>
            <a:ext cx="135255" cy="211074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4287913"/>
            <a:ext cx="135255" cy="211073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444" name="path 44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6" name="path 44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448" name="picture 448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95600" y="6760461"/>
            <a:ext cx="3810000" cy="364238"/>
          </a:xfrm>
          <a:prstGeom prst="rect">
            <a:avLst/>
          </a:prstGeom>
        </p:spPr>
      </p:pic>
      <p:sp>
        <p:nvSpPr>
          <p:cNvPr id="450" name="textbox 450"/>
          <p:cNvSpPr/>
          <p:nvPr/>
        </p:nvSpPr>
        <p:spPr>
          <a:xfrm>
            <a:off x="397903" y="442467"/>
            <a:ext cx="2045970" cy="500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2" name="textbox 452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21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 454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rect 456"/>
          <p:cNvSpPr/>
          <p:nvPr/>
        </p:nvSpPr>
        <p:spPr>
          <a:xfrm>
            <a:off x="1254898" y="1445846"/>
            <a:ext cx="1662683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8" name="rect 458"/>
          <p:cNvSpPr/>
          <p:nvPr/>
        </p:nvSpPr>
        <p:spPr>
          <a:xfrm>
            <a:off x="2984639" y="1445846"/>
            <a:ext cx="156974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0" name="rect 460"/>
          <p:cNvSpPr/>
          <p:nvPr/>
        </p:nvSpPr>
        <p:spPr>
          <a:xfrm>
            <a:off x="5546483" y="1445846"/>
            <a:ext cx="156974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2" name="rect 462"/>
          <p:cNvSpPr/>
          <p:nvPr/>
        </p:nvSpPr>
        <p:spPr>
          <a:xfrm>
            <a:off x="5773559" y="1445846"/>
            <a:ext cx="806196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4" name="rect 464"/>
          <p:cNvSpPr/>
          <p:nvPr/>
        </p:nvSpPr>
        <p:spPr>
          <a:xfrm>
            <a:off x="3211715" y="1445846"/>
            <a:ext cx="807720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6" name="rect 466"/>
          <p:cNvSpPr/>
          <p:nvPr/>
        </p:nvSpPr>
        <p:spPr>
          <a:xfrm>
            <a:off x="6579755" y="1445846"/>
            <a:ext cx="1879091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8" name="rect 468"/>
          <p:cNvSpPr/>
          <p:nvPr/>
        </p:nvSpPr>
        <p:spPr>
          <a:xfrm>
            <a:off x="4019435" y="1445846"/>
            <a:ext cx="1458468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0" name="textbox 470"/>
          <p:cNvSpPr/>
          <p:nvPr/>
        </p:nvSpPr>
        <p:spPr>
          <a:xfrm>
            <a:off x="562282" y="1433146"/>
            <a:ext cx="8432165" cy="4762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02310" algn="l" rtl="0" eaLnBrk="0">
              <a:lnSpc>
                <a:spcPct val="88000"/>
              </a:lnSpc>
              <a:spcBef>
                <a:spcPts val="0"/>
              </a:spcBef>
            </a:pP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 of</a:t>
            </a:r>
            <a:r>
              <a:rPr sz="2100" kern="0" spc="-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=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 of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conformance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 of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nonconformance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5125" indent="-352425" algn="l" rtl="0" eaLnBrk="0">
              <a:lnSpc>
                <a:spcPct val="97000"/>
              </a:lnSpc>
              <a:spcBef>
                <a:spcPts val="137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Conformance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means delivering products that me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et requirements and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fitness for us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7400" indent="-297180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Examples include the costs associated with developing 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quality plan, costs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analyzing and managing product requirements, and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costs for testing.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6235" indent="-343535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 of</a:t>
            </a:r>
            <a:r>
              <a:rPr sz="2100" kern="0" spc="-19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nonconformance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means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taking responsibility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failures or 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meeting quality expect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ations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600"/>
              </a:spcBef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Five major cost categories related to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42340" indent="-439420" algn="l" rtl="0" eaLnBrk="0">
              <a:lnSpc>
                <a:spcPct val="88000"/>
              </a:lnSpc>
              <a:spcBef>
                <a:spcPts val="178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     </a:t>
            </a:r>
            <a:r>
              <a:rPr sz="2000" u="sng" kern="0" spc="-4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Prevention cost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cost of</a:t>
            </a:r>
            <a:r>
              <a:rPr sz="2000" kern="0" spc="-4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planning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executing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project to ensure it is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error-free or within an accepta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ble error range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5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41070" indent="-460375" algn="l" rtl="0" eaLnBrk="0">
              <a:lnSpc>
                <a:spcPct val="88000"/>
              </a:lnSpc>
            </a:pP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     </a:t>
            </a:r>
            <a:r>
              <a:rPr sz="2000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Appraisal</a:t>
            </a:r>
            <a:r>
              <a:rPr sz="2000" u="sng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evaluating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processes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their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outputs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ensure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472" name="picture 4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69" y="2804871"/>
            <a:ext cx="135254" cy="211073"/>
          </a:xfrm>
          <a:prstGeom prst="rect">
            <a:avLst/>
          </a:prstGeom>
        </p:spPr>
      </p:pic>
      <p:sp>
        <p:nvSpPr>
          <p:cNvPr id="474" name="path 474"/>
          <p:cNvSpPr/>
          <p:nvPr/>
        </p:nvSpPr>
        <p:spPr>
          <a:xfrm>
            <a:off x="5707060" y="1445846"/>
            <a:ext cx="70103" cy="309369"/>
          </a:xfrm>
          <a:custGeom>
            <a:avLst/>
            <a:gdLst/>
            <a:ahLst/>
            <a:cxnLst/>
            <a:rect l="0" t="0" r="0" b="0"/>
            <a:pathLst>
              <a:path w="110" h="487">
                <a:moveTo>
                  <a:pt x="0" y="487"/>
                </a:moveTo>
                <a:lnTo>
                  <a:pt x="110" y="487"/>
                </a:lnTo>
                <a:lnTo>
                  <a:pt x="110" y="0"/>
                </a:lnTo>
                <a:lnTo>
                  <a:pt x="0" y="0"/>
                </a:lnTo>
                <a:lnTo>
                  <a:pt x="0" y="487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6" name="path 476"/>
          <p:cNvSpPr/>
          <p:nvPr/>
        </p:nvSpPr>
        <p:spPr>
          <a:xfrm>
            <a:off x="5479171" y="1445846"/>
            <a:ext cx="68579" cy="309369"/>
          </a:xfrm>
          <a:custGeom>
            <a:avLst/>
            <a:gdLst/>
            <a:ahLst/>
            <a:cxnLst/>
            <a:rect l="0" t="0" r="0" b="0"/>
            <a:pathLst>
              <a:path w="107" h="487">
                <a:moveTo>
                  <a:pt x="0" y="487"/>
                </a:moveTo>
                <a:lnTo>
                  <a:pt x="107" y="487"/>
                </a:lnTo>
                <a:lnTo>
                  <a:pt x="107" y="0"/>
                </a:lnTo>
                <a:lnTo>
                  <a:pt x="0" y="0"/>
                </a:lnTo>
                <a:lnTo>
                  <a:pt x="0" y="487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8" name="path 478"/>
          <p:cNvSpPr/>
          <p:nvPr/>
        </p:nvSpPr>
        <p:spPr>
          <a:xfrm>
            <a:off x="3144901" y="1445846"/>
            <a:ext cx="70102" cy="309369"/>
          </a:xfrm>
          <a:custGeom>
            <a:avLst/>
            <a:gdLst/>
            <a:ahLst/>
            <a:cxnLst/>
            <a:rect l="0" t="0" r="0" b="0"/>
            <a:pathLst>
              <a:path w="110" h="487">
                <a:moveTo>
                  <a:pt x="0" y="487"/>
                </a:moveTo>
                <a:lnTo>
                  <a:pt x="110" y="487"/>
                </a:lnTo>
                <a:lnTo>
                  <a:pt x="110" y="0"/>
                </a:lnTo>
                <a:lnTo>
                  <a:pt x="0" y="0"/>
                </a:lnTo>
                <a:lnTo>
                  <a:pt x="0" y="487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0" name="path 480"/>
          <p:cNvSpPr/>
          <p:nvPr/>
        </p:nvSpPr>
        <p:spPr>
          <a:xfrm>
            <a:off x="2919439" y="1445846"/>
            <a:ext cx="67057" cy="309369"/>
          </a:xfrm>
          <a:custGeom>
            <a:avLst/>
            <a:gdLst/>
            <a:ahLst/>
            <a:cxnLst/>
            <a:rect l="0" t="0" r="0" b="0"/>
            <a:pathLst>
              <a:path w="105" h="487">
                <a:moveTo>
                  <a:pt x="0" y="487"/>
                </a:moveTo>
                <a:lnTo>
                  <a:pt x="105" y="487"/>
                </a:lnTo>
                <a:lnTo>
                  <a:pt x="105" y="0"/>
                </a:lnTo>
                <a:lnTo>
                  <a:pt x="0" y="0"/>
                </a:lnTo>
                <a:lnTo>
                  <a:pt x="0" y="487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2" name="textbox 482"/>
          <p:cNvSpPr/>
          <p:nvPr/>
        </p:nvSpPr>
        <p:spPr>
          <a:xfrm>
            <a:off x="402475" y="447230"/>
            <a:ext cx="514286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3600" kern="0" spc="16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(1</a:t>
            </a:r>
            <a:r>
              <a:rPr sz="36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9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484" name="path 48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6" name="path 48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88" name="textbox 488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22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 49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2" name="rect 492"/>
          <p:cNvSpPr/>
          <p:nvPr/>
        </p:nvSpPr>
        <p:spPr>
          <a:xfrm>
            <a:off x="5252351" y="1366596"/>
            <a:ext cx="2738627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4" name="textbox 494"/>
          <p:cNvSpPr/>
          <p:nvPr/>
        </p:nvSpPr>
        <p:spPr>
          <a:xfrm>
            <a:off x="562282" y="1399758"/>
            <a:ext cx="8525509" cy="4768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41070" indent="-455930" algn="l" rtl="0" eaLnBrk="0">
              <a:lnSpc>
                <a:spcPct val="88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     </a:t>
            </a:r>
            <a:r>
              <a:rPr sz="2000" u="sng" kern="0" spc="-4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Internal failure cost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cost incurred to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correct a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 identified defect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before the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customer receives t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 product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41070" indent="-461645" algn="l" rtl="0" eaLnBrk="0">
              <a:lnSpc>
                <a:spcPct val="88000"/>
              </a:lnSpc>
              <a:spcBef>
                <a:spcPts val="177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4.     </a:t>
            </a:r>
            <a:r>
              <a:rPr sz="2000" u="sng" kern="0" spc="-4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External failure cost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cost that relates to all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errors </a:t>
            </a:r>
            <a:r>
              <a:rPr sz="2000" i="1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detected and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corrected before delivery t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 the customer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32180" indent="-445135" algn="l" rtl="0" eaLnBrk="0">
              <a:lnSpc>
                <a:spcPct val="88000"/>
              </a:lnSpc>
              <a:spcBef>
                <a:spcPts val="177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5.     </a:t>
            </a:r>
            <a:r>
              <a:rPr sz="2000" u="sng" kern="0" spc="-4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Measurement and test equipment costs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capital cost of</a:t>
            </a:r>
            <a:r>
              <a:rPr sz="20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quipment used to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 prevention and appraisal 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ctivities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5600" indent="-342900" algn="l" rtl="0" eaLnBrk="0">
              <a:lnSpc>
                <a:spcPct val="100000"/>
              </a:lnSpc>
              <a:spcBef>
                <a:spcPts val="160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2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Unlike many industries, the IT industry traditionally has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gh cost of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nonconformance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(in testing, debugging, and maintaining so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ftware),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which top management is primarily responsibl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9780" indent="-289560" algn="l" rtl="0" eaLnBrk="0">
              <a:lnSpc>
                <a:spcPct val="88000"/>
              </a:lnSpc>
              <a:spcBef>
                <a:spcPts val="173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Top managers often rush to develop new systems and do no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give project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teams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enough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i="1" kern="0" spc="-2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right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i="1" kern="0" spc="-3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first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5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79780" indent="-289560" algn="l" rtl="0" eaLnBrk="0">
              <a:lnSpc>
                <a:spcPct val="88000"/>
              </a:lnSpc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correct these quality problems, top management m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ust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create a culture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 embraces q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uality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496" name="picture 4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70" y="5624271"/>
            <a:ext cx="135255" cy="211074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70" y="4862258"/>
            <a:ext cx="135255" cy="211073"/>
          </a:xfrm>
          <a:prstGeom prst="rect">
            <a:avLst/>
          </a:prstGeom>
        </p:spPr>
      </p:pic>
      <p:sp>
        <p:nvSpPr>
          <p:cNvPr id="500" name="textbox 500"/>
          <p:cNvSpPr/>
          <p:nvPr/>
        </p:nvSpPr>
        <p:spPr>
          <a:xfrm>
            <a:off x="402475" y="447230"/>
            <a:ext cx="514286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Cost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3600" kern="0" spc="16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(2</a:t>
            </a:r>
            <a:r>
              <a:rPr sz="36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9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2" name="group 4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502" name="path 50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4" name="path 50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06" name="textbox 506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23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 50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0" name="rect 510"/>
          <p:cNvSpPr/>
          <p:nvPr/>
        </p:nvSpPr>
        <p:spPr>
          <a:xfrm>
            <a:off x="5709551" y="5455678"/>
            <a:ext cx="2734055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2" name="textbox 512"/>
          <p:cNvSpPr/>
          <p:nvPr/>
        </p:nvSpPr>
        <p:spPr>
          <a:xfrm>
            <a:off x="638482" y="1379735"/>
            <a:ext cx="8440419" cy="5090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5600" indent="-343535" algn="l" rtl="0" eaLnBrk="0">
              <a:lnSpc>
                <a:spcPct val="100000"/>
              </a:lnSpc>
              <a:spcBef>
                <a:spcPts val="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study by DeMarco and Lister showed that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</a:t>
            </a:r>
            <a:r>
              <a:rPr sz="21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rganizational</a:t>
            </a:r>
            <a:r>
              <a:rPr sz="2100" i="1" kern="0" spc="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issues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had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much greater influence on</a:t>
            </a:r>
            <a:r>
              <a:rPr sz="2100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programmer</a:t>
            </a:r>
            <a:r>
              <a:rPr sz="2100" i="1" kern="0" spc="-2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productivity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than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technical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i="1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environment or</a:t>
            </a:r>
            <a:r>
              <a:rPr sz="2100" i="1" kern="0" spc="-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programming languages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43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Programming productivity varied by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factor of</a:t>
            </a:r>
            <a:r>
              <a:rPr sz="2000" kern="0" spc="-1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 to ten across                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but only by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21% within the sa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 organization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765" indent="-296545" algn="l" rtl="0" eaLnBrk="0">
              <a:lnSpc>
                <a:spcPct val="88000"/>
              </a:lnSpc>
              <a:spcBef>
                <a:spcPts val="1475"/>
              </a:spcBef>
              <a:tabLst>
                <a:tab pos="625475" algn="l"/>
              </a:tabLst>
            </a:pP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i="1" kern="0" spc="9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correlation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between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productivity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programming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language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years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experience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or salary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7400" indent="-297180" algn="l" rtl="0" eaLnBrk="0">
              <a:lnSpc>
                <a:spcPct val="88000"/>
              </a:lnSpc>
              <a:spcBef>
                <a:spcPts val="14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Providing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dedicated workspace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quiet work enviro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nment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were key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factors to improving programme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 productivity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59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8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their book </a:t>
            </a:r>
            <a:r>
              <a:rPr sz="2100" i="1" u="sng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Peopleware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DeMarco a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nd Lister suggest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2320" indent="-292100" algn="l" rtl="0" eaLnBrk="0">
              <a:lnSpc>
                <a:spcPct val="88000"/>
              </a:lnSpc>
              <a:spcBef>
                <a:spcPts val="14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Minimizing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office</a:t>
            </a:r>
            <a:r>
              <a:rPr sz="2000" i="1" kern="0" spc="-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politics</a:t>
            </a:r>
            <a:r>
              <a:rPr sz="2000" i="1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giving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</a:t>
            </a:r>
            <a:r>
              <a:rPr sz="2000" kern="0" spc="-2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physical</a:t>
            </a:r>
            <a:r>
              <a:rPr sz="2000" i="1" kern="0" spc="-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space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intellectual     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responsibility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strategic direction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then</a:t>
            </a: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just letting them wo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rk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87400" indent="-297180" algn="l" rtl="0" eaLnBrk="0">
              <a:lnSpc>
                <a:spcPct val="88000"/>
              </a:lnSpc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manager’s function is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make people work but 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make it possible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people to work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by removing politic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al roadblocks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514" name="picture 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29169" y="5926213"/>
            <a:ext cx="135255" cy="211074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29169" y="5202313"/>
            <a:ext cx="135255" cy="211073"/>
          </a:xfrm>
          <a:prstGeom prst="rect">
            <a:avLst/>
          </a:prstGeom>
        </p:spPr>
      </p:pic>
      <p:pic>
        <p:nvPicPr>
          <p:cNvPr id="518" name="picture 5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29170" y="3990721"/>
            <a:ext cx="135255" cy="211073"/>
          </a:xfrm>
          <a:prstGeom prst="rect">
            <a:avLst/>
          </a:prstGeom>
        </p:spPr>
      </p:pic>
      <p:pic>
        <p:nvPicPr>
          <p:cNvPr id="520" name="picture 5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29170" y="3266821"/>
            <a:ext cx="135255" cy="211073"/>
          </a:xfrm>
          <a:prstGeom prst="rect">
            <a:avLst/>
          </a:prstGeom>
        </p:spPr>
      </p:pic>
      <p:pic>
        <p:nvPicPr>
          <p:cNvPr id="522" name="picture 5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29169" y="2542921"/>
            <a:ext cx="135255" cy="211073"/>
          </a:xfrm>
          <a:prstGeom prst="rect">
            <a:avLst/>
          </a:prstGeom>
        </p:spPr>
      </p:pic>
      <p:sp>
        <p:nvSpPr>
          <p:cNvPr id="524" name="textbox 524"/>
          <p:cNvSpPr/>
          <p:nvPr/>
        </p:nvSpPr>
        <p:spPr>
          <a:xfrm>
            <a:off x="395268" y="220005"/>
            <a:ext cx="8480425" cy="883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indent="3175" algn="l" rtl="0" eaLnBrk="0">
              <a:lnSpc>
                <a:spcPct val="88000"/>
              </a:lnSpc>
            </a:pP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Impact</a:t>
            </a:r>
            <a:r>
              <a:rPr sz="3200" kern="0" spc="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200" kern="0" spc="-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Organizational</a:t>
            </a:r>
            <a:r>
              <a:rPr sz="3200" kern="0" spc="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Influences</a:t>
            </a:r>
            <a:r>
              <a:rPr sz="3200" kern="0" spc="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3200" kern="0" spc="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Workplace 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Factors on Q</a:t>
            </a:r>
            <a:r>
              <a:rPr sz="32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uality</a:t>
            </a:r>
            <a:endParaRPr sz="3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526" name="path 526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8" name="path 528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30" name="textbox 530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24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rect 53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4" name="rect 534"/>
          <p:cNvSpPr/>
          <p:nvPr/>
        </p:nvSpPr>
        <p:spPr>
          <a:xfrm>
            <a:off x="7163447" y="4033789"/>
            <a:ext cx="1310640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6" name="rect 536"/>
          <p:cNvSpPr/>
          <p:nvPr/>
        </p:nvSpPr>
        <p:spPr>
          <a:xfrm>
            <a:off x="4011815" y="4033789"/>
            <a:ext cx="2778252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8" name="rect 538"/>
          <p:cNvSpPr/>
          <p:nvPr/>
        </p:nvSpPr>
        <p:spPr>
          <a:xfrm>
            <a:off x="878473" y="4369068"/>
            <a:ext cx="714757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0" name="textbox 540"/>
          <p:cNvSpPr/>
          <p:nvPr/>
        </p:nvSpPr>
        <p:spPr>
          <a:xfrm>
            <a:off x="398360" y="172922"/>
            <a:ext cx="8736330" cy="6279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Expectations and Cultural Differ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ences in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9050" algn="l" rtl="0" eaLnBrk="0">
              <a:lnSpc>
                <a:spcPct val="88000"/>
              </a:lnSpc>
              <a:spcBef>
                <a:spcPts val="560"/>
              </a:spcBef>
              <a:tabLst>
                <a:tab pos="8722360" algn="l"/>
              </a:tabLst>
            </a:pPr>
            <a:r>
              <a:rPr sz="3600" u="sng" kern="0" spc="-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3600" u="sng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38430" algn="l" rtl="0" eaLnBrk="0">
              <a:lnSpc>
                <a:spcPct val="89000"/>
              </a:lnSpc>
              <a:spcBef>
                <a:spcPts val="141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Managing expectations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crucial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for project quality management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12495" indent="-296545" algn="l" rtl="0" eaLnBrk="0">
              <a:lnSpc>
                <a:spcPct val="88000"/>
              </a:lnSpc>
              <a:spcBef>
                <a:spcPts val="1485"/>
              </a:spcBef>
              <a:tabLst>
                <a:tab pos="75120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Different stakeholders (e.g., sponsors, customers, users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 have different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expectations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about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various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aspects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11860" indent="-295910" algn="l" rtl="0" eaLnBrk="0">
              <a:lnSpc>
                <a:spcPct val="88000"/>
              </a:lnSpc>
              <a:spcBef>
                <a:spcPts val="1475"/>
              </a:spcBef>
              <a:tabLst>
                <a:tab pos="75120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Crucial to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understand these expectations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 conflicts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 might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occur due to differences in 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xpectations.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11860" indent="-295910" algn="l" rtl="0" eaLnBrk="0">
              <a:lnSpc>
                <a:spcPct val="88000"/>
              </a:lnSpc>
              <a:spcBef>
                <a:spcPts val="1475"/>
              </a:spcBef>
              <a:tabLst>
                <a:tab pos="75120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managers and their teams must consider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quality-r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elated expectations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 they define the p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roject scope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1330" indent="-342900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8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Expectations vary based on an organizati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on’s culture or geographic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region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12495" indent="-296545" algn="l" rtl="0" eaLnBrk="0">
              <a:lnSpc>
                <a:spcPct val="88000"/>
              </a:lnSpc>
              <a:spcBef>
                <a:spcPts val="1485"/>
              </a:spcBef>
              <a:tabLst>
                <a:tab pos="75120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Expectations may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 the same in different parts of</a:t>
            </a:r>
            <a:r>
              <a:rPr sz="20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 organization.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For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example, different schools in a university may ha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ve very different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13130" algn="l" rtl="0" eaLnBrk="0">
              <a:lnSpc>
                <a:spcPct val="87000"/>
              </a:lnSpc>
              <a:spcBef>
                <a:spcPts val="57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expectations on professors’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performances.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11225" indent="-295275" algn="l" rtl="0" eaLnBrk="0">
              <a:lnSpc>
                <a:spcPct val="88000"/>
              </a:lnSpc>
              <a:spcBef>
                <a:spcPts val="5"/>
              </a:spcBef>
              <a:tabLst>
                <a:tab pos="75120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Important to realize that different countries or cities are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 different stage</a:t>
            </a:r>
            <a:r>
              <a:rPr sz="20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of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development in terms 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quality.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 Not Take Things for Granted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!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542" name="picture 5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14870" y="5895733"/>
            <a:ext cx="135254" cy="211074"/>
          </a:xfrm>
          <a:prstGeom prst="rect">
            <a:avLst/>
          </a:prstGeom>
        </p:spPr>
      </p:pic>
      <p:pic>
        <p:nvPicPr>
          <p:cNvPr id="544" name="picture 5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14870" y="4867033"/>
            <a:ext cx="135255" cy="211073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14882" y="3320173"/>
            <a:ext cx="135255" cy="211073"/>
          </a:xfrm>
          <a:prstGeom prst="rect">
            <a:avLst/>
          </a:prstGeom>
        </p:spPr>
      </p:pic>
      <p:pic>
        <p:nvPicPr>
          <p:cNvPr id="548" name="picture 5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14882" y="2596273"/>
            <a:ext cx="135255" cy="211073"/>
          </a:xfrm>
          <a:prstGeom prst="rect">
            <a:avLst/>
          </a:prstGeom>
        </p:spPr>
      </p:pic>
      <p:pic>
        <p:nvPicPr>
          <p:cNvPr id="550" name="picture 5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14882" y="1872373"/>
            <a:ext cx="135255" cy="211073"/>
          </a:xfrm>
          <a:prstGeom prst="rect">
            <a:avLst/>
          </a:prstGeom>
        </p:spPr>
      </p:pic>
      <p:pic>
        <p:nvPicPr>
          <p:cNvPr id="552" name="picture 552">
            <a:hlinkClick r:id="rId6" action="ppaction://hlinkfil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95600" y="6760461"/>
            <a:ext cx="3810000" cy="364238"/>
          </a:xfrm>
          <a:prstGeom prst="rect">
            <a:avLst/>
          </a:prstGeom>
        </p:spPr>
      </p:pic>
      <p:sp>
        <p:nvSpPr>
          <p:cNvPr id="554" name="rect 554"/>
          <p:cNvSpPr/>
          <p:nvPr/>
        </p:nvSpPr>
        <p:spPr>
          <a:xfrm>
            <a:off x="7200900" y="1138425"/>
            <a:ext cx="1920240" cy="193550"/>
          </a:xfrm>
          <a:prstGeom prst="rect">
            <a:avLst/>
          </a:prstGeom>
          <a:solidFill>
            <a:srgbClr val="B2B2B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6" name="textbox 556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25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rect 55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0" name="rect 560"/>
          <p:cNvSpPr/>
          <p:nvPr/>
        </p:nvSpPr>
        <p:spPr>
          <a:xfrm>
            <a:off x="1264042" y="3683076"/>
            <a:ext cx="4184903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2" name="textbox 562"/>
          <p:cNvSpPr/>
          <p:nvPr/>
        </p:nvSpPr>
        <p:spPr>
          <a:xfrm>
            <a:off x="486082" y="1374973"/>
            <a:ext cx="8532494" cy="412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Managing expectations is a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ritical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skill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Important to understand other people’s expectations as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well as your own.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95655" algn="l" rtl="0" eaLnBrk="0">
              <a:lnSpc>
                <a:spcPct val="88000"/>
              </a:lnSpc>
              <a:spcBef>
                <a:spcPts val="290"/>
              </a:spcBef>
            </a:pP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This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especially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true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when</a:t>
            </a:r>
            <a:r>
              <a:rPr sz="2000" i="1" kern="0" spc="-1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you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start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new</a:t>
            </a:r>
            <a:r>
              <a:rPr sz="2000" i="1" kern="0" spc="-3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job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8510" indent="-288290" algn="l" rtl="0" eaLnBrk="0">
              <a:lnSpc>
                <a:spcPct val="92000"/>
              </a:lnSpc>
              <a:spcBef>
                <a:spcPts val="149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Ask your immediate supervisor to describe what is expected of</a:t>
            </a:r>
            <a:r>
              <a:rPr sz="20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you at work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(e.g., dress code, work speed and quality, breaks, career path).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Also discuss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your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own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expectations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If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there’s a big disconnect or discrepancy, it may be difficult for you to fit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well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Hopefully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i="1" kern="0" spc="-19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you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did</a:t>
            </a:r>
            <a:r>
              <a:rPr sz="2000" i="1" kern="0" spc="-1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some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this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before</a:t>
            </a:r>
            <a:r>
              <a:rPr sz="20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accepting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i="1" kern="0" spc="-3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job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0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6235" indent="-343535" algn="l" rtl="0" eaLnBrk="0">
              <a:lnSpc>
                <a:spcPct val="106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Too many people, including experienced pr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oject managers,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make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assumptions about expectations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100" i="1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get surprised</a:t>
            </a:r>
            <a:r>
              <a:rPr sz="2100" i="1" kern="0" spc="-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when they do not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match those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of</a:t>
            </a:r>
            <a:r>
              <a:rPr sz="2100" kern="0" spc="-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their stakeholders.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564" name="picture 5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76772" y="3734511"/>
            <a:ext cx="135255" cy="211073"/>
          </a:xfrm>
          <a:prstGeom prst="rect">
            <a:avLst/>
          </a:prstGeom>
        </p:spPr>
      </p:pic>
      <p:pic>
        <p:nvPicPr>
          <p:cNvPr id="566" name="picture 5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6770" y="2667711"/>
            <a:ext cx="135254" cy="211073"/>
          </a:xfrm>
          <a:prstGeom prst="rect">
            <a:avLst/>
          </a:prstGeom>
        </p:spPr>
      </p:pic>
      <p:pic>
        <p:nvPicPr>
          <p:cNvPr id="568" name="picture 5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6769" y="1905711"/>
            <a:ext cx="135255" cy="211073"/>
          </a:xfrm>
          <a:prstGeom prst="rect">
            <a:avLst/>
          </a:prstGeom>
        </p:spPr>
      </p:pic>
      <p:sp>
        <p:nvSpPr>
          <p:cNvPr id="570" name="textbox 570"/>
          <p:cNvSpPr/>
          <p:nvPr/>
        </p:nvSpPr>
        <p:spPr>
          <a:xfrm>
            <a:off x="392416" y="447230"/>
            <a:ext cx="5901054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Advice for Young Professi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onals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572" name="path 57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4" name="path 57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76" name="textbox 576"/>
          <p:cNvSpPr/>
          <p:nvPr/>
        </p:nvSpPr>
        <p:spPr>
          <a:xfrm>
            <a:off x="2148243" y="5682566"/>
            <a:ext cx="5257800" cy="30987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8000"/>
              </a:lnSpc>
              <a:spcBef>
                <a:spcPts val="5"/>
              </a:spcBef>
            </a:pPr>
            <a:r>
              <a:rPr sz="2100" i="1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Never be afr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aid to ask what is expected of</a:t>
            </a:r>
            <a:r>
              <a:rPr sz="2100" i="1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you!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78" name="textbox 578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26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t 58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2" name="rect 582"/>
          <p:cNvSpPr/>
          <p:nvPr/>
        </p:nvSpPr>
        <p:spPr>
          <a:xfrm>
            <a:off x="4255655" y="2956318"/>
            <a:ext cx="1050037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4" name="textbox 584"/>
          <p:cNvSpPr/>
          <p:nvPr/>
        </p:nvSpPr>
        <p:spPr>
          <a:xfrm>
            <a:off x="562282" y="1379735"/>
            <a:ext cx="8503284" cy="4691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2425" indent="-340360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Maturity models are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frameworks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helping organiz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ations improve</a:t>
            </a:r>
            <a:r>
              <a:rPr sz="21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their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processes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1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4700" indent="-284480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They describe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 evolutionary path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increasingly organized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systematically more mature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esses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65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Many maturity models have five levels, with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the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</a:t>
            </a:r>
            <a:r>
              <a:rPr sz="2000" i="1" kern="0" spc="-10" baseline="29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</a:t>
            </a:r>
            <a:r>
              <a:rPr sz="13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level describing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5495" indent="635" algn="l" rtl="0" eaLnBrk="0">
              <a:lnSpc>
                <a:spcPct val="91000"/>
              </a:lnSpc>
              <a:spcBef>
                <a:spcPts val="27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characteristics of</a:t>
            </a:r>
            <a:r>
              <a:rPr sz="20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least organized or mature organizations, and the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</a:t>
            </a:r>
            <a:r>
              <a:rPr sz="2000" i="1" kern="0" spc="0" baseline="29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</a:t>
            </a:r>
            <a:r>
              <a:rPr sz="13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level describing characteristics of</a:t>
            </a:r>
            <a:r>
              <a:rPr sz="20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most organized or matu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3335" algn="l" rtl="0" eaLnBrk="0">
              <a:lnSpc>
                <a:spcPct val="87000"/>
              </a:lnSpc>
              <a:spcBef>
                <a:spcPts val="1315"/>
              </a:spcBef>
            </a:pPr>
            <a:r>
              <a:rPr sz="2000" kern="0" spc="-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2000" kern="0" spc="-58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Three popular maturity models</a:t>
            </a:r>
            <a:endParaRPr sz="23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6570" algn="l" rtl="0" eaLnBrk="0">
              <a:lnSpc>
                <a:spcPct val="88000"/>
              </a:lnSpc>
              <a:spcBef>
                <a:spcPts val="1730"/>
              </a:spcBef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 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ware Quality Function Deployment (SQFD)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8155" algn="l" rtl="0" eaLnBrk="0">
              <a:lnSpc>
                <a:spcPct val="88000"/>
              </a:lnSpc>
              <a:spcBef>
                <a:spcPts val="1490"/>
              </a:spcBef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Capability Maturity Model Integration</a:t>
            </a:r>
            <a:r>
              <a:rPr sz="2000" kern="0" spc="9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(CMMI)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81965" algn="l" rtl="0" eaLnBrk="0">
              <a:lnSpc>
                <a:spcPct val="88000"/>
              </a:lnSpc>
              <a:spcBef>
                <a:spcPts val="5"/>
              </a:spcBef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Management Maturity models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586" name="picture 5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72" y="3007753"/>
            <a:ext cx="135255" cy="211073"/>
          </a:xfrm>
          <a:prstGeom prst="rect">
            <a:avLst/>
          </a:prstGeom>
        </p:spPr>
      </p:pic>
      <p:pic>
        <p:nvPicPr>
          <p:cNvPr id="588" name="picture 5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2245740"/>
            <a:ext cx="135255" cy="211073"/>
          </a:xfrm>
          <a:prstGeom prst="rect">
            <a:avLst/>
          </a:prstGeom>
        </p:spPr>
      </p:pic>
      <p:sp>
        <p:nvSpPr>
          <p:cNvPr id="590" name="textbox 590"/>
          <p:cNvSpPr/>
          <p:nvPr/>
        </p:nvSpPr>
        <p:spPr>
          <a:xfrm>
            <a:off x="396531" y="447230"/>
            <a:ext cx="458914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Maturity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Models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(1</a:t>
            </a:r>
            <a:r>
              <a:rPr sz="3600" kern="0" spc="1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592" name="path 59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4" name="path 59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96" name="textbox 596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27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rect 59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0" name="rect 600"/>
          <p:cNvSpPr/>
          <p:nvPr/>
        </p:nvSpPr>
        <p:spPr>
          <a:xfrm>
            <a:off x="7741042" y="1374409"/>
            <a:ext cx="917450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2" name="rect 602"/>
          <p:cNvSpPr/>
          <p:nvPr/>
        </p:nvSpPr>
        <p:spPr>
          <a:xfrm>
            <a:off x="6697103" y="3949968"/>
            <a:ext cx="2449067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4" name="rect 604"/>
          <p:cNvSpPr/>
          <p:nvPr/>
        </p:nvSpPr>
        <p:spPr>
          <a:xfrm>
            <a:off x="3548519" y="1709689"/>
            <a:ext cx="996697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6" name="rect 606"/>
          <p:cNvSpPr/>
          <p:nvPr/>
        </p:nvSpPr>
        <p:spPr>
          <a:xfrm>
            <a:off x="1011058" y="4285249"/>
            <a:ext cx="1072897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8" name="textbox 608"/>
          <p:cNvSpPr/>
          <p:nvPr/>
        </p:nvSpPr>
        <p:spPr>
          <a:xfrm>
            <a:off x="546453" y="1411995"/>
            <a:ext cx="8612505" cy="4973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64185" indent="-427990" algn="l" rtl="0" eaLnBrk="0">
              <a:lnSpc>
                <a:spcPct val="93000"/>
              </a:lnSpc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   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 Quality Function Deplo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yment</a:t>
            </a:r>
            <a:r>
              <a:rPr sz="2100" kern="0" spc="1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(SQFD)</a:t>
            </a:r>
            <a:r>
              <a:rPr sz="2100" kern="0" spc="1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focuses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defining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user requirements and</a:t>
            </a:r>
            <a:r>
              <a:rPr sz="2100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lanning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 projects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802005" indent="-295910" algn="l" rtl="0" eaLnBrk="0">
              <a:lnSpc>
                <a:spcPct val="88000"/>
              </a:lnSpc>
              <a:spcBef>
                <a:spcPts val="1485"/>
              </a:spcBef>
              <a:tabLst>
                <a:tab pos="64135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result of SQFD is a set of</a:t>
            </a:r>
            <a:r>
              <a:rPr sz="20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measurable technical product specifications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their p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riorities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506095" algn="l" rtl="0" eaLnBrk="0">
              <a:lnSpc>
                <a:spcPct val="88000"/>
              </a:lnSpc>
              <a:spcBef>
                <a:spcPts val="1470"/>
              </a:spcBef>
              <a:tabLst>
                <a:tab pos="64135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Having clearer requirements can lead to fewer design cha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nges, increased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805815" indent="-12700" algn="l" rtl="0" eaLnBrk="0">
              <a:lnSpc>
                <a:spcPct val="94000"/>
              </a:lnSpc>
              <a:spcBef>
                <a:spcPts val="1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productivity, and, ultimately, software products that are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more likely to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satisfy stakehol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der requirements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69900" indent="-457835" algn="l" rtl="0" eaLnBrk="0">
              <a:lnSpc>
                <a:spcPct val="98000"/>
              </a:lnSpc>
              <a:spcBef>
                <a:spcPts val="1535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    </a:t>
            </a:r>
            <a:r>
              <a:rPr sz="2100" kern="0" spc="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Capacity Maturi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ty Model Integration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(CMMI)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</a:t>
            </a:r>
            <a:r>
              <a:rPr sz="2100" i="1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improvement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approach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 provides organizations with the essential elements of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4345" algn="l" rtl="0" eaLnBrk="0">
              <a:lnSpc>
                <a:spcPct val="87000"/>
              </a:lnSpc>
              <a:spcBef>
                <a:spcPts val="645"/>
              </a:spcBef>
            </a:pP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effective processes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802005" indent="-295910" algn="l" rtl="0" eaLnBrk="0">
              <a:lnSpc>
                <a:spcPct val="88000"/>
              </a:lnSpc>
              <a:spcBef>
                <a:spcPts val="1290"/>
              </a:spcBef>
              <a:tabLst>
                <a:tab pos="64135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guide</a:t>
            </a:r>
            <a:r>
              <a:rPr sz="2000" kern="0" spc="-2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improvement</a:t>
            </a:r>
            <a:r>
              <a:rPr sz="2000" i="1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across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division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 an entire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97560" indent="-291465" algn="l" rtl="0" eaLnBrk="0">
              <a:lnSpc>
                <a:spcPct val="88000"/>
              </a:lnSpc>
              <a:tabLst>
                <a:tab pos="64135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Five capacity levels: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1)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Initial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; 2)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Managed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; 3)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Defined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; 4)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Quantitatively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; and 5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Optimizing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610" name="picture 6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70" y="5842393"/>
            <a:ext cx="135255" cy="211074"/>
          </a:xfrm>
          <a:prstGeom prst="rect">
            <a:avLst/>
          </a:prstGeom>
        </p:spPr>
      </p:pic>
      <p:pic>
        <p:nvPicPr>
          <p:cNvPr id="612" name="picture 6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5118493"/>
            <a:ext cx="135255" cy="211073"/>
          </a:xfrm>
          <a:prstGeom prst="rect">
            <a:avLst/>
          </a:prstGeom>
        </p:spPr>
      </p:pic>
      <p:pic>
        <p:nvPicPr>
          <p:cNvPr id="614" name="picture 6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70" y="2931553"/>
            <a:ext cx="135255" cy="211073"/>
          </a:xfrm>
          <a:prstGeom prst="rect">
            <a:avLst/>
          </a:prstGeom>
        </p:spPr>
      </p:pic>
      <p:pic>
        <p:nvPicPr>
          <p:cNvPr id="616" name="picture 6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970" y="2207653"/>
            <a:ext cx="135255" cy="211073"/>
          </a:xfrm>
          <a:prstGeom prst="rect">
            <a:avLst/>
          </a:prstGeom>
        </p:spPr>
      </p:pic>
      <p:sp>
        <p:nvSpPr>
          <p:cNvPr id="618" name="textbox 618"/>
          <p:cNvSpPr/>
          <p:nvPr/>
        </p:nvSpPr>
        <p:spPr>
          <a:xfrm>
            <a:off x="396531" y="447230"/>
            <a:ext cx="458914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Maturity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Models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(2</a:t>
            </a:r>
            <a:r>
              <a:rPr sz="3600" kern="0" spc="1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620" name="path 620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2" name="path 622"/>
            <p:cNvSpPr/>
            <p:nvPr/>
          </p:nvSpPr>
          <p:spPr>
            <a:xfrm>
              <a:off x="0" y="72011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24" name="textbox 624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28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rect 626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28" name="picture 6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324736" y="1595280"/>
            <a:ext cx="6661782" cy="4767940"/>
          </a:xfrm>
          <a:prstGeom prst="rect">
            <a:avLst/>
          </a:prstGeom>
        </p:spPr>
      </p:pic>
      <p:sp>
        <p:nvSpPr>
          <p:cNvPr id="630" name="textbox 630"/>
          <p:cNvSpPr/>
          <p:nvPr/>
        </p:nvSpPr>
        <p:spPr>
          <a:xfrm>
            <a:off x="396531" y="447230"/>
            <a:ext cx="458914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Maturity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Models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(3</a:t>
            </a:r>
            <a:r>
              <a:rPr sz="3600" kern="0" spc="1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52" name="group 5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632" name="path 63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4" name="path 63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36" name="textbox 636"/>
          <p:cNvSpPr/>
          <p:nvPr/>
        </p:nvSpPr>
        <p:spPr>
          <a:xfrm>
            <a:off x="1620267" y="6811771"/>
            <a:ext cx="629285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</a:t>
            </a:r>
            <a:r>
              <a:rPr sz="1400" kern="0" spc="80" dirty="0">
                <a:solidFill>
                  <a:srgbClr val="004978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1400" u="sng" kern="0" spc="8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https://en</a:t>
            </a:r>
            <a:r>
              <a:rPr sz="1400" u="sng" kern="0" spc="7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.wikipedia.org/wiki/Capability_Maturity_Model_Integration</a:t>
            </a:r>
            <a:endParaRPr sz="1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38" name="textbox 638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29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rect 64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2" name="textbox 642"/>
          <p:cNvSpPr/>
          <p:nvPr/>
        </p:nvSpPr>
        <p:spPr>
          <a:xfrm>
            <a:off x="551469" y="1392692"/>
            <a:ext cx="8601709" cy="432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0850" indent="-438150" algn="l" rtl="0" eaLnBrk="0">
              <a:lnSpc>
                <a:spcPct val="96000"/>
              </a:lnSpc>
            </a:pP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  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PMI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published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3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</a:t>
            </a:r>
            <a:r>
              <a:rPr sz="2200" kern="0" spc="0" baseline="28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</a:t>
            </a:r>
            <a:r>
              <a:rPr sz="1400" kern="0" spc="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version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Organizational</a:t>
            </a:r>
            <a:r>
              <a:rPr sz="2100" i="1" kern="0" spc="-1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100" i="1" kern="0" spc="-1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  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Maturity</a:t>
            </a:r>
            <a:r>
              <a:rPr sz="2100" i="1" kern="0" spc="-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Model</a:t>
            </a:r>
            <a:r>
              <a:rPr sz="2100" i="1" kern="0" spc="1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OPM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</a:t>
            </a:r>
            <a:r>
              <a:rPr sz="2200" kern="0" spc="100" baseline="31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®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2003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the</a:t>
            </a:r>
            <a:r>
              <a:rPr sz="2100" u="sng" kern="0" spc="9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third</a:t>
            </a:r>
            <a:r>
              <a:rPr sz="2100" u="sng" kern="0" spc="9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version</a:t>
            </a:r>
            <a:r>
              <a:rPr sz="2100" kern="0" spc="9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2013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96925" indent="-295910" algn="l" rtl="0" eaLnBrk="0">
              <a:lnSpc>
                <a:spcPct val="88000"/>
              </a:lnSpc>
              <a:spcBef>
                <a:spcPts val="1485"/>
              </a:spcBef>
              <a:tabLst>
                <a:tab pos="63563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Incorporates</a:t>
            </a:r>
            <a:r>
              <a:rPr sz="20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180 best practices and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more than 2,400 capabilities, outcomes,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key performance 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ndicators.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501015" algn="l" rtl="0" eaLnBrk="0">
              <a:lnSpc>
                <a:spcPct val="88000"/>
              </a:lnSpc>
              <a:spcBef>
                <a:spcPts val="1770"/>
              </a:spcBef>
              <a:tabLst>
                <a:tab pos="63563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Sets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standard</a:t>
            </a:r>
            <a:r>
              <a:rPr sz="20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</a:t>
            </a:r>
            <a:r>
              <a:rPr sz="20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excellence</a:t>
            </a:r>
            <a:r>
              <a:rPr sz="20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000" kern="0" spc="-2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program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-2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portfolio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96925" indent="-4445" algn="l" rtl="0" eaLnBrk="0">
              <a:lnSpc>
                <a:spcPct val="94000"/>
              </a:lnSpc>
              <a:spcBef>
                <a:spcPts val="10"/>
              </a:spcBef>
            </a:pP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best practices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explains the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capabi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lities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necessary to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achieve those be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 practices.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23495" algn="l" rtl="0" eaLnBrk="0">
              <a:lnSpc>
                <a:spcPct val="89000"/>
              </a:lnSpc>
              <a:spcBef>
                <a:spcPts val="159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Many organizations are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assessing where they stand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terms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6395" algn="l" rtl="0" eaLnBrk="0">
              <a:lnSpc>
                <a:spcPct val="92000"/>
              </a:lnSpc>
              <a:spcBef>
                <a:spcPts val="645"/>
              </a:spcBef>
            </a:pP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 maturity,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just as they did for software development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maturity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with the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SQFD and CMMI maturity models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89940" indent="-288925" algn="l" rtl="0" eaLnBrk="0">
              <a:lnSpc>
                <a:spcPct val="88000"/>
              </a:lnSpc>
              <a:spcBef>
                <a:spcPts val="0"/>
              </a:spcBef>
              <a:tabLst>
                <a:tab pos="63563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 must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make a commitment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to the discipline of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   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 to improve projec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644" name="picture 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5156593"/>
            <a:ext cx="135255" cy="211073"/>
          </a:xfrm>
          <a:prstGeom prst="rect">
            <a:avLst/>
          </a:prstGeom>
        </p:spPr>
      </p:pic>
      <p:pic>
        <p:nvPicPr>
          <p:cNvPr id="646" name="picture 6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69" y="2969653"/>
            <a:ext cx="135255" cy="211073"/>
          </a:xfrm>
          <a:prstGeom prst="rect">
            <a:avLst/>
          </a:prstGeom>
        </p:spPr>
      </p:pic>
      <p:pic>
        <p:nvPicPr>
          <p:cNvPr id="648" name="picture 6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69" y="2207653"/>
            <a:ext cx="135255" cy="211073"/>
          </a:xfrm>
          <a:prstGeom prst="rect">
            <a:avLst/>
          </a:prstGeom>
        </p:spPr>
      </p:pic>
      <p:sp>
        <p:nvSpPr>
          <p:cNvPr id="650" name="textbox 650"/>
          <p:cNvSpPr/>
          <p:nvPr/>
        </p:nvSpPr>
        <p:spPr>
          <a:xfrm>
            <a:off x="396531" y="447230"/>
            <a:ext cx="458914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Maturity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Models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(4</a:t>
            </a:r>
            <a:r>
              <a:rPr sz="3600" kern="0" spc="1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54" name="group 5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652" name="path 65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4" name="path 65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56" name="textbox 656"/>
          <p:cNvSpPr/>
          <p:nvPr/>
        </p:nvSpPr>
        <p:spPr>
          <a:xfrm>
            <a:off x="9261915" y="7058950"/>
            <a:ext cx="17526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30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 65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0" name="textbox 660"/>
          <p:cNvSpPr/>
          <p:nvPr/>
        </p:nvSpPr>
        <p:spPr>
          <a:xfrm>
            <a:off x="486069" y="1379735"/>
            <a:ext cx="8354059" cy="421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3" rIns="0" bIns="0"/>
          <a:lstStyle/>
          <a:p>
            <a:pPr marL="363220" indent="-350520" algn="l" rtl="0" eaLnBrk="0">
              <a:lnSpc>
                <a:spcPct val="99000"/>
              </a:lnSpc>
              <a:spcBef>
                <a:spcPts val="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 can be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used to assist with tools and techniques for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89330" indent="-509270" algn="l" rtl="0" eaLnBrk="0">
              <a:lnSpc>
                <a:spcPct val="88000"/>
              </a:lnSpc>
              <a:spcBef>
                <a:spcPts val="1785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Spreadsheet and charting software helps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reate charts and diagrams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many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Seven</a:t>
            </a:r>
            <a:r>
              <a:rPr sz="20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Basic</a:t>
            </a:r>
            <a:r>
              <a:rPr sz="20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Tools</a:t>
            </a:r>
            <a:r>
              <a:rPr sz="20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177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ii.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Statistical software packages help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 statistical analysis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86790" indent="-506730" algn="l" rtl="0" eaLnBrk="0">
              <a:lnSpc>
                <a:spcPct val="88000"/>
              </a:lnSpc>
              <a:spcBef>
                <a:spcPts val="1495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iii.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PM software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creates Gantt charts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helping plan and track work related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quality man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agement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96315" indent="-516255" algn="l" rtl="0" eaLnBrk="0">
              <a:lnSpc>
                <a:spcPct val="88000"/>
              </a:lnSpc>
              <a:spcBef>
                <a:spcPts val="1775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iv.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Specialized software products help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Sigma 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projects, create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 control charts, and ass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ess maturity levels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5600" indent="-343535" algn="l" rtl="0" eaLnBrk="0">
              <a:lnSpc>
                <a:spcPct val="104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teams need to decide what types of</a:t>
            </a:r>
            <a:r>
              <a:rPr sz="2100" kern="0" spc="-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 will help them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 their unique pro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jects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62" name="textbox 662"/>
          <p:cNvSpPr/>
          <p:nvPr/>
        </p:nvSpPr>
        <p:spPr>
          <a:xfrm>
            <a:off x="391045" y="172465"/>
            <a:ext cx="7946390" cy="990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145" indent="-508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Using</a:t>
            </a:r>
            <a:r>
              <a:rPr sz="3600" kern="0" spc="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 t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 Assist in Project Quality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56" name="group 5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664" name="path 66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6" name="path 66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68" name="textbox 668"/>
          <p:cNvSpPr/>
          <p:nvPr/>
        </p:nvSpPr>
        <p:spPr>
          <a:xfrm>
            <a:off x="9261915" y="7058950"/>
            <a:ext cx="17526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31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rect 67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2" name="textbox 672"/>
          <p:cNvSpPr/>
          <p:nvPr/>
        </p:nvSpPr>
        <p:spPr>
          <a:xfrm>
            <a:off x="743809" y="1480573"/>
            <a:ext cx="7937500" cy="1283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8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Chapter 8 “</a:t>
            </a:r>
            <a:r>
              <a:rPr sz="21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Quality Management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” of Schwalbe (2018)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7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5125" indent="-353060" algn="l" rtl="0" eaLnBrk="0">
              <a:lnSpc>
                <a:spcPct val="122000"/>
              </a:lnSpc>
              <a:spcBef>
                <a:spcPts val="0"/>
              </a:spcBef>
            </a:pPr>
            <a:r>
              <a:rPr sz="18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Chapter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8 “</a:t>
            </a:r>
            <a:r>
              <a:rPr sz="21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Quality Management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” in Part</a:t>
            </a:r>
            <a:r>
              <a:rPr sz="2100" kern="0" spc="2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 of</a:t>
            </a:r>
            <a:r>
              <a:rPr sz="2100" kern="0" spc="-2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PMBOK</a:t>
            </a:r>
            <a:r>
              <a:rPr sz="2100" i="1" kern="0" spc="-10" baseline="30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®</a:t>
            </a:r>
            <a:r>
              <a:rPr sz="13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1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Guide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(2017)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74" name="textbox 674"/>
          <p:cNvSpPr/>
          <p:nvPr/>
        </p:nvSpPr>
        <p:spPr>
          <a:xfrm>
            <a:off x="405218" y="447230"/>
            <a:ext cx="4592320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Complementary Reading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58" name="group 5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676" name="path 676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78" name="path 678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80" name="textbox 680"/>
          <p:cNvSpPr/>
          <p:nvPr/>
        </p:nvSpPr>
        <p:spPr>
          <a:xfrm>
            <a:off x="9261915" y="7058950"/>
            <a:ext cx="17526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32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20927</Words>
  <Application>WPS 文字</Application>
  <PresentationFormat/>
  <Paragraphs>510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8" baseType="lpstr">
      <vt:lpstr>Arial</vt:lpstr>
      <vt:lpstr>宋体</vt:lpstr>
      <vt:lpstr>Wingdings</vt:lpstr>
      <vt:lpstr>Arial</vt:lpstr>
      <vt:lpstr>Wingdings</vt:lpstr>
      <vt:lpstr>Times New Roman</vt:lpstr>
      <vt:lpstr>Calibri</vt:lpstr>
      <vt:lpstr>Helvetica Neue</vt:lpstr>
      <vt:lpstr>宋体</vt:lpstr>
      <vt:lpstr>汉仪书宋二KW</vt:lpstr>
      <vt:lpstr>微软雅黑</vt:lpstr>
      <vt:lpstr>汉仪旗黑</vt:lpstr>
      <vt:lpstr>宋体</vt:lpstr>
      <vt:lpstr>Arial Unicode MS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 Project Quality Management (Part II)</dc:title>
  <dc:creator>Prof. Gong Xiting</dc:creator>
  <cp:lastModifiedBy>小戴</cp:lastModifiedBy>
  <cp:revision>1</cp:revision>
  <dcterms:created xsi:type="dcterms:W3CDTF">2026-01-03T12:44:22Z</dcterms:created>
  <dcterms:modified xsi:type="dcterms:W3CDTF">2026-01-03T12:44:22Z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2025-08-31T21:14:53Z</vt:filetime>
  </property>
  <property fmtid="{D5CDD505-2E9C-101B-9397-08002B2CF9AE}" pid="4" name="KSOProductBuildVer">
    <vt:lpwstr>2052-12.1.24031.24031</vt:lpwstr>
  </property>
  <property fmtid="{D5CDD505-2E9C-101B-9397-08002B2CF9AE}" pid="5" name="ICV">
    <vt:lpwstr>CC4F13953DA1420C260F5969D193919A_42</vt:lpwstr>
  </property>
</Properties>
</file>