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601200" cy="73152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hyperlink" Target="https://www.studocu.com/hk?utm_campaign=shared-document&amp;utm_source=studocu-document&amp;utm_medium=social_sharing&amp;utm_content=lecture-7-project-resource-management-part-i" TargetMode="Externa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studocu.com/hk?utm_campaign=shared-document&amp;utm_source=studocu-document&amp;utm_medium=social_sharing&amp;utm_content=lecture-7-project-resource-management-part-i" TargetMode="External"/><Relationship Id="rId2" Type="http://schemas.openxmlformats.org/officeDocument/2006/relationships/hyperlink" Target="https://www.linkedin.com/pulse/why-aristotle-said-knowing-yourself-beginning-all-wisdom-oppong/" TargetMode="Externa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en.wikipedia.org/wiki/Abraham_Maslow" TargetMode="Externa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studocu.com/hk?utm_campaign=shared-document&amp;utm_source=studocu-document&amp;utm_medium=social_sharing&amp;utm_content=lecture-7-project-resource-management-part-i" TargetMode="External"/><Relationship Id="rId1" Type="http://schemas.openxmlformats.org/officeDocument/2006/relationships/hyperlink" Target="https://en.wikipedia.org/wiki/Frederick_Herzberg" TargetMode="Externa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hyperlink" Target="https://en.wikipedia.org/wiki/David_McClelland" TargetMode="Externa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hyperlink" Target="https://en.wikipedia.org/wiki/Thematic_apperception_test" TargetMode="Externa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hyperlink" Target="https://en.wikipedia.org/wiki/William_Ouchi" TargetMode="External"/><Relationship Id="rId1" Type="http://schemas.openxmlformats.org/officeDocument/2006/relationships/hyperlink" Target="https://en.wikipedia.org/wiki/Douglas_McGregor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studocu.com/hk?utm_campaign=shared-document&amp;utm_source=studocu-document&amp;utm_medium=social_sharing&amp;utm_content=lecture-7-project-resource-management-part-i" TargetMode="Externa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hyperlink" Target="https://en.wikipedia.org/wiki/Referent_power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pmi.org/learning/library/applying-coveys-habits-project-management-3306" TargetMode="External"/><Relationship Id="rId1" Type="http://schemas.openxmlformats.org/officeDocument/2006/relationships/hyperlink" Target="https://en.wikipedia.org/wiki/The_7_Habits_of_Highly_Effective_People" TargetMode="Externa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www.studocu.com/hk?utm_campaign=shared-document&amp;utm_source=studocu-document&amp;utm_medium=social_sharing&amp;utm_content=lecture-7-project-resource-management-part-i" TargetMode="Externa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hyperlink" Target="https://en.wikipedia.org/wiki/Howard_Gardner" TargetMode="Externa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amazon.com/Primal-Leadership-New-Preface-Authors-ebook/dp/B00DNGOQ4Y" TargetMode="Externa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hyperlink" Target="https://www.pmi.org/learning/training-development/talent-triang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textbox 4"/>
          <p:cNvSpPr/>
          <p:nvPr/>
        </p:nvSpPr>
        <p:spPr>
          <a:xfrm>
            <a:off x="744844" y="1379722"/>
            <a:ext cx="6938009" cy="4243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3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Importance of</a:t>
            </a:r>
            <a:r>
              <a:rPr sz="2100" kern="0" spc="-1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Resource Management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9000"/>
              </a:lnSpc>
              <a:spcBef>
                <a:spcPts val="99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50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What is Project Resour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ce Management?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9000"/>
              </a:lnSpc>
              <a:spcBef>
                <a:spcPts val="99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Keys to Managing and Lea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ding People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7000"/>
              </a:lnSpc>
              <a:spcBef>
                <a:spcPts val="990"/>
              </a:spcBef>
            </a:pPr>
            <a:r>
              <a:rPr sz="1900" kern="0" spc="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3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Main 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Processes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r" rtl="0" eaLnBrk="0">
              <a:lnSpc>
                <a:spcPct val="88000"/>
              </a:lnSpc>
              <a:spcBef>
                <a:spcPts val="1235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1.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Developing Resource Management Plan and Te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am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Charter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78155" algn="l" rtl="0" eaLnBrk="0">
              <a:lnSpc>
                <a:spcPct val="88000"/>
              </a:lnSpc>
              <a:spcBef>
                <a:spcPts val="890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2.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Estimating Activi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ty Resources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1965" algn="l" rtl="0" eaLnBrk="0">
              <a:lnSpc>
                <a:spcPct val="88000"/>
              </a:lnSpc>
              <a:spcBef>
                <a:spcPts val="890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3.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Acquiring R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esources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77520" algn="l" rtl="0" eaLnBrk="0">
              <a:lnSpc>
                <a:spcPct val="88000"/>
              </a:lnSpc>
              <a:spcBef>
                <a:spcPts val="890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4.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Developing the P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roject Team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3235" algn="l" rtl="0" eaLnBrk="0">
              <a:lnSpc>
                <a:spcPct val="88000"/>
              </a:lnSpc>
              <a:spcBef>
                <a:spcPts val="890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5.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Managing t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he Project Team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2600" algn="l" rtl="0" eaLnBrk="0">
              <a:lnSpc>
                <a:spcPct val="88000"/>
              </a:lnSpc>
              <a:spcBef>
                <a:spcPts val="890"/>
              </a:spcBef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6.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Controlling Resources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18000"/>
              </a:lnSpc>
            </a:pPr>
            <a:endParaRPr sz="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52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Using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Software to Assist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in Resource Management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6" name="path 6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" name="path 8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extbox 10"/>
          <p:cNvSpPr/>
          <p:nvPr/>
        </p:nvSpPr>
        <p:spPr>
          <a:xfrm>
            <a:off x="404761" y="447230"/>
            <a:ext cx="1380489" cy="429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3600" kern="0" spc="-3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Outline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9337816" y="7058950"/>
            <a:ext cx="9969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 14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rect 16"/>
          <p:cNvSpPr/>
          <p:nvPr/>
        </p:nvSpPr>
        <p:spPr>
          <a:xfrm>
            <a:off x="5310263" y="5516638"/>
            <a:ext cx="749810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" name="rect 18"/>
          <p:cNvSpPr/>
          <p:nvPr/>
        </p:nvSpPr>
        <p:spPr>
          <a:xfrm>
            <a:off x="6550799" y="5516638"/>
            <a:ext cx="608077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" name="textbox 20"/>
          <p:cNvSpPr/>
          <p:nvPr/>
        </p:nvSpPr>
        <p:spPr>
          <a:xfrm>
            <a:off x="562282" y="2379626"/>
            <a:ext cx="8523605" cy="4072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90220" algn="l" rtl="0" eaLnBrk="0">
              <a:lnSpc>
                <a:spcPct val="88000"/>
              </a:lnSpc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 determine the success and failure of</a:t>
            </a:r>
            <a:r>
              <a:rPr sz="2000" kern="0" spc="-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organizations and projects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1950" indent="-349250" algn="l" rtl="0" eaLnBrk="0">
              <a:lnSpc>
                <a:spcPct val="97000"/>
              </a:lnSpc>
              <a:spcBef>
                <a:spcPts val="130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Most project managers agree that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managing human r</a:t>
            </a:r>
            <a:r>
              <a:rPr sz="21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esources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effectively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 one of</a:t>
            </a:r>
            <a:r>
              <a:rPr sz="2100" kern="0" spc="-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toughest challenges they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face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92000"/>
              </a:lnSpc>
              <a:spcBef>
                <a:spcPts val="178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Managing people is a vital component of</a:t>
            </a:r>
            <a:r>
              <a:rPr sz="2000" kern="0" spc="-2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resource management, 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especially in the IT field, in which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qualified people a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 often hard to find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retain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3695" indent="-340995" algn="l" rtl="0" eaLnBrk="0">
              <a:lnSpc>
                <a:spcPct val="97000"/>
              </a:lnSpc>
              <a:spcBef>
                <a:spcPts val="158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7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implement IT projects successfully, organ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izations need to understand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resource manage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ment and make effective use of</a:t>
            </a:r>
            <a:r>
              <a:rPr sz="2100" kern="0" spc="-2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9145" indent="-288925" algn="l" rtl="0" eaLnBrk="0">
              <a:lnSpc>
                <a:spcPct val="88000"/>
              </a:lnSpc>
              <a:spcBef>
                <a:spcPts val="178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Proactive</a:t>
            </a:r>
            <a:r>
              <a:rPr sz="2000" kern="0" spc="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organizations</a:t>
            </a:r>
            <a:r>
              <a:rPr sz="2000" kern="0" spc="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are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addressing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current</a:t>
            </a:r>
            <a:r>
              <a:rPr sz="2000" i="1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-3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future</a:t>
            </a:r>
            <a:r>
              <a:rPr sz="2000" i="1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human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resource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needs by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improving benefits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redefining work hours and i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ncentives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33425" algn="l" rtl="0" eaLnBrk="0">
              <a:lnSpc>
                <a:spcPct val="88000"/>
              </a:lnSpc>
              <a:spcBef>
                <a:spcPts val="570"/>
              </a:spcBef>
            </a:pPr>
            <a:r>
              <a:rPr sz="20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finding</a:t>
            </a:r>
            <a:r>
              <a:rPr sz="2000" i="1" kern="0" spc="-4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futur</a:t>
            </a:r>
            <a:r>
              <a:rPr sz="2000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 workers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70" y="5568060"/>
            <a:ext cx="135255" cy="211074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70" y="3678301"/>
            <a:ext cx="135255" cy="211073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69" y="2398141"/>
            <a:ext cx="135255" cy="211073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400189" y="447230"/>
            <a:ext cx="6908165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Importance</a:t>
            </a:r>
            <a:r>
              <a:rPr sz="3600" kern="0" spc="9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3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Resource</a:t>
            </a:r>
            <a:r>
              <a:rPr sz="3600" kern="0" spc="9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Management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30" name="path 30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" name="path 32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34" name="picture 34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95600" y="6760461"/>
            <a:ext cx="3810000" cy="364238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2941967" y="1862089"/>
            <a:ext cx="4314825" cy="30987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9055" algn="l" rtl="0" eaLnBrk="0">
              <a:lnSpc>
                <a:spcPct val="87000"/>
              </a:lnSpc>
              <a:spcBef>
                <a:spcPts val="0"/>
              </a:spcBef>
            </a:pPr>
            <a:r>
              <a:rPr sz="2100" kern="0" spc="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“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</a:t>
            </a:r>
            <a:r>
              <a:rPr sz="2100" kern="0" spc="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are</a:t>
            </a:r>
            <a:r>
              <a:rPr sz="2100" kern="0" spc="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our</a:t>
            </a:r>
            <a:r>
              <a:rPr sz="2100" kern="0" spc="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most</a:t>
            </a:r>
            <a:r>
              <a:rPr sz="2100" kern="0" spc="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important</a:t>
            </a:r>
            <a:r>
              <a:rPr sz="2100" kern="0" spc="10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asset</a:t>
            </a:r>
            <a:r>
              <a:rPr sz="2100" kern="0" spc="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.”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562282" y="1379723"/>
            <a:ext cx="4508500" cy="3117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Many corporate executives have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said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9339639" y="7058950"/>
            <a:ext cx="97789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 42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" name="rect 44"/>
          <p:cNvSpPr/>
          <p:nvPr/>
        </p:nvSpPr>
        <p:spPr>
          <a:xfrm>
            <a:off x="3630815" y="1709689"/>
            <a:ext cx="1083562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rect 46"/>
          <p:cNvSpPr/>
          <p:nvPr/>
        </p:nvSpPr>
        <p:spPr>
          <a:xfrm>
            <a:off x="1328051" y="1709689"/>
            <a:ext cx="762000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" name="rect 48"/>
          <p:cNvSpPr/>
          <p:nvPr/>
        </p:nvSpPr>
        <p:spPr>
          <a:xfrm>
            <a:off x="2631071" y="1709689"/>
            <a:ext cx="931162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textbox 50"/>
          <p:cNvSpPr/>
          <p:nvPr/>
        </p:nvSpPr>
        <p:spPr>
          <a:xfrm>
            <a:off x="562281" y="1379723"/>
            <a:ext cx="8557259" cy="5173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6870" indent="-344170" algn="l" rtl="0" eaLnBrk="0">
              <a:lnSpc>
                <a:spcPct val="97000"/>
              </a:lnSpc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5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</a:t>
            </a:r>
            <a:r>
              <a:rPr sz="2100" i="1" kern="0" spc="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.R.M.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includes</a:t>
            </a:r>
            <a:r>
              <a:rPr sz="2100" kern="0" spc="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100" kern="0" spc="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processes</a:t>
            </a:r>
            <a:r>
              <a:rPr sz="2100" kern="0" spc="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required</a:t>
            </a:r>
            <a:r>
              <a:rPr sz="2100" kern="0" spc="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100" kern="0" spc="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make</a:t>
            </a:r>
            <a:r>
              <a:rPr sz="2100" kern="0" spc="18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100" kern="0" spc="18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most</a:t>
            </a:r>
            <a:r>
              <a:rPr sz="2100" kern="0" spc="18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effective</a:t>
            </a:r>
            <a:r>
              <a:rPr sz="2100" kern="0" spc="18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use</a:t>
            </a:r>
            <a:r>
              <a:rPr sz="2100" kern="0" spc="18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 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</a:t>
            </a:r>
            <a:r>
              <a:rPr sz="2100" i="1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human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100" kern="0" spc="-2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physi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cal resources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involved with a project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6605" indent="-286385" algn="l" rtl="0" eaLnBrk="0">
              <a:lnSpc>
                <a:spcPct val="88000"/>
              </a:lnSpc>
              <a:spcBef>
                <a:spcPts val="1485"/>
              </a:spcBef>
              <a:tabLst>
                <a:tab pos="625475" algn="l"/>
              </a:tabLst>
            </a:pP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b="1" i="1" kern="0" spc="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Human resources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include all project stakeholders: sponsors, c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ustomers,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team members, support staff, sup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pliers, etc.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0220" algn="l" rtl="0" eaLnBrk="0">
              <a:lnSpc>
                <a:spcPct val="88000"/>
              </a:lnSpc>
              <a:spcBef>
                <a:spcPts val="1470"/>
              </a:spcBef>
              <a:tabLst>
                <a:tab pos="625475" algn="l"/>
              </a:tabLst>
            </a:pP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b="1" i="1" kern="0" spc="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Physical resources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include facilities, equipment, materials, an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 supplies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9000"/>
              </a:lnSpc>
              <a:spcBef>
                <a:spcPts val="1310"/>
              </a:spcBef>
            </a:pPr>
            <a:r>
              <a:rPr sz="1900" kern="0" spc="2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30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 main processes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804545" indent="-306070" algn="l" rtl="0" eaLnBrk="0">
              <a:lnSpc>
                <a:spcPct val="88000"/>
              </a:lnSpc>
              <a:spcBef>
                <a:spcPts val="1485"/>
              </a:spcBef>
            </a:pPr>
            <a:r>
              <a:rPr sz="15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1. 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Planning resource management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decide how to estimate, acquire, ma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nage,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use project r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esources.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96925" indent="-302260" algn="l" rtl="0" eaLnBrk="0">
              <a:lnSpc>
                <a:spcPct val="88000"/>
              </a:lnSpc>
              <a:spcBef>
                <a:spcPts val="1475"/>
              </a:spcBef>
            </a:pPr>
            <a:r>
              <a:rPr sz="1500" b="1" i="1" kern="0" spc="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2. 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Estimating</a:t>
            </a:r>
            <a:r>
              <a:rPr sz="2000" b="1" i="1" kern="0" spc="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activity</a:t>
            </a:r>
            <a:r>
              <a:rPr sz="2000" b="1" i="1" kern="0" spc="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resources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estimate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human</a:t>
            </a:r>
            <a:r>
              <a:rPr sz="2000" i="1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-2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physical</a:t>
            </a:r>
            <a:r>
              <a:rPr sz="2000" i="1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resources   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needed to complete project w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ork.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808355" indent="-311785" algn="l" rtl="0" eaLnBrk="0">
              <a:lnSpc>
                <a:spcPct val="88000"/>
              </a:lnSpc>
              <a:spcBef>
                <a:spcPts val="1475"/>
              </a:spcBef>
            </a:pPr>
            <a:r>
              <a:rPr sz="15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3. 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Acquiring resources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obtain team members, facilities, equipment,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materials,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supplies, and other reso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urces as needed.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2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95020" indent="-297180" algn="l" rtl="0" eaLnBrk="0">
              <a:lnSpc>
                <a:spcPct val="88000"/>
              </a:lnSpc>
            </a:pPr>
            <a:r>
              <a:rPr sz="1500" b="1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4. 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Developing</a:t>
            </a:r>
            <a:r>
              <a:rPr sz="2000" b="1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b="1" i="1" kern="0" spc="-18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</a:t>
            </a:r>
            <a:r>
              <a:rPr sz="2000" b="1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team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build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individual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group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skills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enhance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performance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18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69" y="2931540"/>
            <a:ext cx="135255" cy="211073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69" y="2207641"/>
            <a:ext cx="135255" cy="211073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394049" y="219598"/>
            <a:ext cx="8063230" cy="883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495" indent="-10795" algn="l" rtl="0" eaLnBrk="0">
              <a:lnSpc>
                <a:spcPct val="88000"/>
              </a:lnSpc>
            </a:pPr>
            <a:r>
              <a:rPr sz="32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What is Project Resource Management (</a:t>
            </a:r>
            <a:r>
              <a:rPr sz="3200" i="1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</a:t>
            </a:r>
            <a:r>
              <a:rPr sz="3200" i="1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.R.M.</a:t>
            </a:r>
            <a:r>
              <a:rPr sz="32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)?</a:t>
            </a:r>
            <a:r>
              <a:rPr sz="32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200" kern="0" spc="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(1</a:t>
            </a:r>
            <a:r>
              <a:rPr sz="3200" kern="0" spc="1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2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200" kern="0" spc="-28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200" kern="0" spc="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2)</a:t>
            </a:r>
            <a:endParaRPr sz="3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58" name="path 58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0" name="path 60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2" name="rect 62"/>
          <p:cNvSpPr/>
          <p:nvPr/>
        </p:nvSpPr>
        <p:spPr>
          <a:xfrm>
            <a:off x="3562235" y="1709689"/>
            <a:ext cx="68579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textbox 64"/>
          <p:cNvSpPr/>
          <p:nvPr/>
        </p:nvSpPr>
        <p:spPr>
          <a:xfrm>
            <a:off x="9335572" y="7058950"/>
            <a:ext cx="10160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 66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" name="textbox 68"/>
          <p:cNvSpPr/>
          <p:nvPr/>
        </p:nvSpPr>
        <p:spPr>
          <a:xfrm>
            <a:off x="562270" y="1379722"/>
            <a:ext cx="8493125" cy="409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3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Six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main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processes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(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’d)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98830" indent="-297180" algn="l" rtl="0" eaLnBrk="0">
              <a:lnSpc>
                <a:spcPct val="92000"/>
              </a:lnSpc>
              <a:spcBef>
                <a:spcPts val="1785"/>
              </a:spcBef>
            </a:pPr>
            <a:r>
              <a:rPr sz="1500" b="1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5. 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Managing</a:t>
            </a:r>
            <a:r>
              <a:rPr sz="2000" b="1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b="1" i="1" kern="0" spc="-2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</a:t>
            </a:r>
            <a:r>
              <a:rPr sz="2000" b="1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team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track</a:t>
            </a:r>
            <a:r>
              <a:rPr sz="2000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team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member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performance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motivate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team members,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provide timely feedback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resolve issues 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conflicts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coordinate changes to help enhance project per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formance.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505460" algn="l" rtl="0" eaLnBrk="0">
              <a:lnSpc>
                <a:spcPct val="88000"/>
              </a:lnSpc>
              <a:spcBef>
                <a:spcPts val="1770"/>
              </a:spcBef>
            </a:pPr>
            <a:r>
              <a:rPr sz="15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6. 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Controlling resources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ensure that a project’s physical r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esources are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804545" algn="l" rtl="0" eaLnBrk="0">
              <a:lnSpc>
                <a:spcPct val="88000"/>
              </a:lnSpc>
              <a:spcBef>
                <a:spcPts val="29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available as planned, monitor the planned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versus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actual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resource utilization,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take corrective action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when needed.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6870" indent="-344170" algn="l" rtl="0" eaLnBrk="0">
              <a:lnSpc>
                <a:spcPct val="97000"/>
              </a:lnSpc>
              <a:spcBef>
                <a:spcPts val="158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Refer to Figure 9-1 of</a:t>
            </a:r>
            <a:r>
              <a:rPr sz="2100" kern="0" spc="-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textbook for summaries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100" kern="0" spc="-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input, tools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techniques</a:t>
            </a:r>
            <a:r>
              <a:rPr sz="2100" kern="0" spc="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100" kern="0" spc="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outputs</a:t>
            </a:r>
            <a:r>
              <a:rPr sz="2100" kern="0" spc="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100" kern="0" spc="-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</a:t>
            </a:r>
            <a:r>
              <a:rPr sz="2100" i="1" kern="0" spc="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.R.M.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2000"/>
              </a:lnSpc>
            </a:pP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1950" indent="-349250" algn="l" rtl="0" eaLnBrk="0">
              <a:lnSpc>
                <a:spcPct val="97000"/>
              </a:lnSpc>
              <a:spcBef>
                <a:spcPts val="0"/>
              </a:spcBef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Topics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related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</a:t>
            </a:r>
            <a:r>
              <a:rPr sz="2100" i="1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.R.M.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are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introduced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Lecture</a:t>
            </a:r>
            <a:r>
              <a:rPr sz="2100" kern="0" spc="2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will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also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       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introduced in Lecture</a:t>
            </a:r>
            <a:r>
              <a:rPr sz="2100" kern="0" spc="2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11 “</a:t>
            </a:r>
            <a:r>
              <a:rPr sz="2100" i="1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 Stakeholder</a:t>
            </a:r>
            <a:r>
              <a:rPr sz="2100" i="1" kern="0" spc="-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Management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”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394049" y="219598"/>
            <a:ext cx="8063230" cy="883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495" indent="-10795" algn="l" rtl="0" eaLnBrk="0">
              <a:lnSpc>
                <a:spcPct val="88000"/>
              </a:lnSpc>
            </a:pPr>
            <a:r>
              <a:rPr sz="32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What is Project Resource Management (</a:t>
            </a:r>
            <a:r>
              <a:rPr sz="3200" i="1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</a:t>
            </a:r>
            <a:r>
              <a:rPr sz="3200" i="1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.R.M.</a:t>
            </a:r>
            <a:r>
              <a:rPr sz="32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)?</a:t>
            </a:r>
            <a:r>
              <a:rPr sz="32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200" kern="0" spc="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(2</a:t>
            </a:r>
            <a:r>
              <a:rPr sz="3200" kern="0" spc="1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2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200" kern="0" spc="-28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200" kern="0" spc="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2)</a:t>
            </a:r>
            <a:endParaRPr sz="32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72" name="path 72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4" name="path 74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6" name="textbox 76"/>
          <p:cNvSpPr/>
          <p:nvPr/>
        </p:nvSpPr>
        <p:spPr>
          <a:xfrm>
            <a:off x="9339639" y="7058950"/>
            <a:ext cx="97789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 78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" name="textbox 80"/>
          <p:cNvSpPr/>
          <p:nvPr/>
        </p:nvSpPr>
        <p:spPr>
          <a:xfrm>
            <a:off x="486081" y="1379722"/>
            <a:ext cx="8606155" cy="5031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6870" indent="-344170" algn="l" rtl="0" eaLnBrk="0">
              <a:lnSpc>
                <a:spcPct val="97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Psychologists and management theorists have devoted mu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 research and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thought to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field of</a:t>
            </a:r>
            <a:r>
              <a:rPr sz="2100" kern="0" spc="-10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managing and leading people</a:t>
            </a:r>
            <a:r>
              <a:rPr sz="2100" kern="0" spc="10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 work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1950" indent="-349250" algn="l" rtl="0" eaLnBrk="0">
              <a:lnSpc>
                <a:spcPct val="97000"/>
              </a:lnSpc>
              <a:spcBef>
                <a:spcPts val="159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Psychosocial issues affecting how people work and how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well they work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include </a:t>
            </a:r>
            <a:r>
              <a:rPr sz="2100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motivation</a:t>
            </a:r>
            <a:r>
              <a:rPr sz="2100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r>
              <a:rPr sz="21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influence and</a:t>
            </a:r>
            <a:r>
              <a:rPr sz="2100" i="1" kern="0" spc="-3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power</a:t>
            </a:r>
            <a:r>
              <a:rPr sz="21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effectiveness</a:t>
            </a:r>
            <a:r>
              <a:rPr sz="21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emotional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5760" algn="l" rtl="0" eaLnBrk="0">
              <a:lnSpc>
                <a:spcPct val="88000"/>
              </a:lnSpc>
              <a:spcBef>
                <a:spcPts val="645"/>
              </a:spcBef>
            </a:pP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intellige</a:t>
            </a:r>
            <a:r>
              <a:rPr sz="2100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nce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</a:t>
            </a:r>
            <a:r>
              <a:rPr sz="2100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leadership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9000"/>
              </a:lnSpc>
              <a:spcBef>
                <a:spcPts val="1375"/>
              </a:spcBef>
            </a:pPr>
            <a:r>
              <a:rPr sz="1900" kern="0" spc="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 this section, we briefly review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2600" algn="l" rtl="0" eaLnBrk="0">
              <a:lnSpc>
                <a:spcPct val="88000"/>
              </a:lnSpc>
              <a:spcBef>
                <a:spcPts val="1475"/>
              </a:spcBef>
            </a:pP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i.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Contributions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Abraham</a:t>
            </a:r>
            <a:r>
              <a:rPr sz="2000" u="sng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Maslow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Frederick</a:t>
            </a:r>
            <a:r>
              <a:rPr sz="2000" u="sng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Herzberg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David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93775" algn="l" rtl="0" eaLnBrk="0">
              <a:lnSpc>
                <a:spcPct val="88000"/>
              </a:lnSpc>
              <a:spcBef>
                <a:spcPts val="290"/>
              </a:spcBef>
            </a:pP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McClelland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Douglas McGregor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to an understanding of</a:t>
            </a:r>
            <a:r>
              <a:rPr sz="2000" kern="0" spc="-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motivation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97585" indent="-514985" algn="l" rtl="0" eaLnBrk="0">
              <a:lnSpc>
                <a:spcPct val="88000"/>
              </a:lnSpc>
              <a:spcBef>
                <a:spcPts val="119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Work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Thamhain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Wilemon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influencing</a:t>
            </a:r>
            <a:r>
              <a:rPr sz="2000" kern="0" spc="5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workers</a:t>
            </a:r>
            <a:r>
              <a:rPr sz="2000" kern="0" spc="5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5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reducing       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conflict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effect of</a:t>
            </a:r>
            <a:r>
              <a:rPr sz="2000" kern="0" spc="-1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power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 project teams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2600" algn="l" rtl="0" eaLnBrk="0">
              <a:lnSpc>
                <a:spcPct val="88000"/>
              </a:lnSpc>
              <a:spcBef>
                <a:spcPts val="147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iii.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Work of</a:t>
            </a:r>
            <a:r>
              <a:rPr sz="2000" kern="0" spc="-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-3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Stephen Covey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on how people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teams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can be more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effective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2600" algn="l" rtl="0" eaLnBrk="0">
              <a:lnSpc>
                <a:spcPct val="88000"/>
              </a:lnSpc>
              <a:spcBef>
                <a:spcPts val="119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iv.    </a:t>
            </a:r>
            <a:r>
              <a:rPr sz="2000" u="sng" kern="0" spc="-4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Gardner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Goleman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’s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focus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emotional</a:t>
            </a:r>
            <a:r>
              <a:rPr sz="20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inte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lligence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10000"/>
              </a:lnSpc>
            </a:pP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77520" algn="l" rtl="0" eaLnBrk="0">
              <a:lnSpc>
                <a:spcPct val="87000"/>
              </a:lnSpc>
              <a:spcBef>
                <a:spcPts val="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v.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Recent research on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lead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ership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396531" y="447230"/>
            <a:ext cx="7141209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Keys to Managing and Leadin</a:t>
            </a: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 People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84" name="path 84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6" name="path 86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88" name="textbox 88"/>
          <p:cNvSpPr/>
          <p:nvPr/>
        </p:nvSpPr>
        <p:spPr>
          <a:xfrm>
            <a:off x="9339078" y="7058950"/>
            <a:ext cx="98425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 9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2" name="path 92"/>
          <p:cNvSpPr/>
          <p:nvPr/>
        </p:nvSpPr>
        <p:spPr>
          <a:xfrm>
            <a:off x="401572" y="1210437"/>
            <a:ext cx="8720329" cy="19050"/>
          </a:xfrm>
          <a:custGeom>
            <a:avLst/>
            <a:gdLst/>
            <a:ahLst/>
            <a:cxnLst/>
            <a:rect l="0" t="0" r="0" b="0"/>
            <a:pathLst>
              <a:path w="13732" h="30">
                <a:moveTo>
                  <a:pt x="0" y="15"/>
                </a:moveTo>
                <a:lnTo>
                  <a:pt x="13732" y="15"/>
                </a:lnTo>
              </a:path>
            </a:pathLst>
          </a:custGeom>
          <a:noFill/>
          <a:ln w="19050" cap="flat">
            <a:solidFill>
              <a:srgbClr val="330033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4" name="picture 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447800" y="152400"/>
            <a:ext cx="7673340" cy="6705600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748328" y="6947494"/>
            <a:ext cx="5210175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117000"/>
              </a:lnSpc>
            </a:pPr>
            <a:r>
              <a:rPr sz="1400" u="sng" kern="0" spc="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Why</a:t>
            </a:r>
            <a:r>
              <a:rPr sz="1400" u="sng" kern="0" spc="-6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400" u="sng" kern="0" spc="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Aristotle</a:t>
            </a:r>
            <a:r>
              <a:rPr sz="1400" u="sng" kern="0" spc="1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400" u="sng" kern="0" spc="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said</a:t>
            </a:r>
            <a:r>
              <a:rPr sz="1400" u="sng" kern="0" spc="1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: </a:t>
            </a:r>
            <a:r>
              <a:rPr sz="1400" u="dbl" kern="0" spc="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knowing</a:t>
            </a:r>
            <a:r>
              <a:rPr sz="1400" u="sng" kern="0" spc="1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400" u="sng" kern="0" spc="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yourself</a:t>
            </a:r>
            <a:r>
              <a:rPr sz="1400" u="sng" kern="0" spc="1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400" u="sng" kern="0" spc="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is</a:t>
            </a:r>
            <a:r>
              <a:rPr sz="1400" u="sng" kern="0" spc="1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400" u="sng" kern="0" spc="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the</a:t>
            </a:r>
            <a:r>
              <a:rPr sz="1400" u="sng" kern="0" spc="1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400" u="sng" kern="0" spc="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beginning</a:t>
            </a:r>
            <a:r>
              <a:rPr sz="1400" u="sng" kern="0" spc="1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400" u="sng" kern="0" spc="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of</a:t>
            </a:r>
            <a:r>
              <a:rPr sz="1400" u="sng" kern="0" spc="1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400" u="sng" kern="0" spc="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all</a:t>
            </a:r>
            <a:r>
              <a:rPr sz="1400" kern="0" spc="0" dirty="0">
                <a:solidFill>
                  <a:srgbClr val="990033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3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wisdom</a:t>
            </a: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9340339" y="7058950"/>
            <a:ext cx="97155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 10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" name="rect 102"/>
          <p:cNvSpPr/>
          <p:nvPr/>
        </p:nvSpPr>
        <p:spPr>
          <a:xfrm>
            <a:off x="6698627" y="3367798"/>
            <a:ext cx="2464307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rect 104"/>
          <p:cNvSpPr/>
          <p:nvPr/>
        </p:nvSpPr>
        <p:spPr>
          <a:xfrm>
            <a:off x="1340243" y="3672598"/>
            <a:ext cx="925070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textbox 106"/>
          <p:cNvSpPr/>
          <p:nvPr/>
        </p:nvSpPr>
        <p:spPr>
          <a:xfrm>
            <a:off x="562270" y="1379735"/>
            <a:ext cx="8613775" cy="5074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6870" indent="-344170" algn="l" rtl="0" eaLnBrk="0">
              <a:lnSpc>
                <a:spcPct val="97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Most people struggle to understand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what motiva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tes people to do what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</a:t>
            </a:r>
            <a:r>
              <a:rPr sz="2100" kern="0" spc="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they</a:t>
            </a:r>
            <a:r>
              <a:rPr sz="2100" kern="0" spc="1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do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9000"/>
              </a:lnSpc>
              <a:spcBef>
                <a:spcPts val="160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Two types of</a:t>
            </a:r>
            <a:r>
              <a:rPr sz="2100" kern="0" spc="-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motivations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8510" indent="-288290" algn="l" rtl="0" eaLnBrk="0">
              <a:lnSpc>
                <a:spcPct val="88000"/>
              </a:lnSpc>
              <a:spcBef>
                <a:spcPts val="1485"/>
              </a:spcBef>
              <a:tabLst>
                <a:tab pos="625475" algn="l"/>
              </a:tabLst>
            </a:pP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b="1" i="1" kern="0" spc="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Intrinsic motivation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causes people to participate in an activity (e.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g., read,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write, or play piano)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their own en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joyment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9780" indent="-289560" algn="l" rtl="0" eaLnBrk="0">
              <a:lnSpc>
                <a:spcPct val="92000"/>
              </a:lnSpc>
              <a:spcBef>
                <a:spcPts val="1475"/>
              </a:spcBef>
              <a:tabLst>
                <a:tab pos="625475" algn="l"/>
              </a:tabLst>
            </a:pP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b="1" i="1" kern="0" spc="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Extrinsic motivation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causes people to do something for a reward or to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avoid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penalty. For example, some children would prefer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not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do ho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mework, but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they do for receiving a reward or avoiding a puni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shment.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109980" algn="l" rtl="0" eaLnBrk="0">
              <a:lnSpc>
                <a:spcPct val="87000"/>
              </a:lnSpc>
              <a:spcBef>
                <a:spcPts val="1170"/>
              </a:spcBef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天下熙熙皆为利来，天下攘攘皆为利往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---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《史记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·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货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殖列传》</a:t>
            </a:r>
            <a:endParaRPr sz="2000" dirty="0">
              <a:latin typeface="宋体"/>
              <a:ea typeface="宋体"/>
              <a:cs typeface="宋体"/>
            </a:endParaRPr>
          </a:p>
          <a:p>
            <a:pPr marL="363220" indent="-350520" algn="l" rtl="0" eaLnBrk="0">
              <a:lnSpc>
                <a:spcPct val="97000"/>
              </a:lnSpc>
              <a:spcBef>
                <a:spcPts val="162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51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basic understanding of</a:t>
            </a:r>
            <a:r>
              <a:rPr sz="2100" kern="0" spc="-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motivation theories will help us understa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nd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ourselves as well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 others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9000"/>
              </a:lnSpc>
              <a:spcBef>
                <a:spcPts val="160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This section provides brief</a:t>
            </a:r>
            <a:r>
              <a:rPr sz="2100" kern="0" spc="-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summaries of</a:t>
            </a:r>
            <a:r>
              <a:rPr sz="2100" kern="0" spc="-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different motivation theor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ies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6000"/>
              </a:lnSpc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90220" algn="l" rtl="0" eaLnBrk="0">
              <a:lnSpc>
                <a:spcPct val="76000"/>
              </a:lnSpc>
              <a:spcBef>
                <a:spcPts val="0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Refer to the textbook and other texts for more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discussions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108" name="picture 1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58" y="6215773"/>
            <a:ext cx="135255" cy="211074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69" y="3419233"/>
            <a:ext cx="135255" cy="211073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970" y="2695333"/>
            <a:ext cx="135255" cy="211073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114" name="path 114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6" name="path 116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18" name="textbox 118"/>
          <p:cNvSpPr/>
          <p:nvPr/>
        </p:nvSpPr>
        <p:spPr>
          <a:xfrm>
            <a:off x="396531" y="447230"/>
            <a:ext cx="3761740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Motivation</a:t>
            </a: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Theories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9339498" y="7058950"/>
            <a:ext cx="97789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 122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4" name="picture 1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98219" y="2974849"/>
            <a:ext cx="7917180" cy="4122407"/>
          </a:xfrm>
          <a:prstGeom prst="rect">
            <a:avLst/>
          </a:prstGeom>
        </p:spPr>
      </p:pic>
      <p:sp>
        <p:nvSpPr>
          <p:cNvPr id="126" name="rect 126"/>
          <p:cNvSpPr/>
          <p:nvPr/>
        </p:nvSpPr>
        <p:spPr>
          <a:xfrm>
            <a:off x="1753247" y="1712731"/>
            <a:ext cx="92962" cy="309374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8" name="rect 128"/>
          <p:cNvSpPr/>
          <p:nvPr/>
        </p:nvSpPr>
        <p:spPr>
          <a:xfrm>
            <a:off x="8632583" y="1377451"/>
            <a:ext cx="278894" cy="309374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0" name="rect 130"/>
          <p:cNvSpPr/>
          <p:nvPr/>
        </p:nvSpPr>
        <p:spPr>
          <a:xfrm>
            <a:off x="916573" y="1712731"/>
            <a:ext cx="836677" cy="309374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" name="rect 132"/>
          <p:cNvSpPr/>
          <p:nvPr/>
        </p:nvSpPr>
        <p:spPr>
          <a:xfrm>
            <a:off x="6308483" y="1377451"/>
            <a:ext cx="2324100" cy="309374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" name="textbox 134"/>
          <p:cNvSpPr/>
          <p:nvPr/>
        </p:nvSpPr>
        <p:spPr>
          <a:xfrm>
            <a:off x="562282" y="1369021"/>
            <a:ext cx="8554084" cy="1480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3220" indent="-351155" algn="l" rtl="0" eaLnBrk="0">
              <a:lnSpc>
                <a:spcPct val="95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n</a:t>
            </a:r>
            <a:r>
              <a:rPr sz="1900" kern="0" spc="-51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4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Abraham Maslow</a:t>
            </a:r>
            <a:r>
              <a:rPr sz="2100" kern="0" spc="4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 best known for developing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hierarch o</a:t>
            </a:r>
            <a:r>
              <a:rPr sz="2100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 needs</a:t>
            </a:r>
            <a:r>
              <a:rPr sz="2100" i="1" kern="0" spc="1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</a:t>
            </a:r>
            <a:r>
              <a:rPr sz="2300" i="1" kern="0" spc="30" dirty="0">
                <a:solidFill>
                  <a:srgbClr val="000099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需</a:t>
            </a:r>
            <a:r>
              <a:rPr sz="2300" kern="0" spc="0" dirty="0">
                <a:solidFill>
                  <a:srgbClr val="000099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  </a:t>
            </a:r>
            <a:r>
              <a:rPr sz="2300" i="1" kern="0" spc="130" dirty="0">
                <a:solidFill>
                  <a:srgbClr val="000099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求层次</a:t>
            </a:r>
            <a:r>
              <a:rPr sz="2100" i="1" kern="0" spc="1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which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states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that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’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behaviors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are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guided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motivated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by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sequence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100" kern="0" spc="-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needs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2000"/>
              </a:lnSpc>
            </a:pP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  <a:spcBef>
                <a:spcPts val="5"/>
              </a:spcBef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Figure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9-2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shows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its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basic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pyramid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structure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396531" y="447230"/>
            <a:ext cx="7001509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Maslow</a:t>
            </a:r>
            <a:r>
              <a:rPr sz="3600" kern="0" spc="7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’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</a:t>
            </a:r>
            <a:r>
              <a:rPr sz="3600" kern="0" spc="7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Hierarchy</a:t>
            </a:r>
            <a:r>
              <a:rPr sz="3600" kern="0" spc="7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40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Needs</a:t>
            </a:r>
            <a:r>
              <a:rPr sz="3600" kern="0" spc="7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(1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9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7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138" name="path 138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0" name="path 140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2" name="textbox 142"/>
          <p:cNvSpPr/>
          <p:nvPr/>
        </p:nvSpPr>
        <p:spPr>
          <a:xfrm>
            <a:off x="9339639" y="7058950"/>
            <a:ext cx="97789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 144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" name="rect 146"/>
          <p:cNvSpPr/>
          <p:nvPr/>
        </p:nvSpPr>
        <p:spPr>
          <a:xfrm>
            <a:off x="5391035" y="3355609"/>
            <a:ext cx="1389888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rect 148"/>
          <p:cNvSpPr/>
          <p:nvPr/>
        </p:nvSpPr>
        <p:spPr>
          <a:xfrm>
            <a:off x="7840103" y="5729998"/>
            <a:ext cx="1060707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rect 150"/>
          <p:cNvSpPr/>
          <p:nvPr/>
        </p:nvSpPr>
        <p:spPr>
          <a:xfrm>
            <a:off x="4193171" y="5729998"/>
            <a:ext cx="3215640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" name="rect 152"/>
          <p:cNvSpPr/>
          <p:nvPr/>
        </p:nvSpPr>
        <p:spPr>
          <a:xfrm>
            <a:off x="1340243" y="6034797"/>
            <a:ext cx="1840992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" name="textbox 154"/>
          <p:cNvSpPr/>
          <p:nvPr/>
        </p:nvSpPr>
        <p:spPr>
          <a:xfrm>
            <a:off x="562269" y="1379735"/>
            <a:ext cx="8450580" cy="4945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5600" indent="-342900" algn="l" rtl="0" eaLnBrk="0">
              <a:lnSpc>
                <a:spcPct val="101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Maslow suggests that each level of</a:t>
            </a:r>
            <a:r>
              <a:rPr sz="2100" kern="0" spc="-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hierarchy is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prerequisite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the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higher levels. Once a particular need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is satisfied, however,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 no</a:t>
            </a:r>
            <a:r>
              <a:rPr sz="2100" kern="0" spc="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longer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serves as a po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tent motivator of</a:t>
            </a:r>
            <a:r>
              <a:rPr sz="2100" kern="0" spc="-2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behavior.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080135" algn="l" rtl="0" eaLnBrk="0">
              <a:lnSpc>
                <a:spcPct val="87000"/>
              </a:lnSpc>
              <a:spcBef>
                <a:spcPts val="1455"/>
              </a:spcBef>
            </a:pP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仓廪实则知礼节，衣食足则知荣辱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---</a:t>
            </a:r>
            <a:r>
              <a:rPr sz="2100" kern="0" spc="2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《管子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·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牧民》</a:t>
            </a:r>
            <a:endParaRPr sz="2100" dirty="0">
              <a:latin typeface="宋体"/>
              <a:ea typeface="宋体"/>
              <a:cs typeface="宋体"/>
            </a:endParaRPr>
          </a:p>
          <a:p>
            <a:pPr marL="362585" indent="-349885" algn="l" rtl="0" eaLnBrk="0">
              <a:lnSpc>
                <a:spcPct val="97000"/>
              </a:lnSpc>
              <a:spcBef>
                <a:spcPts val="173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bottom four needs are referre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 to as 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deficiency needs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highest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level, self-actualizat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ion, is considered a</a:t>
            </a:r>
            <a:r>
              <a:rPr sz="2100" kern="0" spc="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growth need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88000"/>
              </a:lnSpc>
              <a:spcBef>
                <a:spcPts val="178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Self-actualized people are problem-focused, hav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 an appreciation for life,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are concerned about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personal growth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able to have pe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ak experiences.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4490" indent="-351790" algn="l" rtl="0" eaLnBrk="0">
              <a:lnSpc>
                <a:spcPct val="97000"/>
              </a:lnSpc>
              <a:spcBef>
                <a:spcPts val="158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manager needs to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understand each team m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ember’s motivation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especially on </a:t>
            </a:r>
            <a:r>
              <a:rPr sz="2100" u="sng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</a:t>
            </a:r>
            <a:r>
              <a:rPr sz="2100" u="sng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he top three needs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0220" algn="l" rtl="0" eaLnBrk="0">
              <a:lnSpc>
                <a:spcPct val="85000"/>
              </a:lnSpc>
              <a:spcBef>
                <a:spcPts val="178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Focus on meeting project goals, but also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underst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team members’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0415" indent="-3175" algn="l" rtl="0" eaLnBrk="0">
              <a:lnSpc>
                <a:spcPct val="88000"/>
              </a:lnSpc>
              <a:spcBef>
                <a:spcPts val="360"/>
              </a:spcBef>
            </a:pP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personal goals and needs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provide appropriate motivati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 and maximize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team perform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ance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156" name="picture 1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52969" y="5476633"/>
            <a:ext cx="135255" cy="211073"/>
          </a:xfrm>
          <a:prstGeom prst="rect">
            <a:avLst/>
          </a:prstGeom>
        </p:spPr>
      </p:pic>
      <p:pic>
        <p:nvPicPr>
          <p:cNvPr id="158" name="picture 1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56" y="3891660"/>
            <a:ext cx="135255" cy="211073"/>
          </a:xfrm>
          <a:prstGeom prst="rect">
            <a:avLst/>
          </a:prstGeom>
        </p:spPr>
      </p:pic>
      <p:sp>
        <p:nvSpPr>
          <p:cNvPr id="160" name="textbox 160"/>
          <p:cNvSpPr/>
          <p:nvPr/>
        </p:nvSpPr>
        <p:spPr>
          <a:xfrm>
            <a:off x="396531" y="447230"/>
            <a:ext cx="7001509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Maslow</a:t>
            </a:r>
            <a:r>
              <a:rPr sz="3600" kern="0" spc="7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’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</a:t>
            </a:r>
            <a:r>
              <a:rPr sz="3600" kern="0" spc="7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Hierarchy</a:t>
            </a:r>
            <a:r>
              <a:rPr sz="3600" kern="0" spc="7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40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Needs</a:t>
            </a:r>
            <a:r>
              <a:rPr sz="3600" kern="0" spc="7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(2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9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7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162" name="path 162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4" name="path 164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66" name="textbox 166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 168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0" name="rect 170"/>
          <p:cNvSpPr/>
          <p:nvPr/>
        </p:nvSpPr>
        <p:spPr>
          <a:xfrm>
            <a:off x="2720987" y="2956318"/>
            <a:ext cx="5532120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2" name="textbox 172"/>
          <p:cNvSpPr/>
          <p:nvPr/>
        </p:nvSpPr>
        <p:spPr>
          <a:xfrm>
            <a:off x="486082" y="1379735"/>
            <a:ext cx="8692515" cy="2353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2" rIns="0" bIns="0"/>
          <a:lstStyle/>
          <a:p>
            <a:pPr marL="304800" indent="-292735" algn="l" rtl="0" eaLnBrk="0">
              <a:lnSpc>
                <a:spcPct val="99000"/>
              </a:lnSpc>
              <a:spcBef>
                <a:spcPts val="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n</a:t>
            </a:r>
            <a:r>
              <a:rPr sz="1900" kern="0" spc="-5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-49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4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Frederick Herzberg</a:t>
            </a:r>
            <a:r>
              <a:rPr sz="2100" kern="0" spc="4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 best known for distinguishing between</a:t>
            </a:r>
            <a:r>
              <a:rPr sz="2100" kern="0" spc="-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motivati</a:t>
            </a:r>
            <a:r>
              <a:rPr sz="2100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onal</a:t>
            </a:r>
            <a:r>
              <a:rPr sz="21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factors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(motivators) and </a:t>
            </a:r>
            <a:r>
              <a:rPr sz="2100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hygiene</a:t>
            </a:r>
            <a:r>
              <a:rPr sz="2100" i="1" kern="0" spc="-3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factors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motivation in work set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tings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78155" algn="l" rtl="0" eaLnBrk="0">
              <a:lnSpc>
                <a:spcPct val="88000"/>
              </a:lnSpc>
              <a:spcBef>
                <a:spcPts val="1780"/>
              </a:spcBef>
            </a:pPr>
            <a:r>
              <a:rPr sz="1500" b="1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i.      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Motivators</a:t>
            </a:r>
            <a:r>
              <a:rPr sz="2000" b="1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are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factors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that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cause</a:t>
            </a:r>
            <a:r>
              <a:rPr sz="2000" kern="0" spc="-1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job</a:t>
            </a:r>
            <a:r>
              <a:rPr sz="2000" kern="0" spc="7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satisfaction</a:t>
            </a:r>
            <a:r>
              <a:rPr sz="2000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986790" indent="-508635" algn="l" rtl="0" eaLnBrk="0">
              <a:lnSpc>
                <a:spcPct val="88000"/>
              </a:lnSpc>
              <a:spcBef>
                <a:spcPts val="1495"/>
              </a:spcBef>
            </a:pPr>
            <a:r>
              <a:rPr sz="15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</a:t>
            </a:r>
            <a:r>
              <a:rPr sz="1500" b="1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    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Hygiene</a:t>
            </a:r>
            <a:r>
              <a:rPr sz="2000" b="1" i="1" kern="0" spc="-3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factors</a:t>
            </a:r>
            <a:r>
              <a:rPr sz="2000" b="1" i="1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are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factors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that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could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cause</a:t>
            </a:r>
            <a:r>
              <a:rPr sz="2000" kern="0" spc="-1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job</a:t>
            </a:r>
            <a:r>
              <a:rPr sz="2000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dissatisfaction</a:t>
            </a:r>
            <a:r>
              <a:rPr sz="2000" kern="0" spc="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if</a:t>
            </a:r>
            <a:r>
              <a:rPr sz="2000" kern="0" spc="-2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NOT 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present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but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they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would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not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motivate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workers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do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more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if</a:t>
            </a:r>
            <a:r>
              <a:rPr sz="2000" kern="0" spc="-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present</a:t>
            </a:r>
            <a:r>
              <a:rPr sz="2000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1000"/>
              </a:lnSpc>
            </a:pP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Table 9-1 shows examples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100" kern="0" spc="-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two types offactors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aphicFrame>
        <p:nvGraphicFramePr>
          <p:cNvPr id="174" name="table 174"/>
          <p:cNvGraphicFramePr>
            <a:graphicFrameLocks noGrp="1"/>
          </p:cNvGraphicFramePr>
          <p:nvPr/>
        </p:nvGraphicFramePr>
        <p:xfrm>
          <a:off x="1054248" y="3879850"/>
          <a:ext cx="7594600" cy="2649219"/>
        </p:xfrm>
        <a:graphic>
          <a:graphicData uri="http://schemas.openxmlformats.org/drawingml/2006/table">
            <a:tbl>
              <a:tblPr/>
              <a:tblGrid>
                <a:gridCol w="3930650"/>
                <a:gridCol w="3663950"/>
              </a:tblGrid>
              <a:tr h="3771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7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13030" algn="l" rtl="0" eaLnBrk="0">
                        <a:lnSpc>
                          <a:spcPct val="70000"/>
                        </a:lnSpc>
                      </a:pP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Hygiene Factors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D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7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6680" algn="l" rtl="0" eaLnBrk="0">
                        <a:lnSpc>
                          <a:spcPct val="70000"/>
                        </a:lnSpc>
                      </a:pP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Motivators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8D4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16840" algn="l" rtl="0" eaLnBrk="0">
                        <a:lnSpc>
                          <a:spcPct val="72000"/>
                        </a:lnSpc>
                        <a:spcBef>
                          <a:spcPts val="0"/>
                        </a:spcBef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Larger salaries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9525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Achievement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1684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More superv</a:t>
                      </a: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ision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1049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1800" kern="0" spc="-3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Recognition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16840" algn="l" rtl="0" eaLnBrk="0">
                        <a:lnSpc>
                          <a:spcPct val="72000"/>
                        </a:lnSpc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More attracti</a:t>
                      </a: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ve work</a:t>
                      </a:r>
                      <a:r>
                        <a:rPr sz="1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environment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97790" algn="l" rtl="0" eaLnBrk="0">
                        <a:lnSpc>
                          <a:spcPct val="72000"/>
                        </a:lnSpc>
                      </a:pPr>
                      <a:r>
                        <a:rPr sz="1800" kern="0" spc="-3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  <a:r>
                        <a:rPr sz="1800" kern="0" spc="14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3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itself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795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Computer or other</a:t>
                      </a:r>
                      <a:r>
                        <a:rPr sz="18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requi</a:t>
                      </a: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red</a:t>
                      </a:r>
                      <a:r>
                        <a:rPr sz="1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equipment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1049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1800" kern="0" spc="-2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Responsibility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1684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Health</a:t>
                      </a:r>
                      <a:r>
                        <a:rPr sz="18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benefits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9525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1800" kern="0" spc="-1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Advancement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DE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9906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Training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965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1800" kern="0" spc="-3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Growth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7"/>
                    </a:solidFill>
                  </a:tcPr>
                </a:tc>
              </a:tr>
            </a:tbl>
          </a:graphicData>
        </a:graphic>
      </p:graphicFrame>
      <p:sp>
        <p:nvSpPr>
          <p:cNvPr id="176" name="textbox 176"/>
          <p:cNvSpPr/>
          <p:nvPr/>
        </p:nvSpPr>
        <p:spPr>
          <a:xfrm>
            <a:off x="396531" y="447230"/>
            <a:ext cx="7661909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Herzberg’s Motivational-Hygie</a:t>
            </a: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 Theory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178" name="path 178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0" name="path 180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82" name="textbox 182"/>
          <p:cNvSpPr/>
          <p:nvPr/>
        </p:nvSpPr>
        <p:spPr>
          <a:xfrm>
            <a:off x="1527273" y="6729931"/>
            <a:ext cx="6646544" cy="259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800" kern="0" spc="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Table</a:t>
            </a:r>
            <a:r>
              <a:rPr sz="1800" kern="0" spc="1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9-1</a:t>
            </a:r>
            <a:r>
              <a:rPr sz="1800" kern="0" spc="21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800" kern="0" spc="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</a:t>
            </a:r>
            <a:r>
              <a:rPr sz="1800" kern="0" spc="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004978"/>
                      <wpsdc:folHlinkClr xmlns:wpsdc="http://www.wps.cn/officeDocument/2017/drawingmlCustomData" val="004978"/>
                      <wpsdc:hlinkUnderline xmlns:wpsdc="http://www.wps.cn/officeDocument/2017/drawingmlCustomData" val="0"/>
                    </a:ext>
                  </a:extLst>
                </a:hlinkClick>
              </a:rPr>
              <a:t>amples</a:t>
            </a:r>
            <a:r>
              <a:rPr sz="1800" kern="0" spc="1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004978"/>
                      <wpsdc:folHlinkClr xmlns:wpsdc="http://www.wps.cn/officeDocument/2017/drawingmlCustomData" val="004978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800" kern="0" spc="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004978"/>
                      <wpsdc:folHlinkClr xmlns:wpsdc="http://www.wps.cn/officeDocument/2017/drawingmlCustomData" val="004978"/>
                      <wpsdc:hlinkUnderline xmlns:wpsdc="http://www.wps.cn/officeDocument/2017/drawingmlCustomData" val="0"/>
                    </a:ext>
                  </a:extLst>
                </a:hlinkClick>
              </a:rPr>
              <a:t>of</a:t>
            </a:r>
            <a:r>
              <a:rPr sz="1800" kern="0" spc="1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004978"/>
                      <wpsdc:folHlinkClr xmlns:wpsdc="http://www.wps.cn/officeDocument/2017/drawingmlCustomData" val="004978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800" kern="0" spc="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004978"/>
                      <wpsdc:folHlinkClr xmlns:wpsdc="http://www.wps.cn/officeDocument/2017/drawingmlCustomData" val="004978"/>
                      <wpsdc:hlinkUnderline xmlns:wpsdc="http://www.wps.cn/officeDocument/2017/drawingmlCustomData" val="0"/>
                    </a:ext>
                  </a:extLst>
                </a:hlinkClick>
              </a:rPr>
              <a:t>Herzberg</a:t>
            </a:r>
            <a:r>
              <a:rPr sz="1800" kern="0" spc="1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004978"/>
                      <wpsdc:folHlinkClr xmlns:wpsdc="http://www.wps.cn/officeDocument/2017/drawingmlCustomData" val="004978"/>
                      <wpsdc:hlinkUnderline xmlns:wpsdc="http://www.wps.cn/officeDocument/2017/drawingmlCustomData" val="0"/>
                    </a:ext>
                  </a:extLst>
                </a:hlinkClick>
              </a:rPr>
              <a:t>’</a:t>
            </a:r>
            <a:r>
              <a:rPr sz="1800" kern="0" spc="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004978"/>
                      <wpsdc:folHlinkClr xmlns:wpsdc="http://www.wps.cn/officeDocument/2017/drawingmlCustomData" val="004978"/>
                      <wpsdc:hlinkUnderline xmlns:wpsdc="http://www.wps.cn/officeDocument/2017/drawingmlCustomData" val="0"/>
                    </a:ext>
                  </a:extLst>
                </a:hlinkClick>
              </a:rPr>
              <a:t>s</a:t>
            </a:r>
            <a:r>
              <a:rPr sz="1800" kern="0" spc="14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004978"/>
                      <wpsdc:folHlinkClr xmlns:wpsdc="http://www.wps.cn/officeDocument/2017/drawingmlCustomData" val="004978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800" kern="0" spc="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004978"/>
                      <wpsdc:folHlinkClr xmlns:wpsdc="http://www.wps.cn/officeDocument/2017/drawingmlCustomData" val="004978"/>
                      <wpsdc:hlinkUnderline xmlns:wpsdc="http://www.wps.cn/officeDocument/2017/drawingmlCustomData" val="0"/>
                    </a:ext>
                  </a:extLst>
                </a:hlinkClick>
              </a:rPr>
              <a:t>hygiene</a:t>
            </a:r>
            <a:r>
              <a:rPr sz="1800" kern="0" spc="1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004978"/>
                      <wpsdc:folHlinkClr xmlns:wpsdc="http://www.wps.cn/officeDocument/2017/drawingmlCustomData" val="004978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800" kern="0" spc="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Clr xmlns:wpsdc="http://www.wps.cn/officeDocument/2017/drawingmlCustomData" val="004978"/>
                      <wpsdc:folHlinkClr xmlns:wpsdc="http://www.wps.cn/officeDocument/2017/drawingmlCustomData" val="004978"/>
                      <wpsdc:hlinkUnderline xmlns:wpsdc="http://www.wps.cn/officeDocument/2017/drawingmlCustomData" val="0"/>
                    </a:ext>
                  </a:extLst>
                </a:hlinkClick>
              </a:rPr>
              <a:t>factors</a:t>
            </a:r>
            <a:r>
              <a:rPr sz="1800" kern="0" spc="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1800" kern="0" spc="1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800" kern="0" spc="0" dirty="0">
                <a:solidFill>
                  <a:srgbClr val="00497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motivators</a:t>
            </a:r>
            <a:endParaRPr sz="18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 186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8" name="rect 188"/>
          <p:cNvSpPr/>
          <p:nvPr/>
        </p:nvSpPr>
        <p:spPr>
          <a:xfrm>
            <a:off x="916573" y="2532648"/>
            <a:ext cx="1485899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0" name="rect 190"/>
          <p:cNvSpPr/>
          <p:nvPr/>
        </p:nvSpPr>
        <p:spPr>
          <a:xfrm>
            <a:off x="916573" y="4772929"/>
            <a:ext cx="1179577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2" name="textbox 192"/>
          <p:cNvSpPr/>
          <p:nvPr/>
        </p:nvSpPr>
        <p:spPr>
          <a:xfrm>
            <a:off x="562282" y="1379723"/>
            <a:ext cx="8503284" cy="5158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3220" indent="-350520" algn="l" rtl="0" eaLnBrk="0">
              <a:lnSpc>
                <a:spcPct val="100000"/>
              </a:lnSpc>
              <a:spcBef>
                <a:spcPts val="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n</a:t>
            </a:r>
            <a:r>
              <a:rPr sz="1900" kern="0" spc="-52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-49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4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David McClelland</a:t>
            </a:r>
            <a:r>
              <a:rPr sz="2100" kern="0" spc="4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propos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ed that a person’s specific needs are</a:t>
            </a:r>
            <a:r>
              <a:rPr sz="2100" kern="0" spc="2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acquired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 learned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over time and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shaped by life</a:t>
            </a:r>
            <a:r>
              <a:rPr sz="2100" kern="0" spc="1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experienc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Three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categories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acquired ne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eds are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achievement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affiliation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</a:t>
            </a:r>
            <a:r>
              <a:rPr sz="2100" kern="0" spc="-2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power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7000"/>
              </a:lnSpc>
              <a:spcBef>
                <a:spcPts val="1540"/>
              </a:spcBef>
            </a:pPr>
            <a:r>
              <a:rPr sz="1900" kern="0" spc="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51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Achieveme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nt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92000"/>
              </a:lnSpc>
              <a:spcBef>
                <a:spcPts val="1540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 who have a high need for achievement seek to exc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el and tend to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avoid both low-risk and high-risk situations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improv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 their chances for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achieving something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worthwhile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4860" indent="-294640" algn="l" rtl="0" eaLnBrk="0">
              <a:lnSpc>
                <a:spcPct val="88000"/>
              </a:lnSpc>
              <a:spcBef>
                <a:spcPts val="14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Managers should give high achievers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challenging projects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with achievable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goals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 frequent performanc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 feedback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7000"/>
              </a:lnSpc>
              <a:spcBef>
                <a:spcPts val="1585"/>
              </a:spcBef>
            </a:pPr>
            <a:r>
              <a:rPr sz="1900" kern="0" spc="2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Affiliation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88000"/>
              </a:lnSpc>
              <a:spcBef>
                <a:spcPts val="1540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 with a high need for affiliation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desire harmoniou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 relationships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with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other people and need to feel accepte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 by others.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2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78510" indent="-288290" algn="l" rtl="0" eaLnBrk="0">
              <a:lnSpc>
                <a:spcPct val="88000"/>
              </a:lnSpc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Managers should try to create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cooperative work environme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nt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meet their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needs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194" name="picture 1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69" y="5994780"/>
            <a:ext cx="135255" cy="211074"/>
          </a:xfrm>
          <a:prstGeom prst="rect">
            <a:avLst/>
          </a:prstGeom>
        </p:spPr>
      </p:pic>
      <p:pic>
        <p:nvPicPr>
          <p:cNvPr id="196" name="picture 1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969" y="5270880"/>
            <a:ext cx="135255" cy="211073"/>
          </a:xfrm>
          <a:prstGeom prst="rect">
            <a:avLst/>
          </a:prstGeom>
        </p:spPr>
      </p:pic>
      <p:pic>
        <p:nvPicPr>
          <p:cNvPr id="198" name="picture 1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52982" y="4059301"/>
            <a:ext cx="135255" cy="211073"/>
          </a:xfrm>
          <a:prstGeom prst="rect">
            <a:avLst/>
          </a:prstGeom>
        </p:spPr>
      </p:pic>
      <p:pic>
        <p:nvPicPr>
          <p:cNvPr id="200" name="picture 2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970" y="3030601"/>
            <a:ext cx="135255" cy="211073"/>
          </a:xfrm>
          <a:prstGeom prst="rect">
            <a:avLst/>
          </a:prstGeom>
        </p:spPr>
      </p:pic>
      <p:sp>
        <p:nvSpPr>
          <p:cNvPr id="202" name="textbox 202"/>
          <p:cNvSpPr/>
          <p:nvPr/>
        </p:nvSpPr>
        <p:spPr>
          <a:xfrm>
            <a:off x="396531" y="447230"/>
            <a:ext cx="8538844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McClelland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’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Acquired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Needs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Theory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(1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6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204" name="path 204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6" name="path 206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08" name="textbox 208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 21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2" name="rect 212"/>
          <p:cNvSpPr/>
          <p:nvPr/>
        </p:nvSpPr>
        <p:spPr>
          <a:xfrm>
            <a:off x="1340243" y="3687838"/>
            <a:ext cx="623317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4" name="rect 214"/>
          <p:cNvSpPr/>
          <p:nvPr/>
        </p:nvSpPr>
        <p:spPr>
          <a:xfrm>
            <a:off x="1340243" y="2621038"/>
            <a:ext cx="580647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6" name="rect 216"/>
          <p:cNvSpPr/>
          <p:nvPr/>
        </p:nvSpPr>
        <p:spPr>
          <a:xfrm>
            <a:off x="6172847" y="3383038"/>
            <a:ext cx="2732532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8" name="rect 218"/>
          <p:cNvSpPr/>
          <p:nvPr/>
        </p:nvSpPr>
        <p:spPr>
          <a:xfrm>
            <a:off x="916573" y="1374409"/>
            <a:ext cx="713229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0" name="textbox 220"/>
          <p:cNvSpPr/>
          <p:nvPr/>
        </p:nvSpPr>
        <p:spPr>
          <a:xfrm>
            <a:off x="562269" y="1379735"/>
            <a:ext cx="8588375" cy="4491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kern="0" spc="1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Power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90220" algn="l" rtl="0" eaLnBrk="0">
              <a:lnSpc>
                <a:spcPct val="87000"/>
              </a:lnSpc>
              <a:spcBef>
                <a:spcPts val="610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 with a need for power desire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personal or instit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utional power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0220" algn="l" rtl="0" eaLnBrk="0">
              <a:lnSpc>
                <a:spcPct val="85000"/>
              </a:lnSpc>
              <a:spcBef>
                <a:spcPts val="1520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 who need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personal power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want to direct others and can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be seen as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5495" indent="-8255" algn="l" rtl="0" eaLnBrk="0">
              <a:lnSpc>
                <a:spcPct val="88000"/>
              </a:lnSpc>
              <a:spcBef>
                <a:spcPts val="36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bossy. People who need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institutional power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or </a:t>
            </a:r>
            <a:r>
              <a:rPr sz="20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social power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want to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organize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others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further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goals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2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organization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88000"/>
              </a:lnSpc>
              <a:spcBef>
                <a:spcPts val="17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Managers should provide such employees with the oppo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rtunity to manage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others, emphasizing the importance of</a:t>
            </a:r>
            <a:r>
              <a:rPr sz="2000" kern="0" spc="-2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meeting organizational goals.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5600" indent="-342900" algn="l" rtl="0" eaLnBrk="0">
              <a:lnSpc>
                <a:spcPct val="104000"/>
              </a:lnSpc>
              <a:spcBef>
                <a:spcPts val="1280"/>
              </a:spcBef>
              <a:tabLst>
                <a:tab pos="361950" algn="l"/>
              </a:tabLst>
            </a:pPr>
            <a:r>
              <a:rPr sz="2100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	</a:t>
            </a:r>
            <a:r>
              <a:rPr sz="2100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Thematic</a:t>
            </a:r>
            <a:r>
              <a:rPr sz="2100" u="sng" kern="0" spc="16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Apperception</a:t>
            </a:r>
            <a:r>
              <a:rPr sz="2100" u="sng" kern="0" spc="16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Test</a:t>
            </a: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TAT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tool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measure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individual    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needs of</a:t>
            </a:r>
            <a:r>
              <a:rPr sz="2100" kern="0" spc="-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different people using McClelland’s categories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0000"/>
              </a:lnSpc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85495" indent="-295275" algn="l" rtl="0" eaLnBrk="0">
              <a:lnSpc>
                <a:spcPct val="93000"/>
              </a:lnSpc>
              <a:spcBef>
                <a:spcPts val="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TAT presents subjects with a series of</a:t>
            </a:r>
            <a:r>
              <a:rPr sz="20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ambiguous pictures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asks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them to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develop a spontaneous story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each picture, assuming that they will</a:t>
            </a:r>
            <a:r>
              <a:rPr sz="2000" kern="0" spc="-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投射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 their own needs into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the story.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222" name="picture 2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56" y="5019433"/>
            <a:ext cx="135255" cy="211073"/>
          </a:xfrm>
          <a:prstGeom prst="rect">
            <a:avLst/>
          </a:prstGeom>
        </p:spPr>
      </p:pic>
      <p:pic>
        <p:nvPicPr>
          <p:cNvPr id="224" name="picture 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56" y="3434473"/>
            <a:ext cx="135255" cy="211073"/>
          </a:xfrm>
          <a:prstGeom prst="rect">
            <a:avLst/>
          </a:prstGeom>
        </p:spPr>
      </p:pic>
      <p:pic>
        <p:nvPicPr>
          <p:cNvPr id="226" name="picture 2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970" y="2367660"/>
            <a:ext cx="135255" cy="211073"/>
          </a:xfrm>
          <a:prstGeom prst="rect">
            <a:avLst/>
          </a:prstGeom>
        </p:spPr>
      </p:pic>
      <p:pic>
        <p:nvPicPr>
          <p:cNvPr id="228" name="picture 2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52969" y="1910473"/>
            <a:ext cx="135255" cy="211073"/>
          </a:xfrm>
          <a:prstGeom prst="rect">
            <a:avLst/>
          </a:prstGeom>
        </p:spPr>
      </p:pic>
      <p:sp>
        <p:nvSpPr>
          <p:cNvPr id="230" name="textbox 230"/>
          <p:cNvSpPr/>
          <p:nvPr/>
        </p:nvSpPr>
        <p:spPr>
          <a:xfrm>
            <a:off x="396531" y="447230"/>
            <a:ext cx="8538844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McClelland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’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Acquired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-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Needs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Theory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(2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6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22" name="group 22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232" name="path 232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4" name="path 234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36" name="textbox 236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 238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0" name="rect 240"/>
          <p:cNvSpPr/>
          <p:nvPr/>
        </p:nvSpPr>
        <p:spPr>
          <a:xfrm>
            <a:off x="3332111" y="2461018"/>
            <a:ext cx="891540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2" name="rect 242"/>
          <p:cNvSpPr/>
          <p:nvPr/>
        </p:nvSpPr>
        <p:spPr>
          <a:xfrm>
            <a:off x="4347095" y="2461018"/>
            <a:ext cx="707137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4" name="rect 244"/>
          <p:cNvSpPr/>
          <p:nvPr/>
        </p:nvSpPr>
        <p:spPr>
          <a:xfrm>
            <a:off x="5607443" y="2461018"/>
            <a:ext cx="2468879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6" name="rect 246"/>
          <p:cNvSpPr/>
          <p:nvPr/>
        </p:nvSpPr>
        <p:spPr>
          <a:xfrm>
            <a:off x="4249559" y="5760478"/>
            <a:ext cx="707137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8" name="rect 248"/>
          <p:cNvSpPr/>
          <p:nvPr/>
        </p:nvSpPr>
        <p:spPr>
          <a:xfrm>
            <a:off x="7843151" y="4213618"/>
            <a:ext cx="184403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0" name="rect 250"/>
          <p:cNvSpPr/>
          <p:nvPr/>
        </p:nvSpPr>
        <p:spPr>
          <a:xfrm>
            <a:off x="3659771" y="5760478"/>
            <a:ext cx="466342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2" name="rect 252"/>
          <p:cNvSpPr/>
          <p:nvPr/>
        </p:nvSpPr>
        <p:spPr>
          <a:xfrm>
            <a:off x="5080139" y="5760478"/>
            <a:ext cx="2692907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4" name="rect 254"/>
          <p:cNvSpPr/>
          <p:nvPr/>
        </p:nvSpPr>
        <p:spPr>
          <a:xfrm>
            <a:off x="4397387" y="4213618"/>
            <a:ext cx="3445763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6" name="rect 256"/>
          <p:cNvSpPr/>
          <p:nvPr/>
        </p:nvSpPr>
        <p:spPr>
          <a:xfrm>
            <a:off x="2466479" y="3489718"/>
            <a:ext cx="2456688" cy="281940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8" name="rect 258"/>
          <p:cNvSpPr/>
          <p:nvPr/>
        </p:nvSpPr>
        <p:spPr>
          <a:xfrm>
            <a:off x="1340243" y="6065277"/>
            <a:ext cx="1580387" cy="28193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0" name="textbox 260"/>
          <p:cNvSpPr/>
          <p:nvPr/>
        </p:nvSpPr>
        <p:spPr>
          <a:xfrm>
            <a:off x="562282" y="1379735"/>
            <a:ext cx="8357234" cy="4975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5600" indent="-343535" algn="l" rtl="0" eaLnBrk="0">
              <a:lnSpc>
                <a:spcPct val="97000"/>
              </a:lnSpc>
            </a:pPr>
            <a:r>
              <a:rPr sz="1900" kern="0" spc="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n</a:t>
            </a:r>
            <a:r>
              <a:rPr sz="1900" kern="0" spc="-5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-48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5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Douglas </a:t>
            </a:r>
            <a:r>
              <a:rPr sz="2100" u="sng" kern="0" spc="4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McGregor</a:t>
            </a:r>
            <a:r>
              <a:rPr sz="2100" kern="0" spc="4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 best known for developing Theory X and Theory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Y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100" kern="0" spc="2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1960s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8510" indent="-288290" algn="l" rtl="0" eaLnBrk="0">
              <a:lnSpc>
                <a:spcPct val="92000"/>
              </a:lnSpc>
              <a:spcBef>
                <a:spcPts val="1485"/>
              </a:spcBef>
              <a:tabLst>
                <a:tab pos="625475" algn="l"/>
              </a:tabLst>
            </a:pPr>
            <a:r>
              <a:rPr sz="2000" b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b="1" kern="0" spc="1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b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Theory X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assumes that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workers dislike and avoid work if</a:t>
            </a:r>
            <a:r>
              <a:rPr sz="2000" kern="0" spc="-20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possible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Thus,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managers must use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coercion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threats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various control</a:t>
            </a:r>
            <a:r>
              <a:rPr sz="2000" i="1" kern="0" spc="-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schemes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have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workers make adequate efforts to meet ob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jectives.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0220" algn="l" rtl="0" eaLnBrk="0">
              <a:lnSpc>
                <a:spcPct val="85000"/>
              </a:lnSpc>
              <a:spcBef>
                <a:spcPts val="1475"/>
              </a:spcBef>
              <a:tabLst>
                <a:tab pos="625475" algn="l"/>
              </a:tabLst>
            </a:pPr>
            <a:r>
              <a:rPr sz="2000" b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b="1" kern="0" spc="1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b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Theory Y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assumes that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individuals do not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inheren</a:t>
            </a:r>
            <a:r>
              <a:rPr sz="2000" i="1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tly 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dislike work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but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9940" indent="-3810" algn="l" rtl="0" eaLnBrk="0">
              <a:lnSpc>
                <a:spcPct val="88000"/>
              </a:lnSpc>
              <a:spcBef>
                <a:spcPts val="36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consider it as natural as play or rest. The most sig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nificant rewards are the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satisfaction of</a:t>
            </a:r>
            <a:r>
              <a:rPr sz="2000" kern="0" spc="-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esteem and self-actualization needs, echo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ing Maslow.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88000"/>
              </a:lnSpc>
              <a:spcBef>
                <a:spcPts val="14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McGregor urged managers to motivate people based on Th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eory Y (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do you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agree with him?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3855" indent="-351155" algn="l" rtl="0" eaLnBrk="0">
              <a:lnSpc>
                <a:spcPct val="97000"/>
              </a:lnSpc>
              <a:spcBef>
                <a:spcPts val="1585"/>
              </a:spcBef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n</a:t>
            </a:r>
            <a:r>
              <a:rPr sz="1900" kern="0" spc="-50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-50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William</a:t>
            </a:r>
            <a:r>
              <a:rPr sz="2100" u="sng" kern="0" spc="17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Ouchi</a:t>
            </a:r>
            <a:r>
              <a:rPr sz="2100" kern="0" spc="17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introduced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Theory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Z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100" kern="0" spc="2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1981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based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100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Japanese      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approach to motivating w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orkers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83590" indent="-293370" algn="l" rtl="0" eaLnBrk="0">
              <a:lnSpc>
                <a:spcPct val="88000"/>
              </a:lnSpc>
              <a:spcBef>
                <a:spcPts val="0"/>
              </a:spcBef>
              <a:tabLst>
                <a:tab pos="625475" algn="l"/>
              </a:tabLst>
            </a:pPr>
            <a:r>
              <a:rPr sz="2000" b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b="1" kern="0" spc="1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b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Theory Z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emphasizes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trust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quality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collective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decision making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cultural values.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262" name="picture 2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982" y="5811913"/>
            <a:ext cx="135255" cy="211074"/>
          </a:xfrm>
          <a:prstGeom prst="rect">
            <a:avLst/>
          </a:prstGeom>
        </p:spPr>
      </p:pic>
      <p:pic>
        <p:nvPicPr>
          <p:cNvPr id="264" name="picture 2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52982" y="4265040"/>
            <a:ext cx="135255" cy="211073"/>
          </a:xfrm>
          <a:prstGeom prst="rect">
            <a:avLst/>
          </a:prstGeom>
        </p:spPr>
      </p:pic>
      <p:pic>
        <p:nvPicPr>
          <p:cNvPr id="266" name="picture 2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52982" y="3236340"/>
            <a:ext cx="135255" cy="211073"/>
          </a:xfrm>
          <a:prstGeom prst="rect">
            <a:avLst/>
          </a:prstGeom>
        </p:spPr>
      </p:pic>
      <p:pic>
        <p:nvPicPr>
          <p:cNvPr id="268" name="picture 2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52969" y="2207653"/>
            <a:ext cx="135255" cy="211073"/>
          </a:xfrm>
          <a:prstGeom prst="rect">
            <a:avLst/>
          </a:prstGeom>
        </p:spPr>
      </p:pic>
      <p:sp>
        <p:nvSpPr>
          <p:cNvPr id="270" name="path 270"/>
          <p:cNvSpPr/>
          <p:nvPr/>
        </p:nvSpPr>
        <p:spPr>
          <a:xfrm>
            <a:off x="8080861" y="2461018"/>
            <a:ext cx="59432" cy="281940"/>
          </a:xfrm>
          <a:custGeom>
            <a:avLst/>
            <a:gdLst/>
            <a:ahLst/>
            <a:cxnLst/>
            <a:rect l="0" t="0" r="0" b="0"/>
            <a:pathLst>
              <a:path w="93" h="444">
                <a:moveTo>
                  <a:pt x="0" y="444"/>
                </a:moveTo>
                <a:lnTo>
                  <a:pt x="93" y="444"/>
                </a:lnTo>
                <a:lnTo>
                  <a:pt x="93" y="0"/>
                </a:lnTo>
                <a:lnTo>
                  <a:pt x="0" y="0"/>
                </a:lnTo>
                <a:lnTo>
                  <a:pt x="0" y="444"/>
                </a:lnTo>
                <a:close/>
              </a:path>
            </a:pathLst>
          </a:cu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2" name="textbox 272"/>
          <p:cNvSpPr/>
          <p:nvPr/>
        </p:nvSpPr>
        <p:spPr>
          <a:xfrm>
            <a:off x="396531" y="447230"/>
            <a:ext cx="5350509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McGregor’s Theory X </a:t>
            </a: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Y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24" name="group 24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274" name="path 274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6" name="path 276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78" name="textbox 278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 28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2" name="textbox 282"/>
          <p:cNvSpPr/>
          <p:nvPr/>
        </p:nvSpPr>
        <p:spPr>
          <a:xfrm>
            <a:off x="600381" y="1379709"/>
            <a:ext cx="8522969" cy="5539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Many people working on a project do not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report directly to project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3220" indent="-6985" algn="l" rtl="0" eaLnBrk="0">
              <a:lnSpc>
                <a:spcPct val="92000"/>
              </a:lnSpc>
              <a:spcBef>
                <a:spcPts val="645"/>
              </a:spcBef>
            </a:pP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managers. On the other hand, project managers often do not have c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ontrol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over project staff</a:t>
            </a:r>
            <a:r>
              <a:rPr sz="2100" kern="0" spc="-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who report to them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3695" indent="-340995" algn="l" rtl="0" eaLnBrk="0">
              <a:lnSpc>
                <a:spcPct val="97000"/>
              </a:lnSpc>
              <a:spcBef>
                <a:spcPts val="159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Thamhain and Wilemon identified </a:t>
            </a:r>
            <a:r>
              <a:rPr sz="2100" u="sng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nine</a:t>
            </a:r>
            <a:r>
              <a:rPr sz="2100" u="sng" kern="0" spc="40" dirty="0">
                <a:solidFill>
                  <a:srgbClr val="C0000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u="sng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influence</a:t>
            </a:r>
            <a:r>
              <a:rPr sz="2100" u="sng" kern="0" spc="30" dirty="0">
                <a:solidFill>
                  <a:srgbClr val="C0000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u="sng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bases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available to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mangers to deal with work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ers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1330" algn="l" rtl="0" eaLnBrk="0">
              <a:lnSpc>
                <a:spcPct val="88000"/>
              </a:lnSpc>
              <a:spcBef>
                <a:spcPts val="1180"/>
              </a:spcBef>
            </a:pPr>
            <a:r>
              <a:rPr sz="18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1.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Authority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legitimate hierarchical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right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issue ord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ers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76885" algn="l" rtl="0" eaLnBrk="0">
              <a:lnSpc>
                <a:spcPct val="88000"/>
              </a:lnSpc>
              <a:spcBef>
                <a:spcPts val="590"/>
              </a:spcBef>
            </a:pPr>
            <a:r>
              <a:rPr sz="18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2.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Assignment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ability to influence a worker’s later work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assignments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78790" algn="l" rtl="0" eaLnBrk="0">
              <a:lnSpc>
                <a:spcPct val="88000"/>
              </a:lnSpc>
              <a:spcBef>
                <a:spcPts val="590"/>
              </a:spcBef>
            </a:pPr>
            <a:r>
              <a:rPr sz="1800" b="1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3.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Budget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ability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authorize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others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'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discretionary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funds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0060" algn="l" rtl="0" eaLnBrk="0">
              <a:lnSpc>
                <a:spcPct val="88000"/>
              </a:lnSpc>
              <a:spcBef>
                <a:spcPts val="590"/>
              </a:spcBef>
            </a:pPr>
            <a:r>
              <a:rPr sz="18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4.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Promotion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ability to improve a worker’s position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4505" algn="l" rtl="0" eaLnBrk="0">
              <a:lnSpc>
                <a:spcPct val="88000"/>
              </a:lnSpc>
              <a:spcBef>
                <a:spcPts val="590"/>
              </a:spcBef>
            </a:pPr>
            <a:r>
              <a:rPr sz="18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5.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Money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ability to increase a worker’s pay and benefi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9585" algn="l" rtl="0" eaLnBrk="0">
              <a:lnSpc>
                <a:spcPct val="88000"/>
              </a:lnSpc>
              <a:spcBef>
                <a:spcPts val="590"/>
              </a:spcBef>
            </a:pPr>
            <a:r>
              <a:rPr sz="18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6.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Penalty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ability to cause punish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ment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765" indent="-283845" algn="l" rtl="0" eaLnBrk="0">
              <a:lnSpc>
                <a:spcPct val="88000"/>
              </a:lnSpc>
              <a:spcBef>
                <a:spcPts val="595"/>
              </a:spcBef>
            </a:pPr>
            <a:r>
              <a:rPr sz="18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7.</a:t>
            </a:r>
            <a:r>
              <a:rPr sz="1800" b="1" i="1" kern="0" spc="18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Work challe</a:t>
            </a:r>
            <a:r>
              <a:rPr sz="2000" b="1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nge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ability to assign work that capitalizes on a worker’s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enjoyment of</a:t>
            </a:r>
            <a:r>
              <a:rPr sz="2000" kern="0" spc="-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doing a particular task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4505" algn="l" rtl="0" eaLnBrk="0">
              <a:lnSpc>
                <a:spcPct val="88000"/>
              </a:lnSpc>
              <a:spcBef>
                <a:spcPts val="870"/>
              </a:spcBef>
            </a:pPr>
            <a:r>
              <a:rPr sz="18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8.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Expertise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perceived special knowledge that others deem imp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ortant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7240" indent="-291465" algn="l" rtl="0" eaLnBrk="0">
              <a:lnSpc>
                <a:spcPct val="88000"/>
              </a:lnSpc>
              <a:spcBef>
                <a:spcPts val="595"/>
              </a:spcBef>
            </a:pPr>
            <a:r>
              <a:rPr sz="18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9.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Friendship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ability to establish friendly personal relationships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between the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project manager and others               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                       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400189" y="447230"/>
            <a:ext cx="5283200" cy="500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Influence and Power (1</a:t>
            </a:r>
            <a:r>
              <a:rPr sz="3600" kern="0" spc="16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26" name="group 26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286" name="path 286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8" name="path 288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90" name="textbox 290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15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rect 292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4" name="rect 294"/>
          <p:cNvSpPr/>
          <p:nvPr/>
        </p:nvSpPr>
        <p:spPr>
          <a:xfrm>
            <a:off x="840373" y="3386089"/>
            <a:ext cx="1568196" cy="32460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6" name="rect 296"/>
          <p:cNvSpPr/>
          <p:nvPr/>
        </p:nvSpPr>
        <p:spPr>
          <a:xfrm>
            <a:off x="840373" y="4920752"/>
            <a:ext cx="713229" cy="309374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8" name="textbox 298"/>
          <p:cNvSpPr/>
          <p:nvPr/>
        </p:nvSpPr>
        <p:spPr>
          <a:xfrm>
            <a:off x="486082" y="1379735"/>
            <a:ext cx="8580755" cy="4914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Ways to influenc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2955" indent="-292735" algn="l" rtl="0" eaLnBrk="0">
              <a:lnSpc>
                <a:spcPct val="88000"/>
              </a:lnSpc>
              <a:spcBef>
                <a:spcPts val="178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Projects are more likely to fail when project managers </a:t>
            </a:r>
            <a:r>
              <a:rPr sz="2000" i="1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rely too heavily on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authority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money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</a:t>
            </a:r>
            <a:r>
              <a:rPr sz="2000" kern="0" spc="-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penalty</a:t>
            </a:r>
            <a:r>
              <a:rPr sz="2000" i="1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influence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3590" indent="-293370" algn="l" rtl="0" eaLnBrk="0">
              <a:lnSpc>
                <a:spcPct val="88000"/>
              </a:lnSpc>
              <a:spcBef>
                <a:spcPts val="17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Projects are more likely to succeed when project man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agers use </a:t>
            </a:r>
            <a:r>
              <a:rPr sz="2000" b="1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work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 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challenges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expertise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inf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luence people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3335" algn="l" rtl="0" eaLnBrk="0">
              <a:lnSpc>
                <a:spcPct val="87000"/>
              </a:lnSpc>
              <a:spcBef>
                <a:spcPts val="1600"/>
              </a:spcBef>
            </a:pPr>
            <a:r>
              <a:rPr sz="20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2000" kern="0" spc="-6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 issues have the strongest impact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on project performance</a:t>
            </a:r>
            <a:endParaRPr sz="23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6605" indent="-286385" algn="l" rtl="0" eaLnBrk="0">
              <a:lnSpc>
                <a:spcPct val="88000"/>
              </a:lnSpc>
              <a:spcBef>
                <a:spcPts val="143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Managers cannot succeed by simply issuing work orders, prepa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ring plans, or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providing guidelines. They must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emphasize common values 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goals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7400" algn="l" rtl="0" eaLnBrk="0">
              <a:lnSpc>
                <a:spcPct val="88000"/>
              </a:lnSpc>
              <a:spcBef>
                <a:spcPts val="57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focus and unif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y global teams.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6870" indent="-344170" algn="l" rtl="0" eaLnBrk="0">
              <a:lnSpc>
                <a:spcPct val="99000"/>
              </a:lnSpc>
              <a:spcBef>
                <a:spcPts val="1200"/>
              </a:spcBef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Power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(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权力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100" kern="0" spc="1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potential</a:t>
            </a:r>
            <a:r>
              <a:rPr sz="2100" kern="0" spc="1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ability</a:t>
            </a:r>
            <a:r>
              <a:rPr sz="2100" kern="0" spc="1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100" kern="0" spc="1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influence</a:t>
            </a:r>
            <a:r>
              <a:rPr sz="2100" kern="0" spc="1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behavior</a:t>
            </a:r>
            <a:r>
              <a:rPr sz="2100" kern="0" spc="1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get</a:t>
            </a:r>
            <a:r>
              <a:rPr sz="2100" kern="0" spc="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  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do things they would not do other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wise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79780" indent="-289560" algn="l" rtl="0" eaLnBrk="0">
              <a:lnSpc>
                <a:spcPct val="88000"/>
              </a:lnSpc>
              <a:spcBef>
                <a:spcPts val="0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Power is related to but much stronger than influence, becaus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 it is often used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force people to change their beha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vior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300" name="picture 3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76757" y="5750953"/>
            <a:ext cx="135255" cy="211074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76770" y="3899280"/>
            <a:ext cx="135255" cy="211073"/>
          </a:xfrm>
          <a:prstGeom prst="rect">
            <a:avLst/>
          </a:prstGeom>
        </p:spPr>
      </p:pic>
      <p:pic>
        <p:nvPicPr>
          <p:cNvPr id="304" name="picture 3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76769" y="2672473"/>
            <a:ext cx="135255" cy="211073"/>
          </a:xfrm>
          <a:prstGeom prst="rect">
            <a:avLst/>
          </a:prstGeom>
        </p:spPr>
      </p:pic>
      <p:pic>
        <p:nvPicPr>
          <p:cNvPr id="306" name="picture 3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76769" y="1910473"/>
            <a:ext cx="135255" cy="211073"/>
          </a:xfrm>
          <a:prstGeom prst="rect">
            <a:avLst/>
          </a:prstGeom>
        </p:spPr>
      </p:pic>
      <p:sp>
        <p:nvSpPr>
          <p:cNvPr id="308" name="textbox 308"/>
          <p:cNvSpPr/>
          <p:nvPr/>
        </p:nvSpPr>
        <p:spPr>
          <a:xfrm>
            <a:off x="400189" y="447230"/>
            <a:ext cx="5283200" cy="500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Influence and Power (2</a:t>
            </a:r>
            <a:r>
              <a:rPr sz="3600" kern="0" spc="16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28" name="group 28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310" name="path 310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2" name="path 312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14" name="textbox 314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16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 316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8" name="textbox 318"/>
          <p:cNvSpPr/>
          <p:nvPr/>
        </p:nvSpPr>
        <p:spPr>
          <a:xfrm>
            <a:off x="562281" y="1379722"/>
            <a:ext cx="8594725" cy="4869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50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Five mai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 types of</a:t>
            </a:r>
            <a:r>
              <a:rPr sz="2100" kern="0" spc="-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power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4225" indent="-304165" algn="l" rtl="0" eaLnBrk="0">
              <a:lnSpc>
                <a:spcPct val="88000"/>
              </a:lnSpc>
              <a:spcBef>
                <a:spcPts val="1485"/>
              </a:spcBef>
            </a:pPr>
            <a:r>
              <a:rPr sz="1500" b="1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1. 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Coercive</a:t>
            </a:r>
            <a:r>
              <a:rPr sz="2000" b="1" i="1" kern="0" spc="-25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power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use</a:t>
            </a:r>
            <a:r>
              <a:rPr sz="2000" kern="0" spc="-2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punishment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threats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other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negative</a:t>
            </a:r>
            <a:r>
              <a:rPr sz="2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approaches</a:t>
            </a:r>
            <a:r>
              <a:rPr sz="2000" i="1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get people to do things they do not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want to do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76885" algn="l" rtl="0" eaLnBrk="0">
              <a:lnSpc>
                <a:spcPct val="88000"/>
              </a:lnSpc>
              <a:spcBef>
                <a:spcPts val="1470"/>
              </a:spcBef>
            </a:pPr>
            <a:r>
              <a:rPr sz="1500" b="1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2. 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Legitimate</a:t>
            </a:r>
            <a:r>
              <a:rPr sz="2000" b="1" i="1" kern="0" spc="-2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power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get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do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things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based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position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authority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9780" indent="-301625" algn="l" rtl="0" eaLnBrk="0">
              <a:lnSpc>
                <a:spcPct val="88000"/>
              </a:lnSpc>
              <a:spcBef>
                <a:spcPts val="1195"/>
              </a:spcBef>
            </a:pPr>
            <a:r>
              <a:rPr sz="1500" b="1" i="1" kern="0" spc="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3. 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Expert</a:t>
            </a:r>
            <a:r>
              <a:rPr sz="2000" b="1" i="1" kern="0" spc="-3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power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use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personal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knowledge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expertise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get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change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their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behavior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79425" algn="l" rtl="0" eaLnBrk="0">
              <a:lnSpc>
                <a:spcPct val="88000"/>
              </a:lnSpc>
              <a:spcBef>
                <a:spcPts val="1470"/>
              </a:spcBef>
            </a:pPr>
            <a:r>
              <a:rPr sz="1500" b="1" i="1" kern="0" spc="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4. 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Reward</a:t>
            </a:r>
            <a:r>
              <a:rPr sz="2000" b="1" i="1" kern="0" spc="-27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power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use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incentives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induce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do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things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3235" algn="l" rtl="0" eaLnBrk="0">
              <a:lnSpc>
                <a:spcPct val="90000"/>
              </a:lnSpc>
              <a:spcBef>
                <a:spcPts val="885"/>
              </a:spcBef>
            </a:pPr>
            <a:r>
              <a:rPr sz="1500" b="1" i="1" kern="0" spc="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000099"/>
                      <wpsdc:folHlinkClr xmlns:wpsdc="http://www.wps.cn/officeDocument/2017/drawingmlCustomData" val="000099"/>
                      <wpsdc:hlinkUnderline xmlns:wpsdc="http://www.wps.cn/officeDocument/2017/drawingmlCustomData" val="0"/>
                    </a:ext>
                  </a:extLst>
                </a:hlinkClick>
              </a:rPr>
              <a:t>5.   </a:t>
            </a:r>
            <a:r>
              <a:rPr sz="2000" b="1" i="1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Referent</a:t>
            </a:r>
            <a:r>
              <a:rPr sz="2000" b="1" i="1" u="sng" kern="0" spc="-34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000" b="1" i="1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power</a:t>
            </a:r>
            <a:r>
              <a:rPr sz="2000" b="1" i="1" kern="0" spc="2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based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person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’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own</a:t>
            </a:r>
            <a:r>
              <a:rPr sz="2000" i="1" kern="0" spc="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charisma</a:t>
            </a:r>
            <a:r>
              <a:rPr sz="2000" i="1" kern="0" spc="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个人魅力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3695" indent="-340995" algn="l" rtl="0" eaLnBrk="0">
              <a:lnSpc>
                <a:spcPct val="97000"/>
              </a:lnSpc>
              <a:spcBef>
                <a:spcPts val="156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7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Important for project managers to understand what types of</a:t>
            </a:r>
            <a:r>
              <a:rPr sz="21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influ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ence and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power they can use in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different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situations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0220" algn="l" rtl="0" eaLnBrk="0">
              <a:lnSpc>
                <a:spcPct val="88000"/>
              </a:lnSpc>
              <a:spcBef>
                <a:spcPts val="1480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New project managers often overemphasize their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legitimat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power or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4225" indent="-635" algn="l" rtl="0" eaLnBrk="0">
              <a:lnSpc>
                <a:spcPct val="88000"/>
              </a:lnSpc>
              <a:spcBef>
                <a:spcPts val="295"/>
              </a:spcBef>
            </a:pP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authority</a:t>
            </a:r>
            <a:r>
              <a:rPr sz="2000" i="1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influence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but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neglect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importance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reward</a:t>
            </a:r>
            <a:r>
              <a:rPr sz="2000" i="1" kern="0" spc="-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power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work       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challenge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fluence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320" name="picture 3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970" y="5400433"/>
            <a:ext cx="135255" cy="211073"/>
          </a:xfrm>
          <a:prstGeom prst="rect">
            <a:avLst/>
          </a:prstGeom>
        </p:spPr>
      </p:pic>
      <p:sp>
        <p:nvSpPr>
          <p:cNvPr id="322" name="textbox 322"/>
          <p:cNvSpPr/>
          <p:nvPr/>
        </p:nvSpPr>
        <p:spPr>
          <a:xfrm>
            <a:off x="400189" y="447230"/>
            <a:ext cx="5283200" cy="500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Influence and Power (3</a:t>
            </a:r>
            <a:r>
              <a:rPr sz="3600" kern="0" spc="16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22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324" name="path 324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6" name="path 326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28" name="textbox 328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17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ct 33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2" name="rect 332"/>
          <p:cNvSpPr/>
          <p:nvPr/>
        </p:nvSpPr>
        <p:spPr>
          <a:xfrm>
            <a:off x="6892175" y="1709689"/>
            <a:ext cx="1620011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4" name="textbox 334"/>
          <p:cNvSpPr/>
          <p:nvPr/>
        </p:nvSpPr>
        <p:spPr>
          <a:xfrm>
            <a:off x="562282" y="1379735"/>
            <a:ext cx="8420734" cy="4979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47345" indent="-334645" algn="l" rtl="0" eaLnBrk="0">
              <a:lnSpc>
                <a:spcPct val="97000"/>
              </a:lnSpc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3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Stephen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Covey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developed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approach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his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book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u="sng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The</a:t>
            </a:r>
            <a:r>
              <a:rPr sz="2000" i="1" u="sng" kern="0" spc="21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000" i="1" u="sng" kern="0" spc="14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7</a:t>
            </a:r>
            <a:r>
              <a:rPr sz="2000" i="1" u="sng" kern="0" spc="-9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000" i="1" u="sng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Habits</a:t>
            </a:r>
            <a:r>
              <a:rPr sz="2000" i="1" u="sng" kern="0" spc="14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000" i="1" u="sng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of</a:t>
            </a:r>
            <a:r>
              <a:rPr sz="2000" i="1" u="sng" kern="0" spc="14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000" i="1" u="sng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Highly</a:t>
            </a:r>
            <a:r>
              <a:rPr sz="2000" i="1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u="sng" kern="0" spc="3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Effective People</a:t>
            </a:r>
            <a:r>
              <a:rPr sz="2000" i="1" kern="0" spc="3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for helping people and teams become more effective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4490" indent="-351790" algn="l" rtl="0" eaLnBrk="0">
              <a:lnSpc>
                <a:spcPct val="97000"/>
              </a:lnSpc>
              <a:spcBef>
                <a:spcPts val="159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Project managers can apply Covey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’s seven habits to</a:t>
            </a:r>
            <a:r>
              <a:rPr sz="2100" kern="0" spc="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improve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      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effective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ness on projects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22910" algn="l" rtl="0" eaLnBrk="0">
              <a:lnSpc>
                <a:spcPct val="87000"/>
              </a:lnSpc>
              <a:spcBef>
                <a:spcPts val="1480"/>
              </a:spcBef>
            </a:pPr>
            <a:r>
              <a:rPr sz="1500" i="1" kern="0" spc="10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i.</a:t>
            </a:r>
            <a:r>
              <a:rPr sz="1500" i="1" kern="0" spc="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</a:t>
            </a:r>
            <a:r>
              <a:rPr sz="2000" i="1" kern="0" spc="-1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proactive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22910" algn="l" rtl="0" eaLnBrk="0">
              <a:lnSpc>
                <a:spcPct val="88000"/>
              </a:lnSpc>
              <a:spcBef>
                <a:spcPts val="910"/>
              </a:spcBef>
            </a:pPr>
            <a:r>
              <a:rPr sz="15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ii.      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Begin</a:t>
            </a:r>
            <a:r>
              <a:rPr sz="2000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with</a:t>
            </a:r>
            <a:r>
              <a:rPr sz="2000" i="1" kern="0" spc="8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r>
              <a:rPr sz="2000" i="1" kern="0" spc="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end in</a:t>
            </a:r>
            <a:r>
              <a:rPr sz="2000" i="1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mind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22910" algn="l" rtl="0" eaLnBrk="0">
              <a:lnSpc>
                <a:spcPct val="88000"/>
              </a:lnSpc>
              <a:spcBef>
                <a:spcPts val="890"/>
              </a:spcBef>
            </a:pPr>
            <a:r>
              <a:rPr sz="15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iii</a:t>
            </a:r>
            <a:r>
              <a:rPr sz="1500" i="1" kern="0" spc="1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    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Put</a:t>
            </a:r>
            <a:r>
              <a:rPr sz="2000" i="1" kern="0" spc="-4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first</a:t>
            </a:r>
            <a:r>
              <a:rPr sz="2000" i="1" kern="0" spc="1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things</a:t>
            </a:r>
            <a:r>
              <a:rPr sz="2000" i="1" kern="0" spc="-38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first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22910" algn="l" rtl="0" eaLnBrk="0">
              <a:lnSpc>
                <a:spcPct val="76000"/>
              </a:lnSpc>
              <a:spcBef>
                <a:spcPts val="895"/>
              </a:spcBef>
            </a:pPr>
            <a:r>
              <a:rPr sz="15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iv.</a:t>
            </a:r>
            <a:r>
              <a:rPr sz="1500" i="1" kern="0" spc="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Think w</a:t>
            </a:r>
            <a:r>
              <a:rPr sz="2000" i="1" kern="0" spc="-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in-win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19100" algn="l" rtl="0" eaLnBrk="0">
              <a:lnSpc>
                <a:spcPct val="88000"/>
              </a:lnSpc>
              <a:spcBef>
                <a:spcPts val="1170"/>
              </a:spcBef>
            </a:pPr>
            <a:r>
              <a:rPr sz="1500" i="1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v.       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Seek</a:t>
            </a:r>
            <a:r>
              <a:rPr sz="2000" i="1" kern="0" spc="-45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first</a:t>
            </a:r>
            <a:r>
              <a:rPr sz="2000" i="1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i="1" kern="0" spc="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understand</a:t>
            </a:r>
            <a:r>
              <a:rPr sz="2000" i="1" kern="0" spc="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then</a:t>
            </a:r>
            <a:r>
              <a:rPr sz="2000" i="1" kern="0" spc="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r>
              <a:rPr sz="2000" i="1" kern="0" spc="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</a:t>
            </a:r>
            <a:r>
              <a:rPr sz="2000" i="1" kern="0" spc="2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understood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19100" algn="l" rtl="0" eaLnBrk="0">
              <a:lnSpc>
                <a:spcPct val="88000"/>
              </a:lnSpc>
              <a:spcBef>
                <a:spcPts val="890"/>
              </a:spcBef>
            </a:pPr>
            <a:r>
              <a:rPr sz="15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vi.</a:t>
            </a:r>
            <a:r>
              <a:rPr sz="1500" i="1" kern="0" spc="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Synerg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ize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19100" algn="l" rtl="0" eaLnBrk="0">
              <a:lnSpc>
                <a:spcPct val="87000"/>
              </a:lnSpc>
              <a:spcBef>
                <a:spcPts val="890"/>
              </a:spcBef>
            </a:pPr>
            <a:r>
              <a:rPr sz="15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vii.</a:t>
            </a:r>
            <a:r>
              <a:rPr sz="1500" i="1" kern="0" spc="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</a:t>
            </a:r>
            <a:r>
              <a:rPr sz="20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Sharpen t</a:t>
            </a:r>
            <a:r>
              <a:rPr sz="2000" i="1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he saw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3060" indent="-340360" algn="l" rtl="0" eaLnBrk="0">
              <a:lnSpc>
                <a:spcPct val="104000"/>
              </a:lnSpc>
              <a:spcBef>
                <a:spcPts val="5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Douglas Ross related Covey’s habits to </a:t>
            </a:r>
            <a:r>
              <a:rPr sz="2100" i="1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PM</a:t>
            </a:r>
            <a:r>
              <a:rPr sz="2100" i="1" kern="0" spc="-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 his article</a:t>
            </a:r>
            <a:r>
              <a:rPr sz="2100" kern="0" spc="-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u="sng" kern="0" spc="4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Applying</a:t>
            </a:r>
            <a:r>
              <a:rPr sz="2100" i="1" kern="0" spc="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</a:t>
            </a:r>
            <a:r>
              <a:rPr sz="2100" i="1" u="sng" kern="0" spc="5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Covey’s Seven Habits t</a:t>
            </a:r>
            <a:r>
              <a:rPr sz="2100" i="1" u="sng" kern="0" spc="4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o a Project</a:t>
            </a:r>
            <a:r>
              <a:rPr sz="2100" i="1" u="sng" kern="0" spc="-9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i="1" u="sng" kern="0" spc="40" dirty="0">
                <a:solidFill>
                  <a:srgbClr val="B2B2B2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2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Management Career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6" name="textbox 336"/>
          <p:cNvSpPr/>
          <p:nvPr/>
        </p:nvSpPr>
        <p:spPr>
          <a:xfrm>
            <a:off x="405218" y="447230"/>
            <a:ext cx="8085455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Covey and Improving Effectiveness (1</a:t>
            </a:r>
            <a:r>
              <a:rPr sz="3600" kern="0" spc="17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30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32" name="group 32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338" name="path 338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0" name="path 340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42" name="textbox 342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18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rect 344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6" name="rect 346"/>
          <p:cNvSpPr/>
          <p:nvPr/>
        </p:nvSpPr>
        <p:spPr>
          <a:xfrm>
            <a:off x="3074746" y="1388696"/>
            <a:ext cx="845820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8" name="rect 348"/>
          <p:cNvSpPr/>
          <p:nvPr/>
        </p:nvSpPr>
        <p:spPr>
          <a:xfrm>
            <a:off x="1383106" y="2173554"/>
            <a:ext cx="1911096" cy="281939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0" name="textbox 350"/>
          <p:cNvSpPr/>
          <p:nvPr/>
        </p:nvSpPr>
        <p:spPr>
          <a:xfrm>
            <a:off x="605131" y="1394023"/>
            <a:ext cx="8530590" cy="5187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3855" indent="-351155" algn="l" rtl="0" eaLnBrk="0">
              <a:lnSpc>
                <a:spcPct val="97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Ross suggests that </a:t>
            </a:r>
            <a:r>
              <a:rPr sz="2100" i="1" u="sng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Habit 5</a:t>
            </a:r>
            <a:r>
              <a:rPr sz="2100" i="1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differentiates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good project managers from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average or po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 ones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94000"/>
              </a:lnSpc>
              <a:spcBef>
                <a:spcPts val="119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Empathic listening (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共情聆听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 is listening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with the intent to under</a:t>
            </a: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stand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 It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can help project managers and team members to find out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               hat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9780" algn="l" rtl="0" eaLnBrk="0">
              <a:lnSpc>
                <a:spcPct val="87000"/>
              </a:lnSpc>
              <a:spcBef>
                <a:spcPts val="57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motivates different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0045" indent="-347345" algn="l" rtl="0" eaLnBrk="0">
              <a:lnSpc>
                <a:spcPct val="99000"/>
              </a:lnSpc>
              <a:spcBef>
                <a:spcPts val="1225"/>
              </a:spcBef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Rapport</a:t>
            </a:r>
            <a:r>
              <a:rPr sz="2100" kern="0" spc="1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融洽的关系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relation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100" kern="0" spc="-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harmony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conformity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accord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     </a:t>
            </a:r>
            <a:r>
              <a:rPr sz="2100" i="1" kern="0" spc="2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affinity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0220" algn="l" rtl="0" eaLnBrk="0">
              <a:lnSpc>
                <a:spcPct val="88000"/>
              </a:lnSpc>
              <a:spcBef>
                <a:spcPts val="1480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Without rapport, people cannot begin to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communicate.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76605" indent="-286385" algn="l" rtl="0" eaLnBrk="0">
              <a:lnSpc>
                <a:spcPct val="88000"/>
              </a:lnSpc>
              <a:spcBef>
                <a:spcPts val="119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Mirroring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is a technique for establishing rapport, whi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ch matches certain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behaviors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ofthe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other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person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88000"/>
              </a:lnSpc>
              <a:spcBef>
                <a:spcPts val="14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People tend to like others who are like themselves. Mirror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ing helps you take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 some of</a:t>
            </a:r>
            <a:r>
              <a:rPr sz="2000" kern="0" spc="-1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other person’s characteristics.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1000"/>
              </a:lnSpc>
            </a:pP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7665" indent="-354965" algn="l" rtl="0" eaLnBrk="0">
              <a:lnSpc>
                <a:spcPct val="97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7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IT professionals need to develop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empat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hic listening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other people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skills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improve relationships with use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rs and other stakeholders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352" name="picture 3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95832" y="5216600"/>
            <a:ext cx="135255" cy="211073"/>
          </a:xfrm>
          <a:prstGeom prst="rect">
            <a:avLst/>
          </a:prstGeom>
        </p:spPr>
      </p:pic>
      <p:pic>
        <p:nvPicPr>
          <p:cNvPr id="354" name="picture 3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95834" y="4492700"/>
            <a:ext cx="135254" cy="211073"/>
          </a:xfrm>
          <a:prstGeom prst="rect">
            <a:avLst/>
          </a:prstGeom>
        </p:spPr>
      </p:pic>
      <p:pic>
        <p:nvPicPr>
          <p:cNvPr id="356" name="picture 3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95832" y="4073600"/>
            <a:ext cx="135255" cy="211073"/>
          </a:xfrm>
          <a:prstGeom prst="rect">
            <a:avLst/>
          </a:prstGeom>
        </p:spPr>
      </p:pic>
      <p:pic>
        <p:nvPicPr>
          <p:cNvPr id="358" name="picture 3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95845" y="2224989"/>
            <a:ext cx="135255" cy="211073"/>
          </a:xfrm>
          <a:prstGeom prst="rect">
            <a:avLst/>
          </a:prstGeom>
        </p:spPr>
      </p:pic>
      <p:sp>
        <p:nvSpPr>
          <p:cNvPr id="360" name="textbox 360"/>
          <p:cNvSpPr/>
          <p:nvPr/>
        </p:nvSpPr>
        <p:spPr>
          <a:xfrm>
            <a:off x="405218" y="447230"/>
            <a:ext cx="8085455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Covey and Improving Effectiveness (2</a:t>
            </a:r>
            <a:r>
              <a:rPr sz="3600" kern="0" spc="17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3600" kern="0" spc="-30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2)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34" name="group 34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362" name="path 362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4" name="path 364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366" name="picture 366">
            <a:hlinkClick r:id="rId4" action="ppaction://hlinkfil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95600" y="6760461"/>
            <a:ext cx="3810000" cy="364238"/>
          </a:xfrm>
          <a:prstGeom prst="rect">
            <a:avLst/>
          </a:prstGeom>
        </p:spPr>
      </p:pic>
      <p:sp>
        <p:nvSpPr>
          <p:cNvPr id="368" name="textbox 368"/>
          <p:cNvSpPr/>
          <p:nvPr/>
        </p:nvSpPr>
        <p:spPr>
          <a:xfrm>
            <a:off x="9271309" y="7058950"/>
            <a:ext cx="1663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19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rect 37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2" name="rect 372"/>
          <p:cNvSpPr/>
          <p:nvPr/>
        </p:nvSpPr>
        <p:spPr>
          <a:xfrm>
            <a:off x="2644787" y="5638558"/>
            <a:ext cx="1441703" cy="281940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4" name="rect 374"/>
          <p:cNvSpPr/>
          <p:nvPr/>
        </p:nvSpPr>
        <p:spPr>
          <a:xfrm>
            <a:off x="4086491" y="5638558"/>
            <a:ext cx="83820" cy="281940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6" name="rect 376"/>
          <p:cNvSpPr/>
          <p:nvPr/>
        </p:nvSpPr>
        <p:spPr>
          <a:xfrm>
            <a:off x="4170311" y="5638558"/>
            <a:ext cx="1876044" cy="281940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8" name="textbox 378"/>
          <p:cNvSpPr/>
          <p:nvPr/>
        </p:nvSpPr>
        <p:spPr>
          <a:xfrm>
            <a:off x="486082" y="1379735"/>
            <a:ext cx="8728075" cy="4853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6870" indent="-344170" algn="l" rtl="0" eaLnBrk="0">
              <a:lnSpc>
                <a:spcPct val="97000"/>
              </a:lnSpc>
            </a:pPr>
            <a:r>
              <a:rPr sz="1900" kern="0" spc="5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n</a:t>
            </a:r>
            <a:r>
              <a:rPr sz="1900" kern="0" spc="-52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  <a:hlinkClick r:id="rId1">
                  <a:extLst>
                    <a:ext uri="{DAF060AB-1E55-43B9-8AAB-6FB025537F2F}">
                      <wpsdc:hlinkClr xmlns:wpsdc="http://www.wps.cn/officeDocument/2017/drawingmlCustomData" val="B2B2B2"/>
                      <wpsdc:folHlinkClr xmlns:wpsdc="http://www.wps.cn/officeDocument/2017/drawingmlCustomData" val="B2B2B2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-49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u="sng" kern="0" spc="5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Howard Gardner</a:t>
            </a:r>
            <a:r>
              <a:rPr sz="2100" kern="0" spc="5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introdu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ced the concept of</a:t>
            </a:r>
            <a:r>
              <a:rPr sz="2100" kern="0" spc="-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using more than one way to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think of</a:t>
            </a:r>
            <a:r>
              <a:rPr sz="2100" kern="0" spc="-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measure human intelligence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88000"/>
              </a:lnSpc>
              <a:spcBef>
                <a:spcPts val="1485"/>
              </a:spcBef>
              <a:tabLst>
                <a:tab pos="625475" algn="l"/>
              </a:tabLst>
            </a:pP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b="1" i="1" kern="0" spc="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000" b="1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ter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personal intelligence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capacity to understand the motivations, in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tentions,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desires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0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others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7400" indent="-297180" algn="l" rtl="0" eaLnBrk="0">
              <a:lnSpc>
                <a:spcPct val="88000"/>
              </a:lnSpc>
              <a:spcBef>
                <a:spcPts val="1475"/>
              </a:spcBef>
              <a:tabLst>
                <a:tab pos="625475" algn="l"/>
              </a:tabLst>
            </a:pP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b="1" i="1" kern="0" spc="6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000" b="1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</a:t>
            </a:r>
            <a:r>
              <a:rPr sz="2000" b="1" i="1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personal intelligence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: capacity to understand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oneself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on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e’s own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feelings, and m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otivations.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54330" indent="-341630" algn="l" rtl="0" eaLnBrk="0">
              <a:lnSpc>
                <a:spcPct val="97000"/>
              </a:lnSpc>
              <a:spcBef>
                <a:spcPts val="1585"/>
              </a:spcBef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Emotional</a:t>
            </a:r>
            <a:r>
              <a:rPr sz="2100" kern="0" spc="1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intelligence</a:t>
            </a:r>
            <a:r>
              <a:rPr sz="2100" kern="0" spc="16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</a:t>
            </a:r>
            <a:r>
              <a:rPr sz="2100" i="1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E.I.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):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know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manage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one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’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</a:t>
            </a:r>
            <a:r>
              <a:rPr sz="2100" kern="0" spc="1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own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emotions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   </a:t>
            </a:r>
            <a:r>
              <a:rPr sz="2100" kern="0" spc="5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understand the emot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ions of</a:t>
            </a:r>
            <a:r>
              <a:rPr sz="2100" kern="0" spc="-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others for improved performance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9000"/>
              </a:lnSpc>
              <a:spcBef>
                <a:spcPts val="1600"/>
              </a:spcBef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6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need for project managers to de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velop their </a:t>
            </a:r>
            <a:r>
              <a:rPr sz="21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E.I.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786130" indent="-295910" algn="l" rtl="0" eaLnBrk="0">
              <a:lnSpc>
                <a:spcPct val="88000"/>
              </a:lnSpc>
              <a:spcBef>
                <a:spcPts val="1485"/>
              </a:spcBef>
              <a:tabLst>
                <a:tab pos="625475" algn="l"/>
              </a:tabLst>
            </a:pP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i="1" kern="0" spc="7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E.I.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comes into play when project managers work on team build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ing,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     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collaboration, negotiation, and relatio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nal development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2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84860" indent="-294640" algn="l" rtl="0" eaLnBrk="0">
              <a:lnSpc>
                <a:spcPct val="88000"/>
              </a:lnSpc>
              <a:tabLst>
                <a:tab pos="625475" algn="l"/>
              </a:tabLst>
            </a:pP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i="1" kern="0" spc="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E.I.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becomes a more sought-after characteristic (e.g., many hiri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ng managers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 the U.S. value 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E.I.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mor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 than </a:t>
            </a:r>
            <a:r>
              <a:rPr sz="2000" i="1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IQ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380" name="picture 3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76770" y="5689993"/>
            <a:ext cx="135254" cy="211074"/>
          </a:xfrm>
          <a:prstGeom prst="rect">
            <a:avLst/>
          </a:prstGeom>
        </p:spPr>
      </p:pic>
      <p:pic>
        <p:nvPicPr>
          <p:cNvPr id="382" name="picture 3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76771" y="4966093"/>
            <a:ext cx="135255" cy="211073"/>
          </a:xfrm>
          <a:prstGeom prst="rect">
            <a:avLst/>
          </a:prstGeom>
        </p:spPr>
      </p:pic>
      <p:pic>
        <p:nvPicPr>
          <p:cNvPr id="384" name="picture 3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76769" y="2931553"/>
            <a:ext cx="135255" cy="211073"/>
          </a:xfrm>
          <a:prstGeom prst="rect">
            <a:avLst/>
          </a:prstGeom>
        </p:spPr>
      </p:pic>
      <p:pic>
        <p:nvPicPr>
          <p:cNvPr id="386" name="picture 3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76769" y="2207653"/>
            <a:ext cx="135255" cy="211073"/>
          </a:xfrm>
          <a:prstGeom prst="rect">
            <a:avLst/>
          </a:prstGeom>
        </p:spPr>
      </p:pic>
      <p:sp>
        <p:nvSpPr>
          <p:cNvPr id="388" name="textbox 388"/>
          <p:cNvSpPr/>
          <p:nvPr/>
        </p:nvSpPr>
        <p:spPr>
          <a:xfrm>
            <a:off x="398360" y="447230"/>
            <a:ext cx="4191000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Emotional </a:t>
            </a: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Intelligence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36" name="group 36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390" name="path 390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92" name="path 392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94" name="textbox 394"/>
          <p:cNvSpPr/>
          <p:nvPr/>
        </p:nvSpPr>
        <p:spPr>
          <a:xfrm>
            <a:off x="9260092" y="7058950"/>
            <a:ext cx="17716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20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 396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8" name="textbox 398"/>
          <p:cNvSpPr/>
          <p:nvPr/>
        </p:nvSpPr>
        <p:spPr>
          <a:xfrm>
            <a:off x="486082" y="1379735"/>
            <a:ext cx="8071484" cy="2085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1950" indent="-349250" algn="l" rtl="0" eaLnBrk="0">
              <a:lnSpc>
                <a:spcPct val="97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51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leader focuses on </a:t>
            </a:r>
            <a:r>
              <a:rPr sz="2100" kern="0" spc="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long-term goals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big-picture</a:t>
            </a:r>
            <a:r>
              <a:rPr sz="2100" kern="0" spc="9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objectives 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while</a:t>
            </a:r>
            <a:r>
              <a:rPr sz="21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inspiring people to re</a:t>
            </a:r>
            <a:r>
              <a:rPr sz="21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ach those goals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12700" algn="l" rtl="0" eaLnBrk="0">
              <a:lnSpc>
                <a:spcPct val="89000"/>
              </a:lnSpc>
              <a:spcBef>
                <a:spcPts val="1600"/>
              </a:spcBef>
            </a:pPr>
            <a:r>
              <a:rPr sz="1900" kern="0" spc="3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9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Leadership is </a:t>
            </a:r>
            <a:r>
              <a:rPr sz="2100" kern="0" spc="3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 soft skill</a:t>
            </a:r>
            <a:r>
              <a:rPr sz="2100" kern="0" spc="1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no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one best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way</a:t>
            </a: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be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eader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90220" algn="l" rtl="0" eaLnBrk="0">
              <a:lnSpc>
                <a:spcPct val="88000"/>
              </a:lnSpc>
              <a:spcBef>
                <a:spcPts val="177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There are many different l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eadership styles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90220" algn="l" rtl="0" eaLnBrk="0">
              <a:lnSpc>
                <a:spcPct val="88000"/>
              </a:lnSpc>
              <a:spcBef>
                <a:spcPts val="5"/>
              </a:spcBef>
              <a:tabLst>
                <a:tab pos="62547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	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best leaders can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adapt </a:t>
            </a:r>
            <a:r>
              <a:rPr sz="2000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their style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needs of</a:t>
            </a:r>
            <a:r>
              <a:rPr sz="2000" kern="0" spc="-20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 situation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pic>
        <p:nvPicPr>
          <p:cNvPr id="400" name="picture 4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76782" y="3190633"/>
            <a:ext cx="135255" cy="211073"/>
          </a:xfrm>
          <a:prstGeom prst="rect">
            <a:avLst/>
          </a:prstGeom>
        </p:spPr>
      </p:pic>
      <p:pic>
        <p:nvPicPr>
          <p:cNvPr id="402" name="picture 4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76783" y="2733433"/>
            <a:ext cx="135255" cy="211073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 rot="21600000">
            <a:off x="960770" y="3672598"/>
            <a:ext cx="8014713" cy="1196581"/>
            <a:chOff x="0" y="0"/>
            <a:chExt cx="8014713" cy="1196581"/>
          </a:xfrm>
        </p:grpSpPr>
        <p:grpSp>
          <p:nvGrpSpPr>
            <p:cNvPr id="40" name="group 40"/>
            <p:cNvGrpSpPr/>
            <p:nvPr/>
          </p:nvGrpSpPr>
          <p:grpSpPr>
            <a:xfrm rot="21600000">
              <a:off x="0" y="0"/>
              <a:ext cx="8014713" cy="1196340"/>
              <a:chOff x="0" y="0"/>
              <a:chExt cx="8014713" cy="1196340"/>
            </a:xfrm>
          </p:grpSpPr>
          <p:sp>
            <p:nvSpPr>
              <p:cNvPr id="404" name="path 404"/>
              <p:cNvSpPr/>
              <p:nvPr/>
            </p:nvSpPr>
            <p:spPr>
              <a:xfrm>
                <a:off x="0" y="0"/>
                <a:ext cx="3543295" cy="281940"/>
              </a:xfrm>
              <a:custGeom>
                <a:avLst/>
                <a:gdLst/>
                <a:ahLst/>
                <a:cxnLst/>
                <a:rect l="0" t="0" r="0" b="0"/>
                <a:pathLst>
                  <a:path w="5579" h="444">
                    <a:moveTo>
                      <a:pt x="0" y="444"/>
                    </a:moveTo>
                    <a:lnTo>
                      <a:pt x="177" y="444"/>
                    </a:lnTo>
                    <a:lnTo>
                      <a:pt x="177" y="0"/>
                    </a:lnTo>
                    <a:lnTo>
                      <a:pt x="0" y="0"/>
                    </a:lnTo>
                    <a:lnTo>
                      <a:pt x="0" y="444"/>
                    </a:lnTo>
                    <a:close/>
                  </a:path>
                  <a:path w="5579" h="444">
                    <a:moveTo>
                      <a:pt x="177" y="444"/>
                    </a:moveTo>
                    <a:lnTo>
                      <a:pt x="5579" y="444"/>
                    </a:lnTo>
                    <a:lnTo>
                      <a:pt x="5579" y="0"/>
                    </a:lnTo>
                    <a:lnTo>
                      <a:pt x="177" y="0"/>
                    </a:lnTo>
                    <a:lnTo>
                      <a:pt x="177" y="444"/>
                    </a:lnTo>
                    <a:close/>
                  </a:path>
                </a:pathLst>
              </a:custGeom>
              <a:solidFill>
                <a:srgbClr val="CFFFC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path 406"/>
              <p:cNvSpPr/>
              <p:nvPr/>
            </p:nvSpPr>
            <p:spPr>
              <a:xfrm>
                <a:off x="0" y="0"/>
                <a:ext cx="7304530" cy="586740"/>
              </a:xfrm>
              <a:custGeom>
                <a:avLst/>
                <a:gdLst/>
                <a:ahLst/>
                <a:cxnLst/>
                <a:rect l="0" t="0" r="0" b="0"/>
                <a:pathLst>
                  <a:path w="11503" h="924">
                    <a:moveTo>
                      <a:pt x="5579" y="444"/>
                    </a:moveTo>
                    <a:lnTo>
                      <a:pt x="11503" y="444"/>
                    </a:lnTo>
                    <a:lnTo>
                      <a:pt x="11503" y="0"/>
                    </a:lnTo>
                    <a:lnTo>
                      <a:pt x="5579" y="0"/>
                    </a:lnTo>
                    <a:lnTo>
                      <a:pt x="5579" y="444"/>
                    </a:lnTo>
                    <a:close/>
                  </a:path>
                  <a:path w="11503" h="924">
                    <a:moveTo>
                      <a:pt x="0" y="924"/>
                    </a:moveTo>
                    <a:lnTo>
                      <a:pt x="8162" y="924"/>
                    </a:lnTo>
                    <a:lnTo>
                      <a:pt x="8162" y="480"/>
                    </a:lnTo>
                    <a:lnTo>
                      <a:pt x="0" y="480"/>
                    </a:lnTo>
                    <a:lnTo>
                      <a:pt x="0" y="924"/>
                    </a:lnTo>
                    <a:close/>
                  </a:path>
                </a:pathLst>
              </a:custGeom>
              <a:solidFill>
                <a:srgbClr val="FFFF0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path 408"/>
              <p:cNvSpPr/>
              <p:nvPr/>
            </p:nvSpPr>
            <p:spPr>
              <a:xfrm>
                <a:off x="0" y="304800"/>
                <a:ext cx="8014713" cy="891540"/>
              </a:xfrm>
              <a:custGeom>
                <a:avLst/>
                <a:gdLst/>
                <a:ahLst/>
                <a:cxnLst/>
                <a:rect l="0" t="0" r="0" b="0"/>
                <a:pathLst>
                  <a:path w="12621" h="1404">
                    <a:moveTo>
                      <a:pt x="8162" y="444"/>
                    </a:moveTo>
                    <a:lnTo>
                      <a:pt x="8255" y="444"/>
                    </a:lnTo>
                    <a:lnTo>
                      <a:pt x="8255" y="0"/>
                    </a:lnTo>
                    <a:lnTo>
                      <a:pt x="8162" y="0"/>
                    </a:lnTo>
                    <a:lnTo>
                      <a:pt x="8162" y="444"/>
                    </a:lnTo>
                    <a:close/>
                  </a:path>
                  <a:path w="12621" h="1404">
                    <a:moveTo>
                      <a:pt x="8255" y="444"/>
                    </a:moveTo>
                    <a:lnTo>
                      <a:pt x="11471" y="444"/>
                    </a:lnTo>
                    <a:lnTo>
                      <a:pt x="11471" y="0"/>
                    </a:lnTo>
                    <a:lnTo>
                      <a:pt x="8255" y="0"/>
                    </a:lnTo>
                    <a:lnTo>
                      <a:pt x="8255" y="444"/>
                    </a:lnTo>
                    <a:close/>
                  </a:path>
                  <a:path w="12621" h="1404">
                    <a:moveTo>
                      <a:pt x="11471" y="444"/>
                    </a:moveTo>
                    <a:lnTo>
                      <a:pt x="12451" y="444"/>
                    </a:lnTo>
                    <a:lnTo>
                      <a:pt x="12451" y="0"/>
                    </a:lnTo>
                    <a:lnTo>
                      <a:pt x="11471" y="0"/>
                    </a:lnTo>
                    <a:lnTo>
                      <a:pt x="11471" y="444"/>
                    </a:lnTo>
                    <a:close/>
                  </a:path>
                  <a:path w="12621" h="1404">
                    <a:moveTo>
                      <a:pt x="12451" y="444"/>
                    </a:moveTo>
                    <a:lnTo>
                      <a:pt x="12549" y="444"/>
                    </a:lnTo>
                    <a:lnTo>
                      <a:pt x="12549" y="0"/>
                    </a:lnTo>
                    <a:lnTo>
                      <a:pt x="12451" y="0"/>
                    </a:lnTo>
                    <a:lnTo>
                      <a:pt x="12451" y="444"/>
                    </a:lnTo>
                    <a:close/>
                  </a:path>
                  <a:path w="12621" h="1404">
                    <a:moveTo>
                      <a:pt x="0" y="924"/>
                    </a:moveTo>
                    <a:lnTo>
                      <a:pt x="7807" y="924"/>
                    </a:lnTo>
                    <a:lnTo>
                      <a:pt x="7807" y="480"/>
                    </a:lnTo>
                    <a:lnTo>
                      <a:pt x="0" y="480"/>
                    </a:lnTo>
                    <a:lnTo>
                      <a:pt x="0" y="924"/>
                    </a:lnTo>
                    <a:close/>
                  </a:path>
                  <a:path w="12621" h="1404">
                    <a:moveTo>
                      <a:pt x="7807" y="924"/>
                    </a:moveTo>
                    <a:lnTo>
                      <a:pt x="10065" y="924"/>
                    </a:lnTo>
                    <a:lnTo>
                      <a:pt x="10065" y="480"/>
                    </a:lnTo>
                    <a:lnTo>
                      <a:pt x="7807" y="480"/>
                    </a:lnTo>
                    <a:lnTo>
                      <a:pt x="7807" y="924"/>
                    </a:lnTo>
                    <a:close/>
                  </a:path>
                  <a:path w="12621" h="1404">
                    <a:moveTo>
                      <a:pt x="10065" y="924"/>
                    </a:moveTo>
                    <a:lnTo>
                      <a:pt x="10159" y="924"/>
                    </a:lnTo>
                    <a:lnTo>
                      <a:pt x="10159" y="480"/>
                    </a:lnTo>
                    <a:lnTo>
                      <a:pt x="10065" y="480"/>
                    </a:lnTo>
                    <a:lnTo>
                      <a:pt x="10065" y="924"/>
                    </a:lnTo>
                    <a:close/>
                  </a:path>
                  <a:path w="12621" h="1404">
                    <a:moveTo>
                      <a:pt x="10159" y="924"/>
                    </a:moveTo>
                    <a:lnTo>
                      <a:pt x="11673" y="924"/>
                    </a:lnTo>
                    <a:lnTo>
                      <a:pt x="11673" y="480"/>
                    </a:lnTo>
                    <a:lnTo>
                      <a:pt x="10159" y="480"/>
                    </a:lnTo>
                    <a:lnTo>
                      <a:pt x="10159" y="924"/>
                    </a:lnTo>
                    <a:close/>
                  </a:path>
                  <a:path w="12621" h="1404">
                    <a:moveTo>
                      <a:pt x="0" y="1404"/>
                    </a:moveTo>
                    <a:lnTo>
                      <a:pt x="763" y="1404"/>
                    </a:lnTo>
                    <a:lnTo>
                      <a:pt x="763" y="960"/>
                    </a:lnTo>
                    <a:lnTo>
                      <a:pt x="0" y="960"/>
                    </a:lnTo>
                    <a:lnTo>
                      <a:pt x="0" y="1404"/>
                    </a:lnTo>
                    <a:close/>
                  </a:path>
                  <a:path w="12621" h="1404">
                    <a:moveTo>
                      <a:pt x="763" y="1404"/>
                    </a:moveTo>
                    <a:lnTo>
                      <a:pt x="2284" y="1404"/>
                    </a:lnTo>
                    <a:lnTo>
                      <a:pt x="2284" y="960"/>
                    </a:lnTo>
                    <a:lnTo>
                      <a:pt x="763" y="960"/>
                    </a:lnTo>
                    <a:lnTo>
                      <a:pt x="763" y="1404"/>
                    </a:lnTo>
                    <a:close/>
                  </a:path>
                  <a:path w="12621" h="1404">
                    <a:moveTo>
                      <a:pt x="2284" y="1404"/>
                    </a:moveTo>
                    <a:lnTo>
                      <a:pt x="3808" y="1404"/>
                    </a:lnTo>
                    <a:lnTo>
                      <a:pt x="3808" y="960"/>
                    </a:lnTo>
                    <a:lnTo>
                      <a:pt x="2284" y="960"/>
                    </a:lnTo>
                    <a:lnTo>
                      <a:pt x="2284" y="1404"/>
                    </a:lnTo>
                    <a:close/>
                  </a:path>
                  <a:path w="12621" h="1404">
                    <a:moveTo>
                      <a:pt x="3808" y="1404"/>
                    </a:moveTo>
                    <a:lnTo>
                      <a:pt x="4607" y="1404"/>
                    </a:lnTo>
                    <a:lnTo>
                      <a:pt x="4607" y="960"/>
                    </a:lnTo>
                    <a:lnTo>
                      <a:pt x="3808" y="960"/>
                    </a:lnTo>
                    <a:lnTo>
                      <a:pt x="3808" y="1404"/>
                    </a:lnTo>
                    <a:close/>
                  </a:path>
                  <a:path w="12621" h="1404">
                    <a:moveTo>
                      <a:pt x="4607" y="1404"/>
                    </a:moveTo>
                    <a:lnTo>
                      <a:pt x="5330" y="1404"/>
                    </a:lnTo>
                    <a:lnTo>
                      <a:pt x="5330" y="960"/>
                    </a:lnTo>
                    <a:lnTo>
                      <a:pt x="4607" y="960"/>
                    </a:lnTo>
                    <a:lnTo>
                      <a:pt x="4607" y="1404"/>
                    </a:lnTo>
                    <a:close/>
                  </a:path>
                  <a:path w="12621" h="1404">
                    <a:moveTo>
                      <a:pt x="5330" y="1404"/>
                    </a:moveTo>
                    <a:lnTo>
                      <a:pt x="6230" y="1404"/>
                    </a:lnTo>
                    <a:lnTo>
                      <a:pt x="6230" y="960"/>
                    </a:lnTo>
                    <a:lnTo>
                      <a:pt x="5330" y="960"/>
                    </a:lnTo>
                    <a:lnTo>
                      <a:pt x="5330" y="1404"/>
                    </a:lnTo>
                    <a:close/>
                  </a:path>
                  <a:path w="12621" h="1404">
                    <a:moveTo>
                      <a:pt x="6230" y="1404"/>
                    </a:moveTo>
                    <a:lnTo>
                      <a:pt x="9398" y="1404"/>
                    </a:lnTo>
                    <a:lnTo>
                      <a:pt x="9398" y="960"/>
                    </a:lnTo>
                    <a:lnTo>
                      <a:pt x="6230" y="960"/>
                    </a:lnTo>
                    <a:lnTo>
                      <a:pt x="6230" y="1404"/>
                    </a:lnTo>
                    <a:close/>
                  </a:path>
                  <a:path w="12621" h="1404">
                    <a:moveTo>
                      <a:pt x="9398" y="1404"/>
                    </a:moveTo>
                    <a:lnTo>
                      <a:pt x="9489" y="1404"/>
                    </a:lnTo>
                    <a:lnTo>
                      <a:pt x="9489" y="960"/>
                    </a:lnTo>
                    <a:lnTo>
                      <a:pt x="9398" y="960"/>
                    </a:lnTo>
                    <a:lnTo>
                      <a:pt x="9398" y="1404"/>
                    </a:lnTo>
                    <a:close/>
                  </a:path>
                  <a:path w="12621" h="1404">
                    <a:moveTo>
                      <a:pt x="9489" y="1404"/>
                    </a:moveTo>
                    <a:lnTo>
                      <a:pt x="12621" y="1404"/>
                    </a:lnTo>
                    <a:lnTo>
                      <a:pt x="12621" y="960"/>
                    </a:lnTo>
                    <a:lnTo>
                      <a:pt x="9489" y="960"/>
                    </a:lnTo>
                    <a:lnTo>
                      <a:pt x="9489" y="1404"/>
                    </a:lnTo>
                    <a:close/>
                  </a:path>
                </a:pathLst>
              </a:custGeom>
              <a:solidFill>
                <a:srgbClr val="CFFFC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10" name="textbox 410"/>
            <p:cNvSpPr/>
            <p:nvPr/>
          </p:nvSpPr>
          <p:spPr>
            <a:xfrm>
              <a:off x="-12700" y="-12700"/>
              <a:ext cx="8040369" cy="12350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6000"/>
                </a:lnSpc>
              </a:pPr>
              <a:endParaRPr sz="3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55880" algn="l" rtl="0" eaLnBrk="0">
                <a:lnSpc>
                  <a:spcPct val="88000"/>
                </a:lnSpc>
              </a:pP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“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The goal</a:t>
              </a:r>
              <a:r>
                <a:rPr sz="2000" i="1" kern="0" spc="-42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for leaders should be to develop a solid understanding of t</a:t>
              </a:r>
              <a:r>
                <a:rPr sz="2000" i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he</a:t>
              </a:r>
              <a:endParaRPr sz="20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  <a:p>
              <a:pPr marL="19050" indent="-1905" algn="l" rtl="0" eaLnBrk="0">
                <a:lnSpc>
                  <a:spcPct val="94000"/>
                </a:lnSpc>
                <a:spcBef>
                  <a:spcPts val="10"/>
                </a:spcBef>
              </a:pP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different</a:t>
              </a:r>
              <a:r>
                <a:rPr sz="2000" i="1" kern="0" spc="-8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styles</a:t>
              </a:r>
              <a:r>
                <a:rPr sz="2000" i="1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of</a:t>
              </a:r>
              <a:r>
                <a:rPr sz="2000" i="1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leadership</a:t>
              </a:r>
              <a:r>
                <a:rPr sz="2000" i="1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and</a:t>
              </a:r>
              <a:r>
                <a:rPr sz="2000" i="1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their</a:t>
              </a:r>
              <a:r>
                <a:rPr sz="2000" i="1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implications</a:t>
              </a:r>
              <a:r>
                <a:rPr sz="2000" i="1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and</a:t>
              </a:r>
              <a:r>
                <a:rPr sz="2000" i="1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reach</a:t>
              </a:r>
              <a:r>
                <a:rPr sz="2000" i="1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the</a:t>
              </a:r>
              <a:r>
                <a:rPr sz="2000" i="1" kern="0" spc="-23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point</a:t>
              </a:r>
              <a:r>
                <a:rPr sz="2000" i="1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where  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choosing</a:t>
              </a:r>
              <a:r>
                <a:rPr sz="2000" i="1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the</a:t>
              </a:r>
              <a:r>
                <a:rPr sz="2000" i="1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right</a:t>
              </a:r>
              <a:r>
                <a:rPr sz="2000" i="1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one</a:t>
              </a:r>
              <a:r>
                <a:rPr sz="2000" i="1" kern="0" spc="-36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for</a:t>
              </a:r>
              <a:r>
                <a:rPr sz="2000" i="1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the</a:t>
              </a:r>
              <a:r>
                <a:rPr sz="2000" i="1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situation</a:t>
              </a:r>
              <a:r>
                <a:rPr sz="2000" i="1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becomes</a:t>
              </a:r>
              <a:r>
                <a:rPr sz="2000" i="1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C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second</a:t>
              </a:r>
              <a:r>
                <a:rPr sz="2000" i="1" kern="0" spc="30" dirty="0">
                  <a:solidFill>
                    <a:srgbClr val="C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C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nature</a:t>
              </a:r>
              <a:r>
                <a:rPr sz="2000" i="1" kern="0" spc="30" dirty="0">
                  <a:solidFill>
                    <a:srgbClr val="C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to</a:t>
              </a:r>
              <a:r>
                <a:rPr sz="2000" i="1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them</a:t>
              </a:r>
              <a:r>
                <a:rPr sz="2000" i="1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.</a:t>
              </a:r>
              <a:r>
                <a:rPr sz="2000" i="1" kern="0" spc="-13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”</a:t>
              </a:r>
              <a:endParaRPr sz="20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  <a:p>
              <a:pPr algn="r" rtl="0" eaLnBrk="0">
                <a:lnSpc>
                  <a:spcPct val="93000"/>
                </a:lnSpc>
                <a:spcBef>
                  <a:spcPts val="205"/>
                </a:spcBef>
              </a:pPr>
              <a:r>
                <a:rPr sz="2000" u="sng" kern="0" spc="0" dirty="0">
                  <a:solidFill>
                    <a:srgbClr val="C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hlinkClick r:id="rId3">
                    <a:extLst>
                      <a:ext uri="{DAF060AB-1E55-43B9-8AAB-6FB025537F2F}">
                        <wpsdc:hlinkClr xmlns:wpsdc="http://www.wps.cn/officeDocument/2017/drawingmlCustomData" val="C00000"/>
                        <wpsdc:folHlinkClr xmlns:wpsdc="http://www.wps.cn/officeDocument/2017/drawingmlCustomData" val="C00000"/>
                        <wpsdc:hlinkUnderline xmlns:wpsdc="http://www.wps.cn/officeDocument/2017/drawingmlCustomData" val="0"/>
                      </a:ext>
                    </a:extLst>
                  </a:hlinkClick>
                </a:rPr>
                <a:t>Primary Leadership</a:t>
              </a:r>
              <a:r>
                <a:rPr sz="2000" kern="0" spc="0" dirty="0">
                  <a:solidFill>
                    <a:srgbClr val="C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by Dan</a:t>
              </a: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iel Goleman</a:t>
              </a:r>
              <a:endParaRPr sz="20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sp>
        <p:nvSpPr>
          <p:cNvPr id="412" name="rect 412"/>
          <p:cNvSpPr/>
          <p:nvPr/>
        </p:nvSpPr>
        <p:spPr>
          <a:xfrm>
            <a:off x="840373" y="5794007"/>
            <a:ext cx="2263139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4" name="rect 414"/>
          <p:cNvSpPr/>
          <p:nvPr/>
        </p:nvSpPr>
        <p:spPr>
          <a:xfrm>
            <a:off x="8775839" y="5458729"/>
            <a:ext cx="288037" cy="3093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6" name="textbox 416"/>
          <p:cNvSpPr/>
          <p:nvPr/>
        </p:nvSpPr>
        <p:spPr>
          <a:xfrm>
            <a:off x="486081" y="5128775"/>
            <a:ext cx="8590915" cy="994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4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7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Important to understand and pay attention to concepts of</a:t>
            </a:r>
            <a:r>
              <a:rPr sz="2100" kern="0" spc="-1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u="sng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mot</a:t>
            </a:r>
            <a:r>
              <a:rPr sz="2100" u="sng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ivation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3220" indent="-1270" algn="l" rtl="0" eaLnBrk="0">
              <a:lnSpc>
                <a:spcPct val="98000"/>
              </a:lnSpc>
              <a:spcBef>
                <a:spcPts val="340"/>
              </a:spcBef>
            </a:pPr>
            <a:r>
              <a:rPr sz="2100" u="sng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influence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u="sng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power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u="sng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effectiveness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</a:t>
            </a:r>
            <a:r>
              <a:rPr sz="2100" u="sng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emotional in</a:t>
            </a:r>
            <a:r>
              <a:rPr sz="2100" u="sng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telligence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and </a:t>
            </a:r>
            <a:r>
              <a:rPr sz="2100" u="sng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leadership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in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all project processes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42" name="group 42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418" name="path 418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20" name="path 420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22" name="textbox 422"/>
          <p:cNvSpPr/>
          <p:nvPr/>
        </p:nvSpPr>
        <p:spPr>
          <a:xfrm>
            <a:off x="397903" y="447230"/>
            <a:ext cx="2046604" cy="500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Leadership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24" name="textbox 424"/>
          <p:cNvSpPr/>
          <p:nvPr/>
        </p:nvSpPr>
        <p:spPr>
          <a:xfrm>
            <a:off x="9260092" y="7058950"/>
            <a:ext cx="17716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21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rect 426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8" name="textbox 428"/>
          <p:cNvSpPr/>
          <p:nvPr/>
        </p:nvSpPr>
        <p:spPr>
          <a:xfrm>
            <a:off x="439384" y="1379722"/>
            <a:ext cx="8391525" cy="3315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335" algn="l" rtl="0" eaLnBrk="0">
              <a:lnSpc>
                <a:spcPct val="90000"/>
              </a:lnSpc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1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PMI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introduced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i="1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Talent</a:t>
            </a:r>
            <a:r>
              <a:rPr sz="2100" i="1" u="sng" kern="0" spc="14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2100" i="1" u="sng" kern="0" spc="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Triangle</a:t>
            </a:r>
            <a:r>
              <a:rPr sz="1400" u="sng" kern="0" spc="14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hlinkClick r:id="rId1">
                  <a:extLst>
                    <a:ext uri="{DAF060AB-1E55-43B9-8AAB-6FB025537F2F}">
                      <wpsdc:hlinkClr xmlns:wpsdc="http://www.wps.cn/officeDocument/2017/drawingmlCustomData" val="990033"/>
                      <wpsdc:folHlinkClr xmlns:wpsdc="http://www.wps.cn/officeDocument/2017/drawingmlCustomData" val="990033"/>
                      <wpsdc:hlinkUnderline xmlns:wpsdc="http://www.wps.cn/officeDocument/2017/drawingmlCustomData" val="0"/>
                    </a:ext>
                  </a:extLst>
                </a:hlinkClick>
              </a:rPr>
              <a:t>®</a:t>
            </a:r>
            <a:r>
              <a:rPr sz="1400" kern="0" spc="250" dirty="0">
                <a:solidFill>
                  <a:srgbClr val="99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2015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5125" algn="l" rtl="0" eaLnBrk="0">
              <a:lnSpc>
                <a:spcPts val="2630"/>
              </a:lnSpc>
            </a:pP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emphasize the need for more 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than technical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368300" algn="l" rtl="0" eaLnBrk="0">
              <a:lnSpc>
                <a:spcPts val="2640"/>
              </a:lnSpc>
            </a:pP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skills for project managers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0695" algn="l" rtl="0" eaLnBrk="0">
              <a:lnSpc>
                <a:spcPct val="88000"/>
              </a:lnSpc>
              <a:spcBef>
                <a:spcPts val="1780"/>
              </a:spcBef>
            </a:pPr>
            <a:r>
              <a:rPr sz="15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i.</a:t>
            </a:r>
            <a:r>
              <a:rPr sz="1500" kern="0" spc="3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Technical p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roject management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0695" algn="l" rtl="0" eaLnBrk="0">
              <a:lnSpc>
                <a:spcPct val="88000"/>
              </a:lnSpc>
              <a:spcBef>
                <a:spcPts val="1490"/>
              </a:spcBef>
            </a:pPr>
            <a:r>
              <a:rPr sz="15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ii.</a:t>
            </a:r>
            <a:r>
              <a:rPr sz="15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 </a:t>
            </a:r>
            <a:r>
              <a:rPr sz="2000" kern="0" spc="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Strategic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and business management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marL="480695" algn="l" rtl="0" eaLnBrk="0">
              <a:lnSpc>
                <a:spcPct val="87000"/>
              </a:lnSpc>
              <a:spcBef>
                <a:spcPts val="1490"/>
              </a:spcBef>
            </a:pPr>
            <a:r>
              <a:rPr sz="15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iii.</a:t>
            </a:r>
            <a:r>
              <a:rPr sz="1500" kern="0" spc="4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     </a:t>
            </a:r>
            <a:r>
              <a:rPr sz="2000" kern="0" spc="-10" dirty="0">
                <a:solidFill>
                  <a:srgbClr val="000099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Leadership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55600" indent="-343535" algn="l" rtl="0" eaLnBrk="0">
              <a:lnSpc>
                <a:spcPct val="104000"/>
              </a:lnSpc>
              <a:spcBef>
                <a:spcPts val="5"/>
              </a:spcBef>
            </a:pPr>
            <a:r>
              <a:rPr sz="1900" kern="0" spc="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900" kern="0" spc="-470" dirty="0">
                <a:solidFill>
                  <a:srgbClr val="B2B2B2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In</a:t>
            </a:r>
            <a:r>
              <a:rPr sz="2100" kern="0" spc="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</a:t>
            </a:r>
            <a:r>
              <a:rPr sz="2100" kern="0" spc="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recent</a:t>
            </a:r>
            <a:r>
              <a:rPr sz="2100" kern="0" spc="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PMI</a:t>
            </a:r>
            <a:r>
              <a:rPr sz="2100" kern="0" spc="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report</a:t>
            </a:r>
            <a:r>
              <a:rPr sz="2100" kern="0" spc="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, 75%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of</a:t>
            </a:r>
            <a:r>
              <a:rPr sz="2100" kern="0" spc="-13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organizations</a:t>
            </a:r>
            <a:r>
              <a:rPr sz="2100" kern="0" spc="20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ranked</a:t>
            </a:r>
            <a:r>
              <a:rPr sz="2100" kern="0" spc="19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leadership</a:t>
            </a:r>
            <a:r>
              <a:rPr sz="2100" kern="0" spc="14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skills</a:t>
            </a:r>
            <a:r>
              <a:rPr sz="2100" kern="0" spc="19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as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most important for successful navigation of</a:t>
            </a:r>
            <a:r>
              <a:rPr sz="2100" kern="0" spc="-8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</a:t>
            </a:r>
            <a:r>
              <a:rPr sz="2100" kern="0" spc="4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complexity in projects</a:t>
            </a:r>
            <a:endParaRPr sz="21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44" name="group 44"/>
          <p:cNvGrpSpPr/>
          <p:nvPr/>
        </p:nvGrpSpPr>
        <p:grpSpPr>
          <a:xfrm rot="21600000">
            <a:off x="914067" y="4856556"/>
            <a:ext cx="7731252" cy="1196338"/>
            <a:chOff x="0" y="0"/>
            <a:chExt cx="7731252" cy="1196338"/>
          </a:xfrm>
        </p:grpSpPr>
        <p:sp>
          <p:nvSpPr>
            <p:cNvPr id="430" name="path 430"/>
            <p:cNvSpPr/>
            <p:nvPr/>
          </p:nvSpPr>
          <p:spPr>
            <a:xfrm>
              <a:off x="0" y="0"/>
              <a:ext cx="7731252" cy="1196338"/>
            </a:xfrm>
            <a:custGeom>
              <a:avLst/>
              <a:gdLst/>
              <a:ahLst/>
              <a:cxnLst/>
              <a:rect l="0" t="0" r="0" b="0"/>
              <a:pathLst>
                <a:path w="12175" h="1883">
                  <a:moveTo>
                    <a:pt x="0" y="443"/>
                  </a:moveTo>
                  <a:lnTo>
                    <a:pt x="9746" y="443"/>
                  </a:lnTo>
                  <a:lnTo>
                    <a:pt x="9746" y="0"/>
                  </a:lnTo>
                  <a:lnTo>
                    <a:pt x="0" y="0"/>
                  </a:lnTo>
                  <a:lnTo>
                    <a:pt x="0" y="443"/>
                  </a:lnTo>
                  <a:close/>
                </a:path>
                <a:path w="12175" h="1883">
                  <a:moveTo>
                    <a:pt x="9746" y="443"/>
                  </a:moveTo>
                  <a:lnTo>
                    <a:pt x="11411" y="443"/>
                  </a:lnTo>
                  <a:lnTo>
                    <a:pt x="11411" y="0"/>
                  </a:lnTo>
                  <a:lnTo>
                    <a:pt x="9746" y="0"/>
                  </a:lnTo>
                  <a:lnTo>
                    <a:pt x="9746" y="443"/>
                  </a:lnTo>
                  <a:close/>
                </a:path>
                <a:path w="12175" h="1883">
                  <a:moveTo>
                    <a:pt x="11412" y="443"/>
                  </a:moveTo>
                  <a:lnTo>
                    <a:pt x="11510" y="443"/>
                  </a:lnTo>
                  <a:lnTo>
                    <a:pt x="11510" y="0"/>
                  </a:lnTo>
                  <a:lnTo>
                    <a:pt x="11412" y="0"/>
                  </a:lnTo>
                  <a:lnTo>
                    <a:pt x="11412" y="443"/>
                  </a:lnTo>
                  <a:close/>
                </a:path>
                <a:path w="12175" h="1883">
                  <a:moveTo>
                    <a:pt x="0" y="923"/>
                  </a:moveTo>
                  <a:lnTo>
                    <a:pt x="8385" y="923"/>
                  </a:lnTo>
                  <a:lnTo>
                    <a:pt x="8385" y="480"/>
                  </a:lnTo>
                  <a:lnTo>
                    <a:pt x="0" y="480"/>
                  </a:lnTo>
                  <a:lnTo>
                    <a:pt x="0" y="923"/>
                  </a:lnTo>
                  <a:close/>
                </a:path>
                <a:path w="12175" h="1883">
                  <a:moveTo>
                    <a:pt x="8385" y="923"/>
                  </a:moveTo>
                  <a:lnTo>
                    <a:pt x="11913" y="923"/>
                  </a:lnTo>
                  <a:lnTo>
                    <a:pt x="11913" y="480"/>
                  </a:lnTo>
                  <a:lnTo>
                    <a:pt x="8385" y="480"/>
                  </a:lnTo>
                  <a:lnTo>
                    <a:pt x="8385" y="923"/>
                  </a:lnTo>
                  <a:close/>
                </a:path>
                <a:path w="12175" h="1883">
                  <a:moveTo>
                    <a:pt x="0" y="1404"/>
                  </a:moveTo>
                  <a:lnTo>
                    <a:pt x="12175" y="1404"/>
                  </a:lnTo>
                  <a:lnTo>
                    <a:pt x="12175" y="960"/>
                  </a:lnTo>
                  <a:lnTo>
                    <a:pt x="0" y="960"/>
                  </a:lnTo>
                  <a:lnTo>
                    <a:pt x="0" y="1404"/>
                  </a:lnTo>
                  <a:close/>
                </a:path>
                <a:path w="12175" h="1883">
                  <a:moveTo>
                    <a:pt x="0" y="1883"/>
                  </a:moveTo>
                  <a:lnTo>
                    <a:pt x="1195" y="1883"/>
                  </a:lnTo>
                  <a:lnTo>
                    <a:pt x="1195" y="1439"/>
                  </a:lnTo>
                  <a:lnTo>
                    <a:pt x="0" y="1439"/>
                  </a:lnTo>
                  <a:lnTo>
                    <a:pt x="0" y="1883"/>
                  </a:lnTo>
                  <a:close/>
                </a:path>
                <a:path w="12175" h="1883">
                  <a:moveTo>
                    <a:pt x="1195" y="1883"/>
                  </a:moveTo>
                  <a:lnTo>
                    <a:pt x="5668" y="1883"/>
                  </a:lnTo>
                  <a:lnTo>
                    <a:pt x="5668" y="1439"/>
                  </a:lnTo>
                  <a:lnTo>
                    <a:pt x="1195" y="1439"/>
                  </a:lnTo>
                  <a:lnTo>
                    <a:pt x="1195" y="1883"/>
                  </a:lnTo>
                  <a:close/>
                </a:path>
                <a:path w="12175" h="1883">
                  <a:moveTo>
                    <a:pt x="5668" y="1883"/>
                  </a:moveTo>
                  <a:lnTo>
                    <a:pt x="5769" y="1883"/>
                  </a:lnTo>
                  <a:lnTo>
                    <a:pt x="5769" y="1439"/>
                  </a:lnTo>
                  <a:lnTo>
                    <a:pt x="5668" y="1439"/>
                  </a:lnTo>
                  <a:lnTo>
                    <a:pt x="5668" y="1883"/>
                  </a:lnTo>
                  <a:close/>
                </a:path>
              </a:pathLst>
            </a:custGeom>
            <a:solidFill>
              <a:srgbClr val="CFFFC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32" name="textbox 432"/>
            <p:cNvSpPr/>
            <p:nvPr/>
          </p:nvSpPr>
          <p:spPr>
            <a:xfrm>
              <a:off x="-12700" y="-12700"/>
              <a:ext cx="7757159" cy="12217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5000"/>
                </a:lnSpc>
              </a:pPr>
              <a:endParaRPr sz="3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55880" algn="l" rtl="0" eaLnBrk="0">
                <a:lnSpc>
                  <a:spcPct val="88000"/>
                </a:lnSpc>
                <a:spcBef>
                  <a:spcPts val="5"/>
                </a:spcBef>
              </a:pP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“Managing complex pr</a:t>
              </a: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ojects requires project managers who are able to</a:t>
              </a:r>
              <a:endParaRPr sz="20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  <a:p>
              <a:pPr marL="21590" indent="-1270" algn="l" rtl="0" eaLnBrk="0">
                <a:lnSpc>
                  <a:spcPct val="96000"/>
                </a:lnSpc>
                <a:spcBef>
                  <a:spcPts val="10"/>
                </a:spcBef>
              </a:pPr>
              <a:r>
                <a:rPr sz="2000" i="1" kern="0" spc="0" dirty="0">
                  <a:solidFill>
                    <a:srgbClr val="C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establish the vision, mission and expected outcomes 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in a</a:t>
              </a: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way that is broad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   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enough to be complete yet simple enough to understand.</a:t>
              </a: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It also requires the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 </a:t>
              </a: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skill to </a:t>
              </a:r>
              <a:r>
                <a:rPr sz="2000" i="1" kern="0" spc="-10" dirty="0">
                  <a:solidFill>
                    <a:srgbClr val="C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align the team</a:t>
              </a:r>
              <a:r>
                <a:rPr sz="2000" i="1" kern="0" spc="150" dirty="0">
                  <a:solidFill>
                    <a:srgbClr val="C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-10" dirty="0">
                  <a:solidFill>
                    <a:srgbClr val="C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to</a:t>
              </a:r>
              <a:r>
                <a:rPr sz="2000" i="1" kern="0" spc="80" dirty="0">
                  <a:solidFill>
                    <a:srgbClr val="C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 </a:t>
              </a:r>
              <a:r>
                <a:rPr sz="2000" i="1" kern="0" spc="-10" dirty="0">
                  <a:solidFill>
                    <a:srgbClr val="C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that vision</a:t>
              </a: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</a:rPr>
                <a:t>.</a:t>
              </a:r>
              <a:endParaRPr sz="2000" dirty="0">
                <a:latin typeface="Times New Roman" panose="02020503050405090304"/>
                <a:ea typeface="Times New Roman" panose="02020503050405090304"/>
                <a:cs typeface="Times New Roman" panose="02020503050405090304"/>
              </a:endParaRPr>
            </a:p>
          </p:txBody>
        </p:sp>
      </p:grpSp>
      <p:pic>
        <p:nvPicPr>
          <p:cNvPr id="434" name="picture 4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993892" y="1408176"/>
            <a:ext cx="2845307" cy="2269235"/>
          </a:xfrm>
          <a:prstGeom prst="rect">
            <a:avLst/>
          </a:prstGeom>
        </p:spPr>
      </p:pic>
      <p:sp>
        <p:nvSpPr>
          <p:cNvPr id="436" name="textbox 436"/>
          <p:cNvSpPr/>
          <p:nvPr/>
        </p:nvSpPr>
        <p:spPr>
          <a:xfrm>
            <a:off x="914067" y="6228154"/>
            <a:ext cx="7530465" cy="282575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620" algn="l" rtl="0" eaLnBrk="0">
              <a:lnSpc>
                <a:spcPct val="88000"/>
              </a:lnSpc>
              <a:spcBef>
                <a:spcPts val="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These are project managers who have become project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executives with </a:t>
            </a:r>
            <a:r>
              <a:rPr sz="2000" i="1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the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grpSp>
        <p:nvGrpSpPr>
          <p:cNvPr id="46" name="group 46"/>
          <p:cNvGrpSpPr/>
          <p:nvPr/>
        </p:nvGrpSpPr>
        <p:grpSpPr>
          <a:xfrm rot="21600000">
            <a:off x="401572" y="1138425"/>
            <a:ext cx="8720329" cy="193550"/>
            <a:chOff x="0" y="0"/>
            <a:chExt cx="8720329" cy="193550"/>
          </a:xfrm>
        </p:grpSpPr>
        <p:sp>
          <p:nvSpPr>
            <p:cNvPr id="438" name="path 438"/>
            <p:cNvSpPr/>
            <p:nvPr/>
          </p:nvSpPr>
          <p:spPr>
            <a:xfrm>
              <a:off x="6799327" y="0"/>
              <a:ext cx="1920240" cy="193550"/>
            </a:xfrm>
            <a:custGeom>
              <a:avLst/>
              <a:gdLst/>
              <a:ahLst/>
              <a:cxnLst/>
              <a:rect l="0" t="0" r="0" b="0"/>
              <a:pathLst>
                <a:path w="3024" h="304">
                  <a:moveTo>
                    <a:pt x="0" y="304"/>
                  </a:moveTo>
                  <a:lnTo>
                    <a:pt x="3024" y="304"/>
                  </a:lnTo>
                  <a:lnTo>
                    <a:pt x="3024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B2B2B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40" name="path 440"/>
            <p:cNvSpPr/>
            <p:nvPr/>
          </p:nvSpPr>
          <p:spPr>
            <a:xfrm>
              <a:off x="0" y="72012"/>
              <a:ext cx="8720329" cy="19050"/>
            </a:xfrm>
            <a:custGeom>
              <a:avLst/>
              <a:gdLst/>
              <a:ahLst/>
              <a:cxnLst/>
              <a:rect l="0" t="0" r="0" b="0"/>
              <a:pathLst>
                <a:path w="13732" h="30">
                  <a:moveTo>
                    <a:pt x="0" y="15"/>
                  </a:moveTo>
                  <a:lnTo>
                    <a:pt x="13732" y="15"/>
                  </a:lnTo>
                </a:path>
              </a:pathLst>
            </a:custGeom>
            <a:noFill/>
            <a:ln w="19050" cap="flat">
              <a:solidFill>
                <a:srgbClr val="330033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42" name="textbox 442"/>
          <p:cNvSpPr/>
          <p:nvPr/>
        </p:nvSpPr>
        <p:spPr>
          <a:xfrm>
            <a:off x="914067" y="6532954"/>
            <a:ext cx="5624195" cy="282575"/>
          </a:xfrm>
          <a:prstGeom prst="rect">
            <a:avLst/>
          </a:prstGeom>
          <a:solidFill>
            <a:srgbClr val="CFFFC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8000"/>
              </a:lnSpc>
            </a:pPr>
            <a:endParaRPr sz="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525" algn="l" rtl="0" eaLnBrk="0">
              <a:lnSpc>
                <a:spcPct val="87000"/>
              </a:lnSpc>
              <a:spcBef>
                <a:spcPts val="0"/>
              </a:spcBef>
            </a:pPr>
            <a:r>
              <a:rPr sz="2000" i="1" kern="0" spc="-10" dirty="0">
                <a:solidFill>
                  <a:srgbClr val="C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leadership skill and business acumen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to drive suc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cess.”</a:t>
            </a:r>
            <a:endParaRPr sz="20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44" name="textbox 444"/>
          <p:cNvSpPr/>
          <p:nvPr/>
        </p:nvSpPr>
        <p:spPr>
          <a:xfrm>
            <a:off x="394702" y="447230"/>
            <a:ext cx="3447415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600" kern="0" spc="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What Went </a:t>
            </a:r>
            <a:r>
              <a:rPr sz="3600" kern="0" spc="-10" dirty="0">
                <a:solidFill>
                  <a:srgbClr val="330033">
                    <a:alpha val="100000"/>
                  </a:srgbClr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Right?</a:t>
            </a:r>
            <a:endParaRPr sz="3600" dirty="0"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46" name="textbox 446"/>
          <p:cNvSpPr/>
          <p:nvPr/>
        </p:nvSpPr>
        <p:spPr>
          <a:xfrm>
            <a:off x="9260092" y="7058950"/>
            <a:ext cx="17716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22</a:t>
            </a:r>
            <a:endParaRPr sz="1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14981</Words>
  <Application>WPS 文字</Application>
  <PresentationFormat/>
  <Paragraphs>325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8" baseType="lpstr">
      <vt:lpstr>Arial</vt:lpstr>
      <vt:lpstr>宋体</vt:lpstr>
      <vt:lpstr>Wingdings</vt:lpstr>
      <vt:lpstr>Arial</vt:lpstr>
      <vt:lpstr>Wingdings</vt:lpstr>
      <vt:lpstr>Times New Roman</vt:lpstr>
      <vt:lpstr>宋体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7 Project Resource Management (Part I)</dc:title>
  <dc:creator>Prof. Gong Xiting</dc:creator>
  <cp:lastModifiedBy>小戴</cp:lastModifiedBy>
  <cp:revision>1</cp:revision>
  <dcterms:created xsi:type="dcterms:W3CDTF">2026-01-02T07:21:49Z</dcterms:created>
  <dcterms:modified xsi:type="dcterms:W3CDTF">2026-01-02T07:21:49Z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2025-08-31T21:14:41Z</vt:filetime>
  </property>
  <property fmtid="{D5CDD505-2E9C-101B-9397-08002B2CF9AE}" pid="4" name="KSOProductBuildVer">
    <vt:lpwstr>2052-12.1.24031.24031</vt:lpwstr>
  </property>
  <property fmtid="{D5CDD505-2E9C-101B-9397-08002B2CF9AE}" pid="5" name="ICV">
    <vt:lpwstr>822499969176007D0D725769CB9A2A2C_42</vt:lpwstr>
  </property>
</Properties>
</file>