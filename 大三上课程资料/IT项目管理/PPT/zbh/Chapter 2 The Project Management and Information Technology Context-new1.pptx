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 id="2147483885" r:id="rId2"/>
  </p:sldMasterIdLst>
  <p:notesMasterIdLst>
    <p:notesMasterId r:id="rId32"/>
  </p:notesMasterIdLst>
  <p:handoutMasterIdLst>
    <p:handoutMasterId r:id="rId33"/>
  </p:handoutMasterIdLst>
  <p:sldIdLst>
    <p:sldId id="379" r:id="rId3"/>
    <p:sldId id="353" r:id="rId4"/>
    <p:sldId id="354" r:id="rId5"/>
    <p:sldId id="356" r:id="rId6"/>
    <p:sldId id="357" r:id="rId7"/>
    <p:sldId id="359" r:id="rId8"/>
    <p:sldId id="360" r:id="rId9"/>
    <p:sldId id="361" r:id="rId10"/>
    <p:sldId id="362" r:id="rId11"/>
    <p:sldId id="363" r:id="rId12"/>
    <p:sldId id="364" r:id="rId13"/>
    <p:sldId id="381" r:id="rId14"/>
    <p:sldId id="368" r:id="rId15"/>
    <p:sldId id="369" r:id="rId16"/>
    <p:sldId id="370" r:id="rId17"/>
    <p:sldId id="371" r:id="rId18"/>
    <p:sldId id="372" r:id="rId19"/>
    <p:sldId id="389" r:id="rId20"/>
    <p:sldId id="374" r:id="rId21"/>
    <p:sldId id="376" r:id="rId22"/>
    <p:sldId id="386" r:id="rId23"/>
    <p:sldId id="390" r:id="rId24"/>
    <p:sldId id="387" r:id="rId25"/>
    <p:sldId id="388" r:id="rId26"/>
    <p:sldId id="391" r:id="rId27"/>
    <p:sldId id="394" r:id="rId28"/>
    <p:sldId id="395" r:id="rId29"/>
    <p:sldId id="396" r:id="rId30"/>
    <p:sldId id="377" r:id="rId31"/>
  </p:sldIdLst>
  <p:sldSz cx="9144000" cy="6858000" type="screen4x3"/>
  <p:notesSz cx="6858000" cy="9144000"/>
  <p:defaultTextStyle>
    <a:defPPr>
      <a:defRPr lang="en-US"/>
    </a:defPPr>
    <a:lvl1pPr algn="l" rtl="0" fontAlgn="base">
      <a:spcBef>
        <a:spcPct val="0"/>
      </a:spcBef>
      <a:spcAft>
        <a:spcPct val="0"/>
      </a:spcAft>
      <a:defRPr sz="2200" kern="1200">
        <a:solidFill>
          <a:schemeClr val="tx1"/>
        </a:solidFill>
        <a:latin typeface="Arial" charset="0"/>
        <a:ea typeface="+mn-ea"/>
        <a:cs typeface="+mn-cs"/>
      </a:defRPr>
    </a:lvl1pPr>
    <a:lvl2pPr marL="457200" algn="l" rtl="0" fontAlgn="base">
      <a:spcBef>
        <a:spcPct val="0"/>
      </a:spcBef>
      <a:spcAft>
        <a:spcPct val="0"/>
      </a:spcAft>
      <a:defRPr sz="2200" kern="1200">
        <a:solidFill>
          <a:schemeClr val="tx1"/>
        </a:solidFill>
        <a:latin typeface="Arial" charset="0"/>
        <a:ea typeface="+mn-ea"/>
        <a:cs typeface="+mn-cs"/>
      </a:defRPr>
    </a:lvl2pPr>
    <a:lvl3pPr marL="914400" algn="l" rtl="0" fontAlgn="base">
      <a:spcBef>
        <a:spcPct val="0"/>
      </a:spcBef>
      <a:spcAft>
        <a:spcPct val="0"/>
      </a:spcAft>
      <a:defRPr sz="2200" kern="1200">
        <a:solidFill>
          <a:schemeClr val="tx1"/>
        </a:solidFill>
        <a:latin typeface="Arial" charset="0"/>
        <a:ea typeface="+mn-ea"/>
        <a:cs typeface="+mn-cs"/>
      </a:defRPr>
    </a:lvl3pPr>
    <a:lvl4pPr marL="1371600" algn="l" rtl="0" fontAlgn="base">
      <a:spcBef>
        <a:spcPct val="0"/>
      </a:spcBef>
      <a:spcAft>
        <a:spcPct val="0"/>
      </a:spcAft>
      <a:defRPr sz="2200" kern="1200">
        <a:solidFill>
          <a:schemeClr val="tx1"/>
        </a:solidFill>
        <a:latin typeface="Arial" charset="0"/>
        <a:ea typeface="+mn-ea"/>
        <a:cs typeface="+mn-cs"/>
      </a:defRPr>
    </a:lvl4pPr>
    <a:lvl5pPr marL="1828800" algn="l" rtl="0" fontAlgn="base">
      <a:spcBef>
        <a:spcPct val="0"/>
      </a:spcBef>
      <a:spcAft>
        <a:spcPct val="0"/>
      </a:spcAft>
      <a:defRPr sz="2200" kern="1200">
        <a:solidFill>
          <a:schemeClr val="tx1"/>
        </a:solidFill>
        <a:latin typeface="Arial" charset="0"/>
        <a:ea typeface="+mn-ea"/>
        <a:cs typeface="+mn-cs"/>
      </a:defRPr>
    </a:lvl5pPr>
    <a:lvl6pPr marL="2286000" algn="l" defTabSz="914400" rtl="0" eaLnBrk="1" latinLnBrk="0" hangingPunct="1">
      <a:defRPr sz="2200" kern="1200">
        <a:solidFill>
          <a:schemeClr val="tx1"/>
        </a:solidFill>
        <a:latin typeface="Arial" charset="0"/>
        <a:ea typeface="+mn-ea"/>
        <a:cs typeface="+mn-cs"/>
      </a:defRPr>
    </a:lvl6pPr>
    <a:lvl7pPr marL="2743200" algn="l" defTabSz="914400" rtl="0" eaLnBrk="1" latinLnBrk="0" hangingPunct="1">
      <a:defRPr sz="2200" kern="1200">
        <a:solidFill>
          <a:schemeClr val="tx1"/>
        </a:solidFill>
        <a:latin typeface="Arial" charset="0"/>
        <a:ea typeface="+mn-ea"/>
        <a:cs typeface="+mn-cs"/>
      </a:defRPr>
    </a:lvl7pPr>
    <a:lvl8pPr marL="3200400" algn="l" defTabSz="914400" rtl="0" eaLnBrk="1" latinLnBrk="0" hangingPunct="1">
      <a:defRPr sz="2200" kern="1200">
        <a:solidFill>
          <a:schemeClr val="tx1"/>
        </a:solidFill>
        <a:latin typeface="Arial" charset="0"/>
        <a:ea typeface="+mn-ea"/>
        <a:cs typeface="+mn-cs"/>
      </a:defRPr>
    </a:lvl8pPr>
    <a:lvl9pPr marL="3657600" algn="l" defTabSz="914400" rtl="0" eaLnBrk="1" latinLnBrk="0" hangingPunct="1">
      <a:defRPr sz="22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chwalbe" initials="k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666699"/>
    <a:srgbClr val="5B53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7" autoAdjust="0"/>
    <p:restoredTop sz="94551" autoAdjust="0"/>
  </p:normalViewPr>
  <p:slideViewPr>
    <p:cSldViewPr>
      <p:cViewPr varScale="1">
        <p:scale>
          <a:sx n="73" d="100"/>
          <a:sy n="73" d="100"/>
        </p:scale>
        <p:origin x="60" y="7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commentAuthors" Target="commentAuthor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5939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endParaRPr lang="en-US" dirty="0"/>
          </a:p>
        </p:txBody>
      </p:sp>
      <p:sp>
        <p:nvSpPr>
          <p:cNvPr id="5939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5939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fld id="{A471A8CE-0E72-460B-898D-9FCAF66DD7DD}" type="slidenum">
              <a:rPr lang="en-US"/>
              <a:pPr>
                <a:defRPr/>
              </a:pPr>
              <a:t>‹#›</a:t>
            </a:fld>
            <a:endParaRPr lang="en-US" dirty="0"/>
          </a:p>
        </p:txBody>
      </p:sp>
    </p:spTree>
    <p:extLst>
      <p:ext uri="{BB962C8B-B14F-4D97-AF65-F5344CB8AC3E}">
        <p14:creationId xmlns:p14="http://schemas.microsoft.com/office/powerpoint/2010/main" val="8177778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3686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endParaRPr lang="en-US" dirty="0"/>
          </a:p>
        </p:txBody>
      </p:sp>
      <p:sp>
        <p:nvSpPr>
          <p:cNvPr id="3584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686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87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3687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fld id="{E39DB59F-DBFB-47E5-BFE8-743E11972470}" type="slidenum">
              <a:rPr lang="en-US"/>
              <a:pPr>
                <a:defRPr/>
              </a:pPr>
              <a:t>‹#›</a:t>
            </a:fld>
            <a:endParaRPr lang="en-US" dirty="0"/>
          </a:p>
        </p:txBody>
      </p:sp>
    </p:spTree>
    <p:extLst>
      <p:ext uri="{BB962C8B-B14F-4D97-AF65-F5344CB8AC3E}">
        <p14:creationId xmlns:p14="http://schemas.microsoft.com/office/powerpoint/2010/main" val="154978959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pPr eaLnBrk="1" hangingPunct="1"/>
            <a:endParaRPr lang="en-US" dirty="0"/>
          </a:p>
        </p:txBody>
      </p:sp>
      <p:sp>
        <p:nvSpPr>
          <p:cNvPr id="59396" name="Slide Number Placeholder 3"/>
          <p:cNvSpPr>
            <a:spLocks noGrp="1"/>
          </p:cNvSpPr>
          <p:nvPr>
            <p:ph type="sldNum" sz="quarter" idx="5"/>
          </p:nvPr>
        </p:nvSpPr>
        <p:spPr>
          <a:noFill/>
        </p:spPr>
        <p:txBody>
          <a:bodyPr/>
          <a:lstStyle/>
          <a:p>
            <a:fld id="{86EC327F-7E80-4D08-B8B0-0F574A3B94BC}" type="slidenum">
              <a:rPr lang="en-US" smtClean="0"/>
              <a:pPr/>
              <a:t>1</a:t>
            </a:fld>
            <a:endParaRPr lang="en-US" dirty="0"/>
          </a:p>
        </p:txBody>
      </p:sp>
    </p:spTree>
    <p:extLst>
      <p:ext uri="{BB962C8B-B14F-4D97-AF65-F5344CB8AC3E}">
        <p14:creationId xmlns:p14="http://schemas.microsoft.com/office/powerpoint/2010/main" val="3992667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hemeOverride" Target="../theme/themeOverride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4BEDAA1-AB8B-4818-B524-3A50969A2F07}"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4F7053E-F83E-4271-AA08-D5C8F0521D54}"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97F9E4DD-5D64-4A63-89E9-4C623F7791FD}"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5FD5B2B2-4C46-45EE-BEF1-8C3D9FBA3991}"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48E8515F-EAA7-497F-A8F6-4CE386C3FAC6}"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733A7672-6F35-4B80-8974-351A77EC4C87}"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BC99E3D6-3C62-42FF-A07A-362FC34BCCC8}"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6319A391-6174-4976-A8AD-AEA04E687975}"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8FFDDE7D-2F39-4F2E-B126-93BFCEB7FB45}"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5D4141E6-86B5-4F33-80CE-1E6AB03295B2}"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9FFDBA7C-0D50-4EB9-909A-D860461C6E19}"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ight Triangle 3"/>
          <p:cNvSpPr/>
          <p:nvPr/>
        </p:nvSpPr>
        <p:spPr>
          <a:xfrm>
            <a:off x="0" y="4664075"/>
            <a:ext cx="9150350"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grpSp>
        <p:nvGrpSpPr>
          <p:cNvPr id="2" name="Group 15"/>
          <p:cNvGrpSpPr>
            <a:grpSpLocks/>
          </p:cNvGrpSpPr>
          <p:nvPr/>
        </p:nvGrpSpPr>
        <p:grpSpPr bwMode="auto">
          <a:xfrm>
            <a:off x="-3175" y="4953000"/>
            <a:ext cx="9147175" cy="1911350"/>
            <a:chOff x="-3765" y="4832896"/>
            <a:chExt cx="9147765" cy="2032192"/>
          </a:xfrm>
        </p:grpSpPr>
        <p:sp>
          <p:nvSpPr>
            <p:cNvPr id="6" name="Freeform 5"/>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dirty="0"/>
            </a:p>
          </p:txBody>
        </p:sp>
        <p:sp>
          <p:nvSpPr>
            <p:cNvPr id="7" name="Freeform 6"/>
            <p:cNvSpPr>
              <a:spLocks/>
            </p:cNvSpPr>
            <p:nvPr/>
          </p:nvSpPr>
          <p:spPr bwMode="auto">
            <a:xfrm>
              <a:off x="35926" y="5135025"/>
              <a:ext cx="9108074" cy="838869"/>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dirty="0"/>
            </a:p>
          </p:txBody>
        </p:sp>
        <p:sp>
          <p:nvSpPr>
            <p:cNvPr id="8" name="Freeform 7"/>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cxnSp>
          <p:nvCxnSpPr>
            <p:cNvPr id="10" name="Straight Connector 9"/>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Title 8"/>
          <p:cNvSpPr>
            <a:spLocks noGrp="1"/>
          </p:cNvSpPr>
          <p:nvPr>
            <p:ph type="ctrTitle"/>
          </p:nvPr>
        </p:nvSpPr>
        <p:spPr>
          <a:xfrm>
            <a:off x="685800" y="1752601"/>
            <a:ext cx="77724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a:t>Click to edit Master subtitle style</a:t>
            </a:r>
          </a:p>
        </p:txBody>
      </p:sp>
      <p:sp>
        <p:nvSpPr>
          <p:cNvPr id="11" name="Date Placeholder 29"/>
          <p:cNvSpPr>
            <a:spLocks noGrp="1"/>
          </p:cNvSpPr>
          <p:nvPr>
            <p:ph type="dt" sz="half" idx="10"/>
          </p:nvPr>
        </p:nvSpPr>
        <p:spPr/>
        <p:txBody>
          <a:bodyPr/>
          <a:lstStyle>
            <a:lvl1pPr>
              <a:defRPr>
                <a:solidFill>
                  <a:srgbClr val="FFFFFF"/>
                </a:solidFill>
              </a:defRPr>
            </a:lvl1pPr>
            <a:extLst/>
          </a:lstStyle>
          <a:p>
            <a:pPr>
              <a:defRPr/>
            </a:pPr>
            <a:endParaRPr lang="en-US" dirty="0"/>
          </a:p>
        </p:txBody>
      </p:sp>
      <p:sp>
        <p:nvSpPr>
          <p:cNvPr id="12" name="Footer Placeholder 18"/>
          <p:cNvSpPr>
            <a:spLocks noGrp="1"/>
          </p:cNvSpPr>
          <p:nvPr>
            <p:ph type="ftr" sz="quarter" idx="11"/>
          </p:nvPr>
        </p:nvSpPr>
        <p:spPr/>
        <p:txBody>
          <a:bodyPr/>
          <a:lstStyle>
            <a:lvl1pPr>
              <a:defRPr>
                <a:solidFill>
                  <a:schemeClr val="accent1">
                    <a:tint val="20000"/>
                  </a:schemeClr>
                </a:solidFill>
              </a:defRPr>
            </a:lvl1pPr>
            <a:extLst/>
          </a:lstStyle>
          <a:p>
            <a:pPr>
              <a:defRPr/>
            </a:pPr>
            <a:r>
              <a:rPr lang="en-US"/>
              <a:t>Information Technology Project Management, Seventh Edition</a:t>
            </a:r>
            <a:endParaRPr lang="en-US" dirty="0"/>
          </a:p>
        </p:txBody>
      </p:sp>
      <p:sp>
        <p:nvSpPr>
          <p:cNvPr id="13" name="Slide Number Placeholder 26"/>
          <p:cNvSpPr>
            <a:spLocks noGrp="1"/>
          </p:cNvSpPr>
          <p:nvPr>
            <p:ph type="sldNum" sz="quarter" idx="12"/>
          </p:nvPr>
        </p:nvSpPr>
        <p:spPr/>
        <p:txBody>
          <a:bodyPr/>
          <a:lstStyle>
            <a:lvl1pPr>
              <a:defRPr>
                <a:solidFill>
                  <a:srgbClr val="FFFFFF"/>
                </a:solidFill>
              </a:defRPr>
            </a:lvl1pPr>
            <a:extLst/>
          </a:lstStyle>
          <a:p>
            <a:pPr>
              <a:defRPr/>
            </a:pPr>
            <a:fld id="{99C9FF7E-57B2-43A2-BA09-B73DB1F96FF2}" type="slidenum">
              <a:rPr lang="en-US" smtClean="0"/>
              <a:pPr>
                <a:defRPr/>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Footer Placeholder 21"/>
          <p:cNvSpPr txBox="1">
            <a:spLocks/>
          </p:cNvSpPr>
          <p:nvPr/>
        </p:nvSpPr>
        <p:spPr>
          <a:xfrm>
            <a:off x="5486400" y="6492875"/>
            <a:ext cx="1600200" cy="365125"/>
          </a:xfrm>
          <a:prstGeom prst="rect">
            <a:avLst/>
          </a:prstGeom>
        </p:spPr>
        <p:txBody>
          <a:bodyPr anchor="b"/>
          <a:lstStyle>
            <a:lvl1pPr algn="l">
              <a:buFontTx/>
              <a:buNone/>
              <a:defRPr smtClean="0"/>
            </a:lvl1pPr>
          </a:lstStyle>
          <a:p>
            <a:pPr>
              <a:defRPr/>
            </a:pPr>
            <a:r>
              <a:rPr lang="en-US" sz="1200" dirty="0">
                <a:latin typeface="+mn-lt"/>
              </a:rPr>
              <a:t>Copyright 2014</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6"/>
          <p:cNvSpPr>
            <a:spLocks noGrp="1"/>
          </p:cNvSpPr>
          <p:nvPr>
            <p:ph type="title"/>
          </p:nvPr>
        </p:nvSpPr>
        <p:spPr/>
        <p:txBody>
          <a:bodyPr rtlCol="0"/>
          <a:lstStyle/>
          <a:p>
            <a:r>
              <a:rPr lang="en-US"/>
              <a:t>Click to edit Master title style</a:t>
            </a:r>
            <a:endParaRPr lang="en-US" dirty="0"/>
          </a:p>
        </p:txBody>
      </p:sp>
      <p:sp>
        <p:nvSpPr>
          <p:cNvPr id="5" name="Footer Placeholder 21"/>
          <p:cNvSpPr>
            <a:spLocks noGrp="1"/>
          </p:cNvSpPr>
          <p:nvPr>
            <p:ph type="ftr" sz="quarter" idx="10"/>
          </p:nvPr>
        </p:nvSpPr>
        <p:spPr>
          <a:xfrm>
            <a:off x="0" y="6492875"/>
            <a:ext cx="2590800" cy="365125"/>
          </a:xfrm>
        </p:spPr>
        <p:txBody>
          <a:bodyPr/>
          <a:lstStyle>
            <a:lvl1pPr algn="l">
              <a:buFontTx/>
              <a:buNone/>
              <a:defRPr sz="1200">
                <a:latin typeface="+mn-lt"/>
              </a:defRPr>
            </a:lvl1pPr>
          </a:lstStyle>
          <a:p>
            <a:pPr>
              <a:defRPr/>
            </a:pPr>
            <a:r>
              <a:rPr lang="en-US" dirty="0"/>
              <a:t>Information Technology Project Management, Seventh Edition</a:t>
            </a:r>
          </a:p>
        </p:txBody>
      </p:sp>
      <p:sp>
        <p:nvSpPr>
          <p:cNvPr id="6" name="Slide Number Placeholder 17"/>
          <p:cNvSpPr>
            <a:spLocks noGrp="1"/>
          </p:cNvSpPr>
          <p:nvPr>
            <p:ph type="sldNum" sz="quarter" idx="11"/>
          </p:nvPr>
        </p:nvSpPr>
        <p:spPr>
          <a:xfrm>
            <a:off x="8588375" y="6492875"/>
            <a:ext cx="555625" cy="365125"/>
          </a:xfrm>
        </p:spPr>
        <p:txBody>
          <a:bodyPr/>
          <a:lstStyle>
            <a:lvl1pPr>
              <a:buFontTx/>
              <a:buNone/>
              <a:defRPr sz="1200">
                <a:latin typeface="+mn-lt"/>
              </a:defRPr>
            </a:lvl1pPr>
          </a:lstStyle>
          <a:p>
            <a:pPr>
              <a:defRPr/>
            </a:pPr>
            <a:fld id="{D4FD9659-824B-46C0-8A9A-C90F38C1F825}" type="slidenum">
              <a:rPr lang="en-US" smtClean="0"/>
              <a:pPr>
                <a:defRPr/>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4" name="Chevron 3"/>
          <p:cNvSpPr/>
          <p:nvPr/>
        </p:nvSpPr>
        <p:spPr>
          <a:xfrm>
            <a:off x="3636963" y="3005138"/>
            <a:ext cx="182562"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p>
        </p:txBody>
      </p:sp>
      <p:sp>
        <p:nvSpPr>
          <p:cNvPr id="5" name="Chevron 4"/>
          <p:cNvSpPr/>
          <p:nvPr/>
        </p:nvSpPr>
        <p:spPr>
          <a:xfrm>
            <a:off x="3449638" y="3005138"/>
            <a:ext cx="18415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p>
        </p:txBody>
      </p:sp>
      <p:sp>
        <p:nvSpPr>
          <p:cNvPr id="2" name="Title 1"/>
          <p:cNvSpPr>
            <a:spLocks noGrp="1"/>
          </p:cNvSpPr>
          <p:nvPr>
            <p:ph type="title"/>
          </p:nvPr>
        </p:nvSpPr>
        <p:spPr>
          <a:xfrm>
            <a:off x="722376" y="1059712"/>
            <a:ext cx="77724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en-US"/>
              <a:t>Click to edit Master title style</a:t>
            </a:r>
          </a:p>
        </p:txBody>
      </p:sp>
      <p:sp>
        <p:nvSpPr>
          <p:cNvPr id="3" name="Text Placeholder 2"/>
          <p:cNvSpPr>
            <a:spLocks noGrp="1"/>
          </p:cNvSpPr>
          <p:nvPr>
            <p:ph type="body" idx="1"/>
          </p:nvPr>
        </p:nvSpPr>
        <p:spPr>
          <a:xfrm>
            <a:off x="3922713" y="2931712"/>
            <a:ext cx="4572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Click to edit Master text styles</a:t>
            </a:r>
          </a:p>
        </p:txBody>
      </p:sp>
      <p:sp>
        <p:nvSpPr>
          <p:cNvPr id="6" name="Date Placeholder 3"/>
          <p:cNvSpPr>
            <a:spLocks noGrp="1"/>
          </p:cNvSpPr>
          <p:nvPr>
            <p:ph type="dt" sz="half" idx="10"/>
          </p:nvPr>
        </p:nvSpPr>
        <p:spPr/>
        <p:txBody>
          <a:bodyPr/>
          <a:lstStyle>
            <a:lvl1pPr>
              <a:defRPr/>
            </a:lvl1pPr>
            <a:extLst/>
          </a:lstStyle>
          <a:p>
            <a:pPr>
              <a:defRPr/>
            </a:pPr>
            <a:endParaRPr lang="en-US" dirty="0"/>
          </a:p>
        </p:txBody>
      </p:sp>
      <p:sp>
        <p:nvSpPr>
          <p:cNvPr id="7" name="Footer Placeholder 4"/>
          <p:cNvSpPr>
            <a:spLocks noGrp="1"/>
          </p:cNvSpPr>
          <p:nvPr>
            <p:ph type="ftr" sz="quarter" idx="11"/>
          </p:nvPr>
        </p:nvSpPr>
        <p:spPr/>
        <p:txBody>
          <a:bodyPr/>
          <a:lstStyle>
            <a:lvl1pPr>
              <a:defRPr/>
            </a:lvl1pPr>
            <a:extLst/>
          </a:lstStyle>
          <a:p>
            <a:pPr>
              <a:defRPr/>
            </a:pPr>
            <a:r>
              <a:rPr lang="en-US"/>
              <a:t>Information Technology Project Management, Seventh Edition</a:t>
            </a:r>
            <a:endParaRPr lang="en-US" dirty="0"/>
          </a:p>
        </p:txBody>
      </p:sp>
      <p:sp>
        <p:nvSpPr>
          <p:cNvPr id="8" name="Slide Number Placeholder 5"/>
          <p:cNvSpPr>
            <a:spLocks noGrp="1"/>
          </p:cNvSpPr>
          <p:nvPr>
            <p:ph type="sldNum" sz="quarter" idx="12"/>
          </p:nvPr>
        </p:nvSpPr>
        <p:spPr/>
        <p:txBody>
          <a:bodyPr/>
          <a:lstStyle>
            <a:lvl1pPr>
              <a:defRPr/>
            </a:lvl1pPr>
            <a:extLst/>
          </a:lstStyle>
          <a:p>
            <a:pPr>
              <a:defRPr/>
            </a:pPr>
            <a:fld id="{2799675F-4A93-44A1-8896-452D54AE32F2}"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7"/>
          <p:cNvSpPr>
            <a:spLocks noGrp="1"/>
          </p:cNvSpPr>
          <p:nvPr>
            <p:ph type="title"/>
          </p:nvPr>
        </p:nvSpPr>
        <p:spPr/>
        <p:txBody>
          <a:bodyPr rtlCol="0"/>
          <a:lstStyle/>
          <a:p>
            <a:r>
              <a:rPr lang="en-US"/>
              <a:t>Click to edit Master title style</a:t>
            </a:r>
          </a:p>
        </p:txBody>
      </p:sp>
      <p:sp>
        <p:nvSpPr>
          <p:cNvPr id="5" name="Date Placeholder 4"/>
          <p:cNvSpPr>
            <a:spLocks noGrp="1"/>
          </p:cNvSpPr>
          <p:nvPr>
            <p:ph type="dt" sz="half" idx="10"/>
          </p:nvPr>
        </p:nvSpPr>
        <p:spPr/>
        <p:txBody>
          <a:bodyPr/>
          <a:lstStyle>
            <a:lvl1pPr>
              <a:defRPr/>
            </a:lvl1pPr>
            <a:extLst/>
          </a:lstStyle>
          <a:p>
            <a:pPr>
              <a:defRPr/>
            </a:pPr>
            <a:endParaRPr lang="en-US" dirty="0"/>
          </a:p>
        </p:txBody>
      </p:sp>
      <p:sp>
        <p:nvSpPr>
          <p:cNvPr id="6" name="Footer Placeholder 5"/>
          <p:cNvSpPr>
            <a:spLocks noGrp="1"/>
          </p:cNvSpPr>
          <p:nvPr>
            <p:ph type="ftr" sz="quarter" idx="11"/>
          </p:nvPr>
        </p:nvSpPr>
        <p:spPr/>
        <p:txBody>
          <a:bodyPr/>
          <a:lstStyle>
            <a:lvl1pPr>
              <a:defRPr/>
            </a:lvl1pPr>
            <a:extLst/>
          </a:lstStyle>
          <a:p>
            <a:pPr>
              <a:defRPr/>
            </a:pPr>
            <a:r>
              <a:rPr lang="en-US"/>
              <a:t>Information Technology Project Management, Seventh Edition</a:t>
            </a:r>
            <a:endParaRPr lang="en-US" dirty="0"/>
          </a:p>
        </p:txBody>
      </p:sp>
      <p:sp>
        <p:nvSpPr>
          <p:cNvPr id="7" name="Slide Number Placeholder 6"/>
          <p:cNvSpPr>
            <a:spLocks noGrp="1"/>
          </p:cNvSpPr>
          <p:nvPr>
            <p:ph type="sldNum" sz="quarter" idx="12"/>
          </p:nvPr>
        </p:nvSpPr>
        <p:spPr/>
        <p:txBody>
          <a:bodyPr/>
          <a:lstStyle>
            <a:lvl1pPr>
              <a:defRPr/>
            </a:lvl1pPr>
            <a:extLst/>
          </a:lstStyle>
          <a:p>
            <a:pPr>
              <a:defRPr/>
            </a:pPr>
            <a:fld id="{45A903A5-3145-4C33-861E-F726013C416E}"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lstStyle>
            <a:lvl1pPr>
              <a:defRPr/>
            </a:lvl1pPr>
            <a:extLst/>
          </a:lstStyle>
          <a:p>
            <a:r>
              <a:rPr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extLst/>
          </a:lstStyle>
          <a:p>
            <a:pPr>
              <a:defRPr/>
            </a:pPr>
            <a:endParaRPr lang="en-US" dirty="0"/>
          </a:p>
        </p:txBody>
      </p:sp>
      <p:sp>
        <p:nvSpPr>
          <p:cNvPr id="8" name="Footer Placeholder 7"/>
          <p:cNvSpPr>
            <a:spLocks noGrp="1"/>
          </p:cNvSpPr>
          <p:nvPr>
            <p:ph type="ftr" sz="quarter" idx="11"/>
          </p:nvPr>
        </p:nvSpPr>
        <p:spPr/>
        <p:txBody>
          <a:bodyPr/>
          <a:lstStyle>
            <a:lvl1pPr>
              <a:defRPr/>
            </a:lvl1pPr>
            <a:extLst/>
          </a:lstStyle>
          <a:p>
            <a:pPr>
              <a:defRPr/>
            </a:pPr>
            <a:r>
              <a:rPr lang="en-US"/>
              <a:t>Information Technology Project Management, Seventh Edition</a:t>
            </a:r>
            <a:endParaRPr lang="en-US" dirty="0"/>
          </a:p>
        </p:txBody>
      </p:sp>
      <p:sp>
        <p:nvSpPr>
          <p:cNvPr id="9" name="Slide Number Placeholder 8"/>
          <p:cNvSpPr>
            <a:spLocks noGrp="1"/>
          </p:cNvSpPr>
          <p:nvPr>
            <p:ph type="sldNum" sz="quarter" idx="12"/>
          </p:nvPr>
        </p:nvSpPr>
        <p:spPr/>
        <p:txBody>
          <a:bodyPr/>
          <a:lstStyle>
            <a:lvl1pPr>
              <a:defRPr/>
            </a:lvl1pPr>
            <a:extLst/>
          </a:lstStyle>
          <a:p>
            <a:pPr>
              <a:defRPr/>
            </a:pPr>
            <a:fld id="{79F8D2C1-FDC8-4049-A2F1-36C9287BEF68}" type="slidenum">
              <a:rPr lang="en-US" smtClean="0"/>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p>
            <a:r>
              <a:rPr lang="en-US"/>
              <a:t>Click to edit Master title style</a:t>
            </a:r>
          </a:p>
        </p:txBody>
      </p:sp>
      <p:sp>
        <p:nvSpPr>
          <p:cNvPr id="3" name="Date Placeholder 2"/>
          <p:cNvSpPr>
            <a:spLocks noGrp="1"/>
          </p:cNvSpPr>
          <p:nvPr>
            <p:ph type="dt" sz="half" idx="10"/>
          </p:nvPr>
        </p:nvSpPr>
        <p:spPr/>
        <p:txBody>
          <a:bodyPr/>
          <a:lstStyle>
            <a:lvl1pPr>
              <a:defRPr/>
            </a:lvl1pPr>
            <a:extLst/>
          </a:lstStyle>
          <a:p>
            <a:pPr>
              <a:defRPr/>
            </a:pPr>
            <a:endParaRPr lang="en-US" dirty="0"/>
          </a:p>
        </p:txBody>
      </p:sp>
      <p:sp>
        <p:nvSpPr>
          <p:cNvPr id="4" name="Footer Placeholder 3"/>
          <p:cNvSpPr>
            <a:spLocks noGrp="1"/>
          </p:cNvSpPr>
          <p:nvPr>
            <p:ph type="ftr" sz="quarter" idx="11"/>
          </p:nvPr>
        </p:nvSpPr>
        <p:spPr/>
        <p:txBody>
          <a:bodyPr/>
          <a:lstStyle>
            <a:lvl1pPr>
              <a:defRPr/>
            </a:lvl1pPr>
            <a:extLst/>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lvl1pPr>
              <a:defRPr/>
            </a:lvl1pPr>
            <a:extLst/>
          </a:lstStyle>
          <a:p>
            <a:pPr>
              <a:defRPr/>
            </a:pPr>
            <a:fld id="{0BD84499-56DB-4FF3-8D99-174F9EB97545}"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endParaRPr lang="en-US" dirty="0"/>
          </a:p>
        </p:txBody>
      </p:sp>
      <p:sp>
        <p:nvSpPr>
          <p:cNvPr id="3" name="Footer Placeholder 21"/>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4" name="Slide Number Placeholder 17"/>
          <p:cNvSpPr>
            <a:spLocks noGrp="1"/>
          </p:cNvSpPr>
          <p:nvPr>
            <p:ph type="sldNum" sz="quarter" idx="12"/>
          </p:nvPr>
        </p:nvSpPr>
        <p:spPr/>
        <p:txBody>
          <a:bodyPr/>
          <a:lstStyle>
            <a:lvl1pPr>
              <a:defRPr/>
            </a:lvl1pPr>
          </a:lstStyle>
          <a:p>
            <a:pPr>
              <a:defRPr/>
            </a:pPr>
            <a:fld id="{88BFF443-6094-4853-B8BA-F1264293BEA5}" type="slidenum">
              <a:rPr lang="en-US" smtClean="0"/>
              <a:pPr>
                <a:defRPr/>
              </a:pPr>
              <a:t>‹#›</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anchor="t">
            <a:noAutofit/>
            <a:sp3d prstMaterial="softEdge">
              <a:bevelT w="0" h="0"/>
            </a:sp3d>
          </a:bodyPr>
          <a:lstStyle>
            <a:lvl1pPr algn="r">
              <a:buNone/>
              <a:defRPr sz="2500" b="0">
                <a:solidFill>
                  <a:schemeClr val="accent1"/>
                </a:solidFill>
                <a:effectLst/>
              </a:defRPr>
            </a:lvl1pPr>
            <a:extLst/>
          </a:lstStyle>
          <a:p>
            <a:r>
              <a:rPr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a:r>
              <a:rPr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extLst/>
          </a:lstStyle>
          <a:p>
            <a:pPr>
              <a:defRPr/>
            </a:pPr>
            <a:endParaRPr lang="en-US" dirty="0"/>
          </a:p>
        </p:txBody>
      </p:sp>
      <p:sp>
        <p:nvSpPr>
          <p:cNvPr id="6" name="Footer Placeholder 5"/>
          <p:cNvSpPr>
            <a:spLocks noGrp="1"/>
          </p:cNvSpPr>
          <p:nvPr>
            <p:ph type="ftr" sz="quarter" idx="11"/>
          </p:nvPr>
        </p:nvSpPr>
        <p:spPr/>
        <p:txBody>
          <a:bodyPr/>
          <a:lstStyle>
            <a:lvl1pPr>
              <a:defRPr/>
            </a:lvl1pPr>
            <a:extLst/>
          </a:lstStyle>
          <a:p>
            <a:pPr>
              <a:defRPr/>
            </a:pPr>
            <a:r>
              <a:rPr lang="en-US"/>
              <a:t>Information Technology Project Management, Seventh Edition</a:t>
            </a:r>
            <a:endParaRPr lang="en-US" dirty="0"/>
          </a:p>
        </p:txBody>
      </p:sp>
      <p:sp>
        <p:nvSpPr>
          <p:cNvPr id="7" name="Slide Number Placeholder 6"/>
          <p:cNvSpPr>
            <a:spLocks noGrp="1"/>
          </p:cNvSpPr>
          <p:nvPr>
            <p:ph type="sldNum" sz="quarter" idx="12"/>
          </p:nvPr>
        </p:nvSpPr>
        <p:spPr/>
        <p:txBody>
          <a:bodyPr/>
          <a:lstStyle>
            <a:lvl1pPr>
              <a:defRPr/>
            </a:lvl1pPr>
            <a:extLst/>
          </a:lstStyle>
          <a:p>
            <a:pPr>
              <a:defRPr/>
            </a:pPr>
            <a:fld id="{A521D880-5042-48D3-9E9D-9C6275C0D5B4}" type="slidenum">
              <a:rPr lang="en-US" smtClean="0"/>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5" name="Freeform 4"/>
          <p:cNvSpPr>
            <a:spLocks/>
          </p:cNvSpPr>
          <p:nvPr/>
        </p:nvSpPr>
        <p:spPr bwMode="auto">
          <a:xfrm>
            <a:off x="715963" y="5002213"/>
            <a:ext cx="3802062"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dirty="0"/>
          </a:p>
        </p:txBody>
      </p:sp>
      <p:sp>
        <p:nvSpPr>
          <p:cNvPr id="6" name="Freeform 5"/>
          <p:cNvSpPr>
            <a:spLocks/>
          </p:cNvSpPr>
          <p:nvPr/>
        </p:nvSpPr>
        <p:spPr bwMode="auto">
          <a:xfrm>
            <a:off x="-53975" y="5784850"/>
            <a:ext cx="380206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dirty="0"/>
          </a:p>
        </p:txBody>
      </p:sp>
      <p:sp>
        <p:nvSpPr>
          <p:cNvPr id="7" name="Right Triangle 6"/>
          <p:cNvSpPr>
            <a:spLocks/>
          </p:cNvSpPr>
          <p:nvPr/>
        </p:nvSpPr>
        <p:spPr bwMode="auto">
          <a:xfrm>
            <a:off x="-6042" y="5791253"/>
            <a:ext cx="3402314" cy="1080868"/>
          </a:xfrm>
          <a:prstGeom prst="rtTriangle">
            <a:avLst/>
          </a:prstGeom>
          <a:blipFill>
            <a:blip r:embed="rId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cxnSp>
        <p:nvCxnSpPr>
          <p:cNvPr id="8" name="Straight Connector 7"/>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8"/>
          <p:cNvSpPr/>
          <p:nvPr/>
        </p:nvSpPr>
        <p:spPr>
          <a:xfrm>
            <a:off x="8664575"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p>
        </p:txBody>
      </p:sp>
      <p:sp>
        <p:nvSpPr>
          <p:cNvPr id="10" name="Chevron 9"/>
          <p:cNvSpPr/>
          <p:nvPr/>
        </p:nvSpPr>
        <p:spPr>
          <a:xfrm>
            <a:off x="8477250"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p>
        </p:txBody>
      </p:sp>
      <p:sp>
        <p:nvSpPr>
          <p:cNvPr id="4" name="Text Placeholder 3"/>
          <p:cNvSpPr>
            <a:spLocks noGrp="1"/>
          </p:cNvSpPr>
          <p:nvPr>
            <p:ph type="body" sz="half" idx="2"/>
          </p:nvPr>
        </p:nvSpPr>
        <p:spPr>
          <a:xfrm>
            <a:off x="1141232" y="5443402"/>
            <a:ext cx="7162800" cy="648232"/>
          </a:xfrm>
          <a:noFill/>
        </p:spPr>
        <p:txBody>
          <a:bodyPr tIns="0"/>
          <a:lstStyle>
            <a:lvl1pPr marL="0" marR="18288" indent="0" algn="r">
              <a:buNone/>
              <a:defRPr sz="1400"/>
            </a:lvl1pPr>
            <a:lvl2pPr>
              <a:defRPr sz="1200"/>
            </a:lvl2pPr>
            <a:lvl3pPr>
              <a:defRPr sz="1000"/>
            </a:lvl3pPr>
            <a:lvl4pPr>
              <a:defRPr sz="900"/>
            </a:lvl4pPr>
            <a:lvl5pPr>
              <a:defRPr sz="900"/>
            </a:lvl5pPr>
            <a:extLst/>
          </a:lstStyle>
          <a:p>
            <a:pPr lvl="0"/>
            <a:r>
              <a:rPr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en-US" noProof="0" dirty="0"/>
              <a:t>Click icon to add picture</a:t>
            </a:r>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lang="en-US"/>
              <a:t>Click to edit Master title style</a:t>
            </a:r>
          </a:p>
        </p:txBody>
      </p:sp>
      <p:sp>
        <p:nvSpPr>
          <p:cNvPr id="11" name="Date Placeholder 4"/>
          <p:cNvSpPr>
            <a:spLocks noGrp="1"/>
          </p:cNvSpPr>
          <p:nvPr>
            <p:ph type="dt" sz="half" idx="10"/>
          </p:nvPr>
        </p:nvSpPr>
        <p:spPr/>
        <p:txBody>
          <a:bodyPr/>
          <a:lstStyle>
            <a:lvl1pPr>
              <a:defRPr>
                <a:solidFill>
                  <a:schemeClr val="tx1"/>
                </a:solidFill>
              </a:defRPr>
            </a:lvl1pPr>
            <a:extLst/>
          </a:lstStyle>
          <a:p>
            <a:pPr>
              <a:defRPr/>
            </a:pPr>
            <a:endParaRPr lang="en-US" dirty="0"/>
          </a:p>
        </p:txBody>
      </p:sp>
      <p:sp>
        <p:nvSpPr>
          <p:cNvPr id="12" name="Footer Placeholder 5"/>
          <p:cNvSpPr>
            <a:spLocks noGrp="1"/>
          </p:cNvSpPr>
          <p:nvPr>
            <p:ph type="ftr" sz="quarter" idx="11"/>
          </p:nvPr>
        </p:nvSpPr>
        <p:spPr/>
        <p:txBody>
          <a:bodyPr/>
          <a:lstStyle>
            <a:lvl1pPr>
              <a:defRPr>
                <a:solidFill>
                  <a:schemeClr val="tx1"/>
                </a:solidFill>
              </a:defRPr>
            </a:lvl1pPr>
            <a:extLst/>
          </a:lstStyle>
          <a:p>
            <a:pPr>
              <a:defRPr/>
            </a:pPr>
            <a:r>
              <a:rPr lang="en-US"/>
              <a:t>Information Technology Project Management, Seventh Edition</a:t>
            </a:r>
            <a:endParaRPr lang="en-US" dirty="0"/>
          </a:p>
        </p:txBody>
      </p:sp>
      <p:sp>
        <p:nvSpPr>
          <p:cNvPr id="13" name="Slide Number Placeholder 6"/>
          <p:cNvSpPr>
            <a:spLocks noGrp="1"/>
          </p:cNvSpPr>
          <p:nvPr>
            <p:ph type="sldNum" sz="quarter" idx="12"/>
          </p:nvPr>
        </p:nvSpPr>
        <p:spPr/>
        <p:txBody>
          <a:bodyPr/>
          <a:lstStyle>
            <a:lvl1pPr>
              <a:defRPr>
                <a:solidFill>
                  <a:schemeClr val="tx1"/>
                </a:solidFill>
              </a:defRPr>
            </a:lvl1pPr>
            <a:extLst/>
          </a:lstStyle>
          <a:p>
            <a:pPr>
              <a:defRPr/>
            </a:pPr>
            <a:fld id="{0A9D95BA-DBCE-4585-9D62-69E5B33609E2}"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endParaRPr lang="en-US" dirty="0"/>
          </a:p>
        </p:txBody>
      </p:sp>
      <p:sp>
        <p:nvSpPr>
          <p:cNvPr id="5" name="Footer Placeholder 21"/>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6" name="Slide Number Placeholder 17"/>
          <p:cNvSpPr>
            <a:spLocks noGrp="1"/>
          </p:cNvSpPr>
          <p:nvPr>
            <p:ph type="sldNum" sz="quarter" idx="12"/>
          </p:nvPr>
        </p:nvSpPr>
        <p:spPr/>
        <p:txBody>
          <a:bodyPr/>
          <a:lstStyle>
            <a:lvl1pPr>
              <a:defRPr/>
            </a:lvl1pPr>
          </a:lstStyle>
          <a:p>
            <a:pPr>
              <a:defRPr/>
            </a:pPr>
            <a:fld id="{79C7716B-8CDB-4114-B58A-CD791D036412}" type="slidenum">
              <a:rPr lang="en-US" smtClean="0"/>
              <a:pPr>
                <a:defRPr/>
              </a:pPr>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endParaRPr lang="en-US" dirty="0"/>
          </a:p>
        </p:txBody>
      </p:sp>
      <p:sp>
        <p:nvSpPr>
          <p:cNvPr id="5" name="Footer Placeholder 21"/>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6" name="Slide Number Placeholder 17"/>
          <p:cNvSpPr>
            <a:spLocks noGrp="1"/>
          </p:cNvSpPr>
          <p:nvPr>
            <p:ph type="sldNum" sz="quarter" idx="12"/>
          </p:nvPr>
        </p:nvSpPr>
        <p:spPr/>
        <p:txBody>
          <a:bodyPr/>
          <a:lstStyle>
            <a:lvl1pPr>
              <a:defRPr/>
            </a:lvl1pPr>
          </a:lstStyle>
          <a:p>
            <a:pPr>
              <a:defRPr/>
            </a:pPr>
            <a:fld id="{A5896A34-DE02-4C2F-B86D-63B07783C002}" type="slidenum">
              <a:rPr lang="en-US" smtClean="0"/>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lnSpc>
                <a:spcPct val="90000"/>
              </a:lnSpc>
              <a:spcBef>
                <a:spcPct val="20000"/>
              </a:spcBef>
              <a:buFontTx/>
              <a:buChar char="•"/>
              <a:defRPr sz="1200">
                <a:solidFill>
                  <a:srgbClr val="898989"/>
                </a:solidFill>
                <a:latin typeface="Times New Roman" pitchFamily="18" charset="0"/>
              </a:defRPr>
            </a:lvl1pPr>
          </a:lstStyle>
          <a:p>
            <a:pPr>
              <a:defRPr/>
            </a:pP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lnSpc>
                <a:spcPct val="90000"/>
              </a:lnSpc>
              <a:spcBef>
                <a:spcPct val="20000"/>
              </a:spcBef>
              <a:buFontTx/>
              <a:buChar char="•"/>
              <a:defRPr sz="1200">
                <a:solidFill>
                  <a:srgbClr val="898989"/>
                </a:solidFill>
                <a:latin typeface="Times New Roman" pitchFamily="18" charset="0"/>
              </a:defRPr>
            </a:lvl1p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lnSpc>
                <a:spcPct val="90000"/>
              </a:lnSpc>
              <a:spcBef>
                <a:spcPct val="20000"/>
              </a:spcBef>
              <a:buFontTx/>
              <a:buChar char="•"/>
              <a:defRPr sz="1200">
                <a:solidFill>
                  <a:schemeClr val="tx1">
                    <a:tint val="75000"/>
                  </a:schemeClr>
                </a:solidFill>
                <a:latin typeface="Times New Roman" pitchFamily="18" charset="0"/>
              </a:defRPr>
            </a:lvl1pPr>
          </a:lstStyle>
          <a:p>
            <a:pPr>
              <a:defRPr/>
            </a:pPr>
            <a:fld id="{1F0DB9A2-6BF9-4BB6-B94C-EBCA49169742}"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863" r:id="rId1"/>
    <p:sldLayoutId id="2147483864" r:id="rId2"/>
    <p:sldLayoutId id="2147483865" r:id="rId3"/>
    <p:sldLayoutId id="2147483866" r:id="rId4"/>
    <p:sldLayoutId id="2147483867" r:id="rId5"/>
    <p:sldLayoutId id="2147483868" r:id="rId6"/>
    <p:sldLayoutId id="2147483869" r:id="rId7"/>
    <p:sldLayoutId id="2147483870" r:id="rId8"/>
    <p:sldLayoutId id="2147483871" r:id="rId9"/>
    <p:sldLayoutId id="2147483872" r:id="rId10"/>
    <p:sldLayoutId id="2147483873" r:id="rId11"/>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5963" y="5002213"/>
            <a:ext cx="3802062"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dirty="0"/>
          </a:p>
        </p:txBody>
      </p:sp>
      <p:sp>
        <p:nvSpPr>
          <p:cNvPr id="12" name="Freeform 11"/>
          <p:cNvSpPr>
            <a:spLocks/>
          </p:cNvSpPr>
          <p:nvPr/>
        </p:nvSpPr>
        <p:spPr bwMode="auto">
          <a:xfrm>
            <a:off x="-53975" y="5784850"/>
            <a:ext cx="380206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dirty="0"/>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lang="en-US"/>
              <a:t>Click to edit Master title style</a:t>
            </a:r>
          </a:p>
        </p:txBody>
      </p:sp>
      <p:sp>
        <p:nvSpPr>
          <p:cNvPr id="1033" name="Text Placeholder 29"/>
          <p:cNvSpPr>
            <a:spLocks noGrp="1"/>
          </p:cNvSpPr>
          <p:nvPr>
            <p:ph type="body" idx="1"/>
          </p:nvPr>
        </p:nvSpPr>
        <p:spPr bwMode="auto">
          <a:xfrm>
            <a:off x="457200" y="1481138"/>
            <a:ext cx="8229600" cy="45259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p:cNvSpPr>
            <a:spLocks noGrp="1"/>
          </p:cNvSpPr>
          <p:nvPr>
            <p:ph type="dt" sz="half" idx="2"/>
          </p:nvPr>
        </p:nvSpPr>
        <p:spPr>
          <a:xfrm>
            <a:off x="6727825" y="6408738"/>
            <a:ext cx="1919288" cy="365125"/>
          </a:xfrm>
          <a:prstGeom prst="rect">
            <a:avLst/>
          </a:prstGeom>
        </p:spPr>
        <p:txBody>
          <a:bodyPr vert="horz" anchor="b"/>
          <a:lstStyle>
            <a:lvl1pPr algn="l" eaLnBrk="1" latinLnBrk="0" hangingPunct="1">
              <a:defRPr kumimoji="0" sz="1000">
                <a:solidFill>
                  <a:schemeClr val="tx1"/>
                </a:solidFill>
              </a:defRPr>
            </a:lvl1pPr>
            <a:extLst/>
          </a:lstStyle>
          <a:p>
            <a:pPr>
              <a:defRPr/>
            </a:pPr>
            <a:endParaRPr lang="en-US" dirty="0"/>
          </a:p>
        </p:txBody>
      </p:sp>
      <p:sp>
        <p:nvSpPr>
          <p:cNvPr id="22" name="Footer Placeholder 21"/>
          <p:cNvSpPr>
            <a:spLocks noGrp="1"/>
          </p:cNvSpPr>
          <p:nvPr>
            <p:ph type="ftr" sz="quarter" idx="3"/>
          </p:nvPr>
        </p:nvSpPr>
        <p:spPr>
          <a:xfrm>
            <a:off x="4379913" y="6408738"/>
            <a:ext cx="2351087" cy="365125"/>
          </a:xfrm>
          <a:prstGeom prst="rect">
            <a:avLst/>
          </a:prstGeom>
        </p:spPr>
        <p:txBody>
          <a:bodyPr vert="horz" anchor="b"/>
          <a:lstStyle>
            <a:lvl1pPr algn="r" eaLnBrk="1" latinLnBrk="0" hangingPunct="1">
              <a:defRPr kumimoji="0" sz="1000">
                <a:solidFill>
                  <a:schemeClr val="tx1"/>
                </a:solidFill>
              </a:defRPr>
            </a:lvl1pPr>
            <a:extLst/>
          </a:lstStyle>
          <a:p>
            <a:pPr>
              <a:defRPr/>
            </a:pPr>
            <a:r>
              <a:rPr lang="en-US"/>
              <a:t>Information Technology Project Management, Seventh Edition</a:t>
            </a:r>
            <a:endParaRPr lang="en-US" dirty="0"/>
          </a:p>
        </p:txBody>
      </p:sp>
      <p:sp>
        <p:nvSpPr>
          <p:cNvPr id="18" name="Slide Number Placeholder 17"/>
          <p:cNvSpPr>
            <a:spLocks noGrp="1"/>
          </p:cNvSpPr>
          <p:nvPr>
            <p:ph type="sldNum" sz="quarter" idx="4"/>
          </p:nvPr>
        </p:nvSpPr>
        <p:spPr>
          <a:xfrm>
            <a:off x="8647113" y="6408738"/>
            <a:ext cx="366712" cy="365125"/>
          </a:xfrm>
          <a:prstGeom prst="rect">
            <a:avLst/>
          </a:prstGeom>
        </p:spPr>
        <p:txBody>
          <a:bodyPr vert="horz" anchor="b"/>
          <a:lstStyle>
            <a:lvl1pPr algn="r" eaLnBrk="1" latinLnBrk="0" hangingPunct="1">
              <a:defRPr kumimoji="0" sz="1000" b="0">
                <a:solidFill>
                  <a:schemeClr val="tx1"/>
                </a:solidFill>
              </a:defRPr>
            </a:lvl1pPr>
            <a:extLst/>
          </a:lstStyle>
          <a:p>
            <a:pPr>
              <a:defRPr/>
            </a:pPr>
            <a:fld id="{1F0DB9A2-6BF9-4BB6-B94C-EBCA49169742}" type="slidenum">
              <a:rPr lang="en-US" smtClean="0"/>
              <a:pPr>
                <a:defRPr/>
              </a:pPr>
              <a:t>‹#›</a:t>
            </a:fld>
            <a:endParaRPr lang="en-US" dirty="0"/>
          </a:p>
        </p:txBody>
      </p:sp>
    </p:spTree>
  </p:cSld>
  <p:clrMap bg1="lt1" tx1="dk1" bg2="lt2" tx2="dk2" accent1="accent1" accent2="accent2" accent3="accent3" accent4="accent4" accent5="accent5" accent6="accent6" hlink="hlink" folHlink="folHlink"/>
  <p:sldLayoutIdLst>
    <p:sldLayoutId id="2147483886" r:id="rId1"/>
    <p:sldLayoutId id="2147483887" r:id="rId2"/>
    <p:sldLayoutId id="2147483888" r:id="rId3"/>
    <p:sldLayoutId id="2147483889" r:id="rId4"/>
    <p:sldLayoutId id="2147483890" r:id="rId5"/>
    <p:sldLayoutId id="2147483891" r:id="rId6"/>
    <p:sldLayoutId id="2147483892" r:id="rId7"/>
    <p:sldLayoutId id="2147483893" r:id="rId8"/>
    <p:sldLayoutId id="2147483894" r:id="rId9"/>
    <p:sldLayoutId id="2147483895" r:id="rId10"/>
    <p:sldLayoutId id="2147483896" r:id="rId11"/>
  </p:sldLayoutIdLst>
  <p:hf hdr="0" dt="0"/>
  <p:txStyles>
    <p:titleStyle>
      <a:lvl1pPr algn="l" rtl="0" eaLnBrk="1" fontAlgn="base" hangingPunct="1">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1" fontAlgn="base" hangingPunct="1">
        <a:spcBef>
          <a:spcPct val="0"/>
        </a:spcBef>
        <a:spcAft>
          <a:spcPct val="0"/>
        </a:spcAft>
        <a:defRPr sz="4100" b="1">
          <a:solidFill>
            <a:schemeClr val="tx2"/>
          </a:solidFill>
          <a:latin typeface="Arial" charset="0"/>
        </a:defRPr>
      </a:lvl2pPr>
      <a:lvl3pPr algn="l" rtl="0" eaLnBrk="1" fontAlgn="base" hangingPunct="1">
        <a:spcBef>
          <a:spcPct val="0"/>
        </a:spcBef>
        <a:spcAft>
          <a:spcPct val="0"/>
        </a:spcAft>
        <a:defRPr sz="4100" b="1">
          <a:solidFill>
            <a:schemeClr val="tx2"/>
          </a:solidFill>
          <a:latin typeface="Arial" charset="0"/>
        </a:defRPr>
      </a:lvl3pPr>
      <a:lvl4pPr algn="l" rtl="0" eaLnBrk="1" fontAlgn="base" hangingPunct="1">
        <a:spcBef>
          <a:spcPct val="0"/>
        </a:spcBef>
        <a:spcAft>
          <a:spcPct val="0"/>
        </a:spcAft>
        <a:defRPr sz="4100" b="1">
          <a:solidFill>
            <a:schemeClr val="tx2"/>
          </a:solidFill>
          <a:latin typeface="Arial" charset="0"/>
        </a:defRPr>
      </a:lvl4pPr>
      <a:lvl5pPr algn="l" rtl="0" eaLnBrk="1" fontAlgn="base" hangingPunct="1">
        <a:spcBef>
          <a:spcPct val="0"/>
        </a:spcBef>
        <a:spcAft>
          <a:spcPct val="0"/>
        </a:spcAft>
        <a:defRPr sz="4100" b="1">
          <a:solidFill>
            <a:schemeClr val="tx2"/>
          </a:solidFill>
          <a:latin typeface="Arial" charset="0"/>
        </a:defRPr>
      </a:lvl5pPr>
      <a:lvl6pPr marL="457200" algn="l" rtl="0" eaLnBrk="1" fontAlgn="base" hangingPunct="1">
        <a:spcBef>
          <a:spcPct val="0"/>
        </a:spcBef>
        <a:spcAft>
          <a:spcPct val="0"/>
        </a:spcAft>
        <a:defRPr sz="4100" b="1">
          <a:solidFill>
            <a:schemeClr val="tx2"/>
          </a:solidFill>
          <a:latin typeface="Lucida Sans Unicode" pitchFamily="34" charset="0"/>
        </a:defRPr>
      </a:lvl6pPr>
      <a:lvl7pPr marL="914400" algn="l" rtl="0" eaLnBrk="1" fontAlgn="base" hangingPunct="1">
        <a:spcBef>
          <a:spcPct val="0"/>
        </a:spcBef>
        <a:spcAft>
          <a:spcPct val="0"/>
        </a:spcAft>
        <a:defRPr sz="4100" b="1">
          <a:solidFill>
            <a:schemeClr val="tx2"/>
          </a:solidFill>
          <a:latin typeface="Lucida Sans Unicode" pitchFamily="34" charset="0"/>
        </a:defRPr>
      </a:lvl7pPr>
      <a:lvl8pPr marL="1371600" algn="l" rtl="0" eaLnBrk="1" fontAlgn="base" hangingPunct="1">
        <a:spcBef>
          <a:spcPct val="0"/>
        </a:spcBef>
        <a:spcAft>
          <a:spcPct val="0"/>
        </a:spcAft>
        <a:defRPr sz="4100" b="1">
          <a:solidFill>
            <a:schemeClr val="tx2"/>
          </a:solidFill>
          <a:latin typeface="Lucida Sans Unicode" pitchFamily="34" charset="0"/>
        </a:defRPr>
      </a:lvl8pPr>
      <a:lvl9pPr marL="1828800" algn="l" rtl="0" eaLnBrk="1" fontAlgn="base" hangingPunct="1">
        <a:spcBef>
          <a:spcPct val="0"/>
        </a:spcBef>
        <a:spcAft>
          <a:spcPct val="0"/>
        </a:spcAft>
        <a:defRPr sz="4100" b="1">
          <a:solidFill>
            <a:schemeClr val="tx2"/>
          </a:solidFill>
          <a:latin typeface="Lucida Sans Unicode" pitchFamily="34" charset="0"/>
        </a:defRPr>
      </a:lvl9pPr>
      <a:extLst/>
    </p:titleStyle>
    <p:bodyStyle>
      <a:lvl1pPr marL="365125" indent="-255588" algn="l" rtl="0" eaLnBrk="1" fontAlgn="base" hangingPunct="1">
        <a:spcBef>
          <a:spcPts val="400"/>
        </a:spcBef>
        <a:spcAft>
          <a:spcPct val="0"/>
        </a:spcAft>
        <a:buClr>
          <a:schemeClr val="accent1"/>
        </a:buClr>
        <a:buSzPct val="68000"/>
        <a:buFont typeface="Wingdings 3" pitchFamily="18" charset="2"/>
        <a:buChar char=""/>
        <a:defRPr sz="2700" kern="1200">
          <a:solidFill>
            <a:schemeClr val="tx1"/>
          </a:solidFill>
          <a:latin typeface="+mn-lt"/>
          <a:ea typeface="+mn-ea"/>
          <a:cs typeface="+mn-cs"/>
        </a:defRPr>
      </a:lvl1pPr>
      <a:lvl2pPr marL="620713" indent="-228600" algn="l" rtl="0" eaLnBrk="1" fontAlgn="base" hangingPunct="1">
        <a:spcBef>
          <a:spcPts val="325"/>
        </a:spcBef>
        <a:spcAft>
          <a:spcPct val="0"/>
        </a:spcAft>
        <a:buClr>
          <a:schemeClr val="accent1"/>
        </a:buClr>
        <a:buFont typeface="Verdana" pitchFamily="34" charset="0"/>
        <a:buChar char="◦"/>
        <a:defRPr sz="2300" kern="1200">
          <a:solidFill>
            <a:schemeClr val="tx1"/>
          </a:solidFill>
          <a:latin typeface="+mn-lt"/>
          <a:ea typeface="+mn-ea"/>
          <a:cs typeface="+mn-cs"/>
        </a:defRPr>
      </a:lvl2pPr>
      <a:lvl3pPr marL="858838" indent="-228600" algn="l" rtl="0" eaLnBrk="1" fontAlgn="base" hangingPunct="1">
        <a:spcBef>
          <a:spcPts val="350"/>
        </a:spcBef>
        <a:spcAft>
          <a:spcPct val="0"/>
        </a:spcAft>
        <a:buClr>
          <a:schemeClr val="accent2"/>
        </a:buClr>
        <a:buSzPct val="100000"/>
        <a:buFont typeface="Wingdings 2" pitchFamily="18" charset="2"/>
        <a:buChar char=""/>
        <a:defRPr sz="2100" kern="1200">
          <a:solidFill>
            <a:schemeClr val="tx1"/>
          </a:solidFill>
          <a:latin typeface="+mn-lt"/>
          <a:ea typeface="+mn-ea"/>
          <a:cs typeface="+mn-cs"/>
        </a:defRPr>
      </a:lvl3pPr>
      <a:lvl4pPr marL="1143000" indent="-228600" algn="l" rtl="0" eaLnBrk="1" fontAlgn="base" hangingPunct="1">
        <a:spcBef>
          <a:spcPts val="350"/>
        </a:spcBef>
        <a:spcAft>
          <a:spcPct val="0"/>
        </a:spcAft>
        <a:buClr>
          <a:schemeClr val="accent2"/>
        </a:buClr>
        <a:buFont typeface="Wingdings 2" pitchFamily="18" charset="2"/>
        <a:buChar char=""/>
        <a:defRPr sz="1900" kern="1200">
          <a:solidFill>
            <a:schemeClr val="tx1"/>
          </a:solidFill>
          <a:latin typeface="+mn-lt"/>
          <a:ea typeface="+mn-ea"/>
          <a:cs typeface="+mn-cs"/>
        </a:defRPr>
      </a:lvl4pPr>
      <a:lvl5pPr marL="1371600" indent="-228600" algn="l" rtl="0" eaLnBrk="1" fontAlgn="base" hangingPunct="1">
        <a:spcBef>
          <a:spcPts val="350"/>
        </a:spcBef>
        <a:spcAft>
          <a:spcPct val="0"/>
        </a:spcAft>
        <a:buClr>
          <a:schemeClr val="accent2"/>
        </a:buClr>
        <a:buFont typeface="Wingdings 2" pitchFamily="18" charset="2"/>
        <a:buChar char=""/>
        <a:defRPr sz="20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0" y="1600200"/>
            <a:ext cx="9144000" cy="1349375"/>
          </a:xfrm>
        </p:spPr>
        <p:txBody>
          <a:bodyPr>
            <a:noAutofit/>
          </a:bodyPr>
          <a:lstStyle/>
          <a:p>
            <a:pPr fontAlgn="auto">
              <a:spcAft>
                <a:spcPts val="0"/>
              </a:spcAft>
              <a:defRPr/>
            </a:pPr>
            <a:r>
              <a:rPr>
                <a:effectLst>
                  <a:outerShdw blurRad="38100" dist="38100" dir="2700000" algn="tl">
                    <a:srgbClr val="FFFFFF"/>
                  </a:outerShdw>
                </a:effectLst>
                <a:latin typeface="Arial Rounded MT Bold" pitchFamily="34" charset="0"/>
              </a:rPr>
              <a:t>Chapter </a:t>
            </a:r>
            <a:r>
              <a:rPr lang="en-US" dirty="0">
                <a:effectLst>
                  <a:outerShdw blurRad="38100" dist="38100" dir="2700000" algn="tl">
                    <a:srgbClr val="FFFFFF"/>
                  </a:outerShdw>
                </a:effectLst>
                <a:latin typeface="Arial Rounded MT Bold" pitchFamily="34" charset="0"/>
              </a:rPr>
              <a:t>2</a:t>
            </a:r>
            <a:r>
              <a:rPr>
                <a:effectLst>
                  <a:outerShdw blurRad="38100" dist="38100" dir="2700000" algn="tl">
                    <a:srgbClr val="FFFFFF"/>
                  </a:outerShdw>
                </a:effectLst>
                <a:latin typeface="Arial Rounded MT Bold" pitchFamily="34" charset="0"/>
              </a:rPr>
              <a:t>:</a:t>
            </a:r>
            <a:br>
              <a:rPr>
                <a:effectLst>
                  <a:outerShdw blurRad="38100" dist="38100" dir="2700000" algn="tl">
                    <a:srgbClr val="FFFFFF"/>
                  </a:outerShdw>
                </a:effectLst>
                <a:latin typeface="Arial Rounded MT Bold" pitchFamily="34" charset="0"/>
              </a:rPr>
            </a:br>
            <a:r>
              <a:rPr lang="en-US" sz="4400" dirty="0">
                <a:effectLst>
                  <a:outerShdw blurRad="38100" dist="38100" dir="2700000" algn="tl">
                    <a:srgbClr val="FFFFFF"/>
                  </a:outerShdw>
                </a:effectLst>
                <a:latin typeface="Arial Rounded MT Bold" pitchFamily="34" charset="0"/>
              </a:rPr>
              <a:t>The Project Management and Information Technology Context</a:t>
            </a:r>
            <a:endParaRPr>
              <a:effectLst>
                <a:outerShdw blurRad="38100" dist="38100" dir="2700000" algn="tl">
                  <a:srgbClr val="FFFFFF"/>
                </a:outerShdw>
              </a:effectLst>
              <a:latin typeface="Arial Rounded MT Bold" pitchFamily="34" charset="0"/>
            </a:endParaRPr>
          </a:p>
        </p:txBody>
      </p:sp>
      <p:sp>
        <p:nvSpPr>
          <p:cNvPr id="3075" name="Rectangle 3"/>
          <p:cNvSpPr>
            <a:spLocks noChangeArrowheads="1"/>
          </p:cNvSpPr>
          <p:nvPr/>
        </p:nvSpPr>
        <p:spPr bwMode="auto">
          <a:xfrm>
            <a:off x="152400" y="3657600"/>
            <a:ext cx="5791200" cy="1349375"/>
          </a:xfrm>
          <a:prstGeom prst="rect">
            <a:avLst/>
          </a:prstGeom>
          <a:noFill/>
          <a:ln w="9525">
            <a:noFill/>
            <a:miter lim="800000"/>
            <a:headEnd/>
            <a:tailEnd/>
          </a:ln>
          <a:effectLst/>
        </p:spPr>
        <p:txBody>
          <a:bodyPr/>
          <a:lstStyle/>
          <a:p>
            <a:pPr>
              <a:defRPr/>
            </a:pPr>
            <a:r>
              <a:rPr lang="en-US" sz="2800" b="1" dirty="0">
                <a:solidFill>
                  <a:schemeClr val="tx2"/>
                </a:solidFill>
                <a:effectLst>
                  <a:outerShdw blurRad="38100" dist="38100" dir="2700000" algn="tl">
                    <a:srgbClr val="FFFFFF"/>
                  </a:outerShdw>
                </a:effectLst>
                <a:latin typeface="Arial Rounded MT Bold" pitchFamily="34" charset="0"/>
                <a:ea typeface="+mj-ea"/>
                <a:cs typeface="+mj-cs"/>
              </a:rPr>
              <a:t>Information Technology Project Management, Seventh Edition</a:t>
            </a:r>
          </a:p>
        </p:txBody>
      </p:sp>
      <p:sp>
        <p:nvSpPr>
          <p:cNvPr id="6" name="TextBox 5"/>
          <p:cNvSpPr txBox="1"/>
          <p:nvPr/>
        </p:nvSpPr>
        <p:spPr>
          <a:xfrm>
            <a:off x="304800" y="5791200"/>
            <a:ext cx="4793300" cy="430887"/>
          </a:xfrm>
          <a:prstGeom prst="rect">
            <a:avLst/>
          </a:prstGeom>
          <a:noFill/>
        </p:spPr>
        <p:txBody>
          <a:bodyPr wrap="none" rtlCol="0">
            <a:spAutoFit/>
          </a:bodyPr>
          <a:lstStyle/>
          <a:p>
            <a:r>
              <a:rPr lang="en-US" dirty="0"/>
              <a:t>Note: See the text itself for full citations.</a:t>
            </a:r>
          </a:p>
        </p:txBody>
      </p:sp>
      <p:pic>
        <p:nvPicPr>
          <p:cNvPr id="7" name="Picture 5" descr="Information Technology Project Managemen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0153" y="3034843"/>
            <a:ext cx="2971800" cy="2971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3" name="Rectangle 3"/>
          <p:cNvSpPr>
            <a:spLocks noGrp="1" noChangeArrowheads="1"/>
          </p:cNvSpPr>
          <p:nvPr>
            <p:ph idx="1"/>
          </p:nvPr>
        </p:nvSpPr>
        <p:spPr/>
        <p:txBody>
          <a:bodyPr/>
          <a:lstStyle/>
          <a:p>
            <a:r>
              <a:rPr lang="en-US" dirty="0"/>
              <a:t>Projects must operate in a broad organizational environment</a:t>
            </a:r>
          </a:p>
          <a:p>
            <a:r>
              <a:rPr lang="en-US" dirty="0"/>
              <a:t>Project managers need to use </a:t>
            </a:r>
            <a:r>
              <a:rPr lang="en-US" b="1" dirty="0"/>
              <a:t>systems thinking:</a:t>
            </a:r>
          </a:p>
          <a:p>
            <a:pPr lvl="1"/>
            <a:r>
              <a:rPr lang="en-US" dirty="0"/>
              <a:t>taking a holistic view of carrying out projects within the context of the organization</a:t>
            </a:r>
          </a:p>
          <a:p>
            <a:r>
              <a:rPr lang="en-US" dirty="0"/>
              <a:t>Senior managers must make sure projects continue to support current business needs</a:t>
            </a:r>
          </a:p>
          <a:p>
            <a:endParaRPr lang="en-US" dirty="0"/>
          </a:p>
        </p:txBody>
      </p:sp>
      <p:sp>
        <p:nvSpPr>
          <p:cNvPr id="12292" name="Rectangle 2"/>
          <p:cNvSpPr>
            <a:spLocks noGrp="1" noChangeArrowheads="1"/>
          </p:cNvSpPr>
          <p:nvPr>
            <p:ph type="title"/>
          </p:nvPr>
        </p:nvSpPr>
        <p:spPr>
          <a:xfrm>
            <a:off x="304800" y="228600"/>
            <a:ext cx="8839200" cy="1143000"/>
          </a:xfrm>
        </p:spPr>
        <p:txBody>
          <a:bodyPr>
            <a:normAutofit fontScale="90000"/>
          </a:bodyPr>
          <a:lstStyle/>
          <a:p>
            <a:r>
              <a:rPr lang="en-US" dirty="0"/>
              <a:t>Projects Cannot Be Run</a:t>
            </a:r>
            <a:br>
              <a:rPr lang="en-US" dirty="0"/>
            </a:br>
            <a:r>
              <a:rPr lang="en-US" dirty="0"/>
              <a:t>In Isolation</a:t>
            </a:r>
          </a:p>
        </p:txBody>
      </p:sp>
      <p:sp>
        <p:nvSpPr>
          <p:cNvPr id="12290" name="Footer Placeholder 3"/>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EB3A963B-2A76-42DC-B4A5-25130FB0888A}" type="slidenum">
              <a:rPr lang="en-US"/>
              <a:pPr>
                <a:defRPr/>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7" name="Rectangle 3"/>
          <p:cNvSpPr>
            <a:spLocks noGrp="1" noChangeArrowheads="1"/>
          </p:cNvSpPr>
          <p:nvPr>
            <p:ph idx="1"/>
          </p:nvPr>
        </p:nvSpPr>
        <p:spPr>
          <a:xfrm>
            <a:off x="381000" y="1295400"/>
            <a:ext cx="8458200" cy="4572000"/>
          </a:xfrm>
        </p:spPr>
        <p:txBody>
          <a:bodyPr/>
          <a:lstStyle/>
          <a:p>
            <a:pPr>
              <a:lnSpc>
                <a:spcPct val="90000"/>
              </a:lnSpc>
            </a:pPr>
            <a:r>
              <a:rPr lang="en-US" dirty="0"/>
              <a:t>A </a:t>
            </a:r>
            <a:r>
              <a:rPr lang="en-US" b="1" dirty="0"/>
              <a:t>systems approach </a:t>
            </a:r>
            <a:r>
              <a:rPr lang="en-US" dirty="0"/>
              <a:t>emerged in the 1950s to describe a more analytical approach to management and problem solving</a:t>
            </a:r>
          </a:p>
          <a:p>
            <a:pPr>
              <a:lnSpc>
                <a:spcPct val="90000"/>
              </a:lnSpc>
            </a:pPr>
            <a:r>
              <a:rPr lang="en-US" dirty="0"/>
              <a:t>Three parts include:</a:t>
            </a:r>
          </a:p>
          <a:p>
            <a:pPr lvl="1">
              <a:lnSpc>
                <a:spcPct val="90000"/>
              </a:lnSpc>
            </a:pPr>
            <a:r>
              <a:rPr lang="en-US" b="1" dirty="0"/>
              <a:t>Systems philosophy</a:t>
            </a:r>
            <a:r>
              <a:rPr lang="en-US" dirty="0"/>
              <a:t>: an overall model for thinking about things as systems</a:t>
            </a:r>
          </a:p>
          <a:p>
            <a:pPr lvl="1">
              <a:lnSpc>
                <a:spcPct val="90000"/>
              </a:lnSpc>
            </a:pPr>
            <a:r>
              <a:rPr lang="en-US" b="1" dirty="0"/>
              <a:t>Systems analysis</a:t>
            </a:r>
            <a:r>
              <a:rPr lang="en-US" dirty="0"/>
              <a:t>: problem-solving approach</a:t>
            </a:r>
          </a:p>
          <a:p>
            <a:pPr lvl="1">
              <a:lnSpc>
                <a:spcPct val="90000"/>
              </a:lnSpc>
            </a:pPr>
            <a:r>
              <a:rPr lang="en-US" b="1" dirty="0"/>
              <a:t>Systems management</a:t>
            </a:r>
            <a:r>
              <a:rPr lang="en-US" dirty="0"/>
              <a:t>: address business, technological, and organizational issues before making changes to systems</a:t>
            </a:r>
          </a:p>
        </p:txBody>
      </p:sp>
      <p:sp>
        <p:nvSpPr>
          <p:cNvPr id="13316" name="Rectangle 2"/>
          <p:cNvSpPr>
            <a:spLocks noGrp="1" noChangeArrowheads="1"/>
          </p:cNvSpPr>
          <p:nvPr>
            <p:ph type="title"/>
          </p:nvPr>
        </p:nvSpPr>
        <p:spPr>
          <a:xfrm>
            <a:off x="304800" y="152400"/>
            <a:ext cx="8839200" cy="1143000"/>
          </a:xfrm>
        </p:spPr>
        <p:txBody>
          <a:bodyPr>
            <a:normAutofit fontScale="90000"/>
          </a:bodyPr>
          <a:lstStyle/>
          <a:p>
            <a:r>
              <a:rPr lang="en-US" dirty="0"/>
              <a:t>A Systems View of Project Management</a:t>
            </a:r>
          </a:p>
        </p:txBody>
      </p:sp>
      <p:sp>
        <p:nvSpPr>
          <p:cNvPr id="13314" name="Footer Placeholder 3"/>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51C533D4-6C77-4C28-9310-1A48D750367A}" type="slidenum">
              <a:rPr lang="en-US"/>
              <a:pPr>
                <a:defRPr/>
              </a:pPr>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normAutofit fontScale="90000"/>
          </a:bodyPr>
          <a:lstStyle/>
          <a:p>
            <a:r>
              <a:rPr lang="en-US" dirty="0"/>
              <a:t>Figure 2-1. Three Sphere Model for Systems Management</a:t>
            </a:r>
          </a:p>
        </p:txBody>
      </p:sp>
      <p:sp>
        <p:nvSpPr>
          <p:cNvPr id="7" name="Footer Placeholder 6"/>
          <p:cNvSpPr>
            <a:spLocks noGrp="1"/>
          </p:cNvSpPr>
          <p:nvPr>
            <p:ph type="ftr" sz="quarter" idx="10"/>
          </p:nvPr>
        </p:nvSpPr>
        <p:spPr/>
        <p:txBody>
          <a:body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0BD84499-56DB-4FF3-8D99-174F9EB97545}" type="slidenum">
              <a:rPr lang="en-US" smtClean="0"/>
              <a:pPr>
                <a:defRPr/>
              </a:pPr>
              <a:t>4</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1557048"/>
            <a:ext cx="6781800" cy="483065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2"/>
          <p:cNvSpPr>
            <a:spLocks noGrp="1" noChangeArrowheads="1"/>
          </p:cNvSpPr>
          <p:nvPr>
            <p:ph type="title"/>
          </p:nvPr>
        </p:nvSpPr>
        <p:spPr>
          <a:xfrm>
            <a:off x="228600" y="228600"/>
            <a:ext cx="8915400" cy="685800"/>
          </a:xfrm>
        </p:spPr>
        <p:txBody>
          <a:bodyPr>
            <a:normAutofit fontScale="90000"/>
          </a:bodyPr>
          <a:lstStyle/>
          <a:p>
            <a:r>
              <a:rPr lang="en-US" dirty="0"/>
              <a:t>Figure 2-2. Perspectives on Organizations</a:t>
            </a:r>
          </a:p>
        </p:txBody>
      </p:sp>
      <p:sp>
        <p:nvSpPr>
          <p:cNvPr id="16386" name="Footer Placeholder 3"/>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12" name="Slide Number Placeholder 4"/>
          <p:cNvSpPr>
            <a:spLocks noGrp="1"/>
          </p:cNvSpPr>
          <p:nvPr>
            <p:ph type="sldNum" sz="quarter" idx="11"/>
          </p:nvPr>
        </p:nvSpPr>
        <p:spPr/>
        <p:txBody>
          <a:bodyPr/>
          <a:lstStyle/>
          <a:p>
            <a:pPr>
              <a:defRPr/>
            </a:pPr>
            <a:fld id="{54D9EE01-122A-4F6B-878B-46264A60159F}" type="slidenum">
              <a:rPr lang="en-US"/>
              <a:pPr>
                <a:defRPr/>
              </a:pPr>
              <a:t>5</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1317491"/>
            <a:ext cx="8456096" cy="498551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7" name="Rectangle 3"/>
          <p:cNvSpPr>
            <a:spLocks noGrp="1" noChangeArrowheads="1"/>
          </p:cNvSpPr>
          <p:nvPr>
            <p:ph idx="1"/>
          </p:nvPr>
        </p:nvSpPr>
        <p:spPr/>
        <p:txBody>
          <a:bodyPr/>
          <a:lstStyle/>
          <a:p>
            <a:r>
              <a:rPr lang="en-US" dirty="0"/>
              <a:t>3 basic organization structures</a:t>
            </a:r>
          </a:p>
          <a:p>
            <a:pPr lvl="1"/>
            <a:r>
              <a:rPr lang="en-US" sz="2800" b="1" dirty="0"/>
              <a:t>Functional:</a:t>
            </a:r>
            <a:r>
              <a:rPr lang="en-US" sz="2800" dirty="0"/>
              <a:t> functional managers report to the CEO</a:t>
            </a:r>
          </a:p>
          <a:p>
            <a:pPr lvl="1"/>
            <a:r>
              <a:rPr lang="en-US" sz="2800" b="1" dirty="0"/>
              <a:t>Project:</a:t>
            </a:r>
            <a:r>
              <a:rPr lang="en-US" sz="2800" dirty="0"/>
              <a:t> program managers report to the CEO</a:t>
            </a:r>
          </a:p>
          <a:p>
            <a:pPr lvl="1"/>
            <a:r>
              <a:rPr lang="en-US" sz="2800" b="1" dirty="0"/>
              <a:t>Matrix:</a:t>
            </a:r>
            <a:r>
              <a:rPr lang="en-US" sz="2800" dirty="0"/>
              <a:t> middle ground between functional and project structures; personnel often report to two or more bosses; structure can be weak, balanced, or strong matrix</a:t>
            </a:r>
          </a:p>
        </p:txBody>
      </p:sp>
      <p:sp>
        <p:nvSpPr>
          <p:cNvPr id="18436" name="Rectangle 2"/>
          <p:cNvSpPr>
            <a:spLocks noGrp="1" noChangeArrowheads="1"/>
          </p:cNvSpPr>
          <p:nvPr>
            <p:ph type="title"/>
          </p:nvPr>
        </p:nvSpPr>
        <p:spPr/>
        <p:txBody>
          <a:bodyPr/>
          <a:lstStyle/>
          <a:p>
            <a:r>
              <a:rPr lang="en-US" dirty="0"/>
              <a:t>Organizational Structures</a:t>
            </a:r>
          </a:p>
        </p:txBody>
      </p:sp>
      <p:sp>
        <p:nvSpPr>
          <p:cNvPr id="18434" name="Footer Placeholder 3"/>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C4723D0A-DC20-4FDC-880A-596289672AA3}" type="slidenum">
              <a:rPr lang="en-US"/>
              <a:pPr>
                <a:defRPr/>
              </a:pPr>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457199" y="145330"/>
            <a:ext cx="8229600" cy="1143000"/>
          </a:xfrm>
        </p:spPr>
        <p:txBody>
          <a:bodyPr>
            <a:normAutofit fontScale="90000"/>
          </a:bodyPr>
          <a:lstStyle/>
          <a:p>
            <a:r>
              <a:rPr lang="en-US" sz="3600" dirty="0"/>
              <a:t>Figure 2-3. Functional, Project, and Matrix Organizational Structures</a:t>
            </a:r>
          </a:p>
        </p:txBody>
      </p:sp>
      <p:sp>
        <p:nvSpPr>
          <p:cNvPr id="19460" name="Footer Placeholder 3"/>
          <p:cNvSpPr>
            <a:spLocks noGrp="1"/>
          </p:cNvSpPr>
          <p:nvPr>
            <p:ph type="ftr" sz="quarter" idx="10"/>
          </p:nvPr>
        </p:nvSpPr>
        <p:spPr bwMode="auto">
          <a:noFill/>
          <a:ln>
            <a:miter lim="800000"/>
            <a:headEnd/>
            <a:tailEnd/>
          </a:ln>
        </p:spPr>
        <p:txBody>
          <a:bodyPr/>
          <a:lstStyle/>
          <a:p>
            <a:pPr algn="r">
              <a:buFontTx/>
              <a:buNone/>
            </a:pPr>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0BD84499-56DB-4FF3-8D99-174F9EB97545}" type="slidenum">
              <a:rPr lang="en-US" smtClean="0"/>
              <a:pPr>
                <a:defRPr/>
              </a:pPr>
              <a:t>7</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3341" y="1295400"/>
            <a:ext cx="4957317" cy="505487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 name="Rectangle 2"/>
          <p:cNvSpPr>
            <a:spLocks noGrp="1" noChangeArrowheads="1"/>
          </p:cNvSpPr>
          <p:nvPr>
            <p:ph type="title"/>
          </p:nvPr>
        </p:nvSpPr>
        <p:spPr>
          <a:xfrm>
            <a:off x="381000" y="152400"/>
            <a:ext cx="8305800" cy="1143000"/>
          </a:xfrm>
        </p:spPr>
        <p:txBody>
          <a:bodyPr>
            <a:normAutofit fontScale="90000"/>
          </a:bodyPr>
          <a:lstStyle/>
          <a:p>
            <a:r>
              <a:rPr lang="en-US" sz="3600" dirty="0"/>
              <a:t>Table 2-1.  Organizational Structure Influences on Projects</a:t>
            </a:r>
            <a:endParaRPr lang="en-US" sz="4400" dirty="0"/>
          </a:p>
        </p:txBody>
      </p:sp>
      <p:sp>
        <p:nvSpPr>
          <p:cNvPr id="1027" name="Footer Placeholder 3"/>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4941097B-8DCA-4F4B-82F9-5CA08C941AAF}" type="slidenum">
              <a:rPr lang="en-US"/>
              <a:pPr>
                <a:defRPr/>
              </a:pPr>
              <a:t>8</a:t>
            </a:fld>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219200"/>
            <a:ext cx="7357110" cy="507362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5" name="Rectangle 3"/>
          <p:cNvSpPr>
            <a:spLocks noGrp="1" noChangeArrowheads="1"/>
          </p:cNvSpPr>
          <p:nvPr>
            <p:ph idx="1"/>
          </p:nvPr>
        </p:nvSpPr>
        <p:spPr/>
        <p:txBody>
          <a:bodyPr/>
          <a:lstStyle/>
          <a:p>
            <a:r>
              <a:rPr lang="en-US" b="1" dirty="0"/>
              <a:t>Organizational culture</a:t>
            </a:r>
            <a:r>
              <a:rPr lang="en-US" dirty="0"/>
              <a:t> is a set of shared assumptions, values, and behaviors that characterize the functioning of an organization</a:t>
            </a:r>
          </a:p>
          <a:p>
            <a:r>
              <a:rPr lang="en-US" dirty="0"/>
              <a:t>Many experts believe the underlying causes of many companies’ problems are not the structure or staff, but the culture</a:t>
            </a:r>
          </a:p>
          <a:p>
            <a:endParaRPr lang="en-US" dirty="0"/>
          </a:p>
        </p:txBody>
      </p:sp>
      <p:sp>
        <p:nvSpPr>
          <p:cNvPr id="20484" name="Rectangle 2"/>
          <p:cNvSpPr>
            <a:spLocks noGrp="1" noChangeArrowheads="1"/>
          </p:cNvSpPr>
          <p:nvPr>
            <p:ph type="title"/>
          </p:nvPr>
        </p:nvSpPr>
        <p:spPr/>
        <p:txBody>
          <a:bodyPr/>
          <a:lstStyle/>
          <a:p>
            <a:r>
              <a:rPr lang="en-US" dirty="0"/>
              <a:t>Organizational Culture</a:t>
            </a:r>
          </a:p>
        </p:txBody>
      </p:sp>
      <p:sp>
        <p:nvSpPr>
          <p:cNvPr id="20482" name="Footer Placeholder 3"/>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6C8CAC95-EB76-4381-B468-1459D202A00B}" type="slidenum">
              <a:rPr lang="en-US"/>
              <a:pPr>
                <a:defRPr/>
              </a:pPr>
              <a:t>9</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5"/>
          <p:cNvSpPr>
            <a:spLocks noGrp="1" noChangeArrowheads="1"/>
          </p:cNvSpPr>
          <p:nvPr>
            <p:ph idx="1"/>
          </p:nvPr>
        </p:nvSpPr>
        <p:spPr/>
        <p:txBody>
          <a:bodyPr/>
          <a:lstStyle/>
          <a:p>
            <a:r>
              <a:rPr lang="en-US" dirty="0"/>
              <a:t>Member identity*</a:t>
            </a:r>
          </a:p>
          <a:p>
            <a:r>
              <a:rPr lang="en-US" dirty="0"/>
              <a:t>Group emphasis*</a:t>
            </a:r>
          </a:p>
          <a:p>
            <a:r>
              <a:rPr lang="en-US" dirty="0"/>
              <a:t>People focus</a:t>
            </a:r>
          </a:p>
          <a:p>
            <a:r>
              <a:rPr lang="en-US" dirty="0"/>
              <a:t>Unit integration*</a:t>
            </a:r>
          </a:p>
          <a:p>
            <a:r>
              <a:rPr lang="en-US" dirty="0"/>
              <a:t>Control</a:t>
            </a:r>
          </a:p>
        </p:txBody>
      </p:sp>
      <p:sp>
        <p:nvSpPr>
          <p:cNvPr id="21506" name="Rectangle 4"/>
          <p:cNvSpPr>
            <a:spLocks noGrp="1" noChangeArrowheads="1"/>
          </p:cNvSpPr>
          <p:nvPr>
            <p:ph type="title"/>
          </p:nvPr>
        </p:nvSpPr>
        <p:spPr/>
        <p:txBody>
          <a:bodyPr>
            <a:normAutofit fontScale="90000"/>
          </a:bodyPr>
          <a:lstStyle/>
          <a:p>
            <a:r>
              <a:rPr lang="en-US" dirty="0"/>
              <a:t>Ten Characteristics of Organizational Culture</a:t>
            </a:r>
          </a:p>
        </p:txBody>
      </p:sp>
      <p:sp>
        <p:nvSpPr>
          <p:cNvPr id="21512" name="Footer Placeholder 8"/>
          <p:cNvSpPr>
            <a:spLocks noGrp="1"/>
          </p:cNvSpPr>
          <p:nvPr>
            <p:ph type="ftr" sz="quarter" idx="10"/>
          </p:nvPr>
        </p:nvSpPr>
        <p:spPr bwMode="auto">
          <a:noFill/>
          <a:ln>
            <a:miter lim="800000"/>
            <a:headEnd/>
            <a:tailEnd/>
          </a:ln>
        </p:spPr>
        <p:txBody>
          <a:bodyPr/>
          <a:lstStyle/>
          <a:p>
            <a:pPr>
              <a:buFontTx/>
              <a:buNone/>
            </a:pPr>
            <a:r>
              <a:rPr lang="en-US"/>
              <a:t>Information Technology Project Management, Seventh Edition</a:t>
            </a:r>
            <a:endParaRPr lang="en-US" dirty="0"/>
          </a:p>
        </p:txBody>
      </p:sp>
      <p:sp>
        <p:nvSpPr>
          <p:cNvPr id="8" name="Slide Number Placeholder 7"/>
          <p:cNvSpPr>
            <a:spLocks noGrp="1"/>
          </p:cNvSpPr>
          <p:nvPr>
            <p:ph type="sldNum" sz="quarter" idx="11"/>
          </p:nvPr>
        </p:nvSpPr>
        <p:spPr/>
        <p:txBody>
          <a:bodyPr/>
          <a:lstStyle/>
          <a:p>
            <a:pPr>
              <a:buFontTx/>
              <a:buNone/>
              <a:defRPr/>
            </a:pPr>
            <a:fld id="{23679D00-0FE1-4DFA-BD83-BBDAA061D085}" type="slidenum">
              <a:rPr lang="en-US" smtClean="0"/>
              <a:pPr>
                <a:buFontTx/>
                <a:buNone/>
                <a:defRPr/>
              </a:pPr>
              <a:t>10</a:t>
            </a:fld>
            <a:endParaRPr lang="en-US" dirty="0"/>
          </a:p>
        </p:txBody>
      </p:sp>
      <p:sp>
        <p:nvSpPr>
          <p:cNvPr id="21508" name="Rectangle 6"/>
          <p:cNvSpPr>
            <a:spLocks noGrp="1" noChangeArrowheads="1"/>
          </p:cNvSpPr>
          <p:nvPr>
            <p:ph sz="half" idx="4294967295"/>
          </p:nvPr>
        </p:nvSpPr>
        <p:spPr>
          <a:xfrm>
            <a:off x="5105400" y="1481138"/>
            <a:ext cx="4038600" cy="4525962"/>
          </a:xfrm>
        </p:spPr>
        <p:txBody>
          <a:bodyPr/>
          <a:lstStyle/>
          <a:p>
            <a:r>
              <a:rPr lang="en-US" dirty="0"/>
              <a:t>Risk tolerance*</a:t>
            </a:r>
          </a:p>
          <a:p>
            <a:r>
              <a:rPr lang="en-US" dirty="0"/>
              <a:t>Reward criteria*</a:t>
            </a:r>
          </a:p>
          <a:p>
            <a:r>
              <a:rPr lang="en-US" dirty="0"/>
              <a:t>Conflict tolerance*</a:t>
            </a:r>
          </a:p>
          <a:p>
            <a:r>
              <a:rPr lang="en-US" dirty="0"/>
              <a:t>Means-ends orientation</a:t>
            </a:r>
          </a:p>
          <a:p>
            <a:r>
              <a:rPr lang="en-US" dirty="0"/>
              <a:t>Open-systems focus*</a:t>
            </a:r>
          </a:p>
        </p:txBody>
      </p:sp>
      <p:sp>
        <p:nvSpPr>
          <p:cNvPr id="21509" name="Rectangle 7"/>
          <p:cNvSpPr>
            <a:spLocks noChangeArrowheads="1"/>
          </p:cNvSpPr>
          <p:nvPr/>
        </p:nvSpPr>
        <p:spPr bwMode="auto">
          <a:xfrm>
            <a:off x="304800" y="4419600"/>
            <a:ext cx="8458200" cy="1373188"/>
          </a:xfrm>
          <a:prstGeom prst="rect">
            <a:avLst/>
          </a:prstGeom>
          <a:noFill/>
          <a:ln w="9525">
            <a:noFill/>
            <a:miter lim="800000"/>
            <a:headEnd/>
            <a:tailEnd/>
          </a:ln>
        </p:spPr>
        <p:txBody>
          <a:bodyPr anchor="ctr">
            <a:spAutoFit/>
          </a:bodyPr>
          <a:lstStyle/>
          <a:p>
            <a:r>
              <a:rPr lang="en-US" sz="2800" dirty="0"/>
              <a:t>*Project work is most successful in an organizational culture where these items are strong/high and other items are balanced.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3" name="Rectangle 3"/>
          <p:cNvSpPr>
            <a:spLocks noGrp="1" noChangeArrowheads="1"/>
          </p:cNvSpPr>
          <p:nvPr>
            <p:ph idx="1"/>
          </p:nvPr>
        </p:nvSpPr>
        <p:spPr>
          <a:xfrm>
            <a:off x="609600" y="1295400"/>
            <a:ext cx="8186738" cy="4791075"/>
          </a:xfrm>
        </p:spPr>
        <p:txBody>
          <a:bodyPr/>
          <a:lstStyle/>
          <a:p>
            <a:r>
              <a:rPr lang="en-US" dirty="0"/>
              <a:t>Project managers must take time to identify, understand, and manage relationships with all project stakeholders</a:t>
            </a:r>
          </a:p>
          <a:p>
            <a:r>
              <a:rPr lang="en-US" dirty="0"/>
              <a:t>Using the four frames of organizations can help meet stakeholder needs and expectations</a:t>
            </a:r>
          </a:p>
          <a:p>
            <a:r>
              <a:rPr lang="en-US" dirty="0"/>
              <a:t>Senior executives/top management are very important stakeholders</a:t>
            </a:r>
          </a:p>
          <a:p>
            <a:r>
              <a:rPr lang="en-US" dirty="0"/>
              <a:t>See Chapter 13, Project Stakeholder Management, for more information</a:t>
            </a:r>
          </a:p>
          <a:p>
            <a:pPr>
              <a:buFontTx/>
              <a:buNone/>
            </a:pPr>
            <a:endParaRPr lang="en-US" dirty="0"/>
          </a:p>
        </p:txBody>
      </p:sp>
      <p:sp>
        <p:nvSpPr>
          <p:cNvPr id="22532" name="Rectangle 2"/>
          <p:cNvSpPr>
            <a:spLocks noGrp="1" noChangeArrowheads="1"/>
          </p:cNvSpPr>
          <p:nvPr>
            <p:ph type="title"/>
          </p:nvPr>
        </p:nvSpPr>
        <p:spPr>
          <a:xfrm>
            <a:off x="381000" y="274638"/>
            <a:ext cx="8305800" cy="868362"/>
          </a:xfrm>
        </p:spPr>
        <p:txBody>
          <a:bodyPr/>
          <a:lstStyle/>
          <a:p>
            <a:r>
              <a:rPr lang="en-US" dirty="0"/>
              <a:t>Stakeholder Management</a:t>
            </a:r>
          </a:p>
        </p:txBody>
      </p:sp>
      <p:sp>
        <p:nvSpPr>
          <p:cNvPr id="22530" name="Footer Placeholder 3"/>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BE03C56F-5C73-4B50-B727-45D4BBD1A5BA}" type="slidenum">
              <a:rPr lang="en-US"/>
              <a:pPr>
                <a:defRPr/>
              </a:pPr>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1447800"/>
            <a:ext cx="8686800" cy="4525962"/>
          </a:xfrm>
        </p:spPr>
        <p:txBody>
          <a:bodyPr/>
          <a:lstStyle/>
          <a:p>
            <a:r>
              <a:rPr lang="en-US" dirty="0"/>
              <a:t>People in top management positions are key stakeholders in projects</a:t>
            </a:r>
          </a:p>
          <a:p>
            <a:r>
              <a:rPr lang="en-US" dirty="0"/>
              <a:t> A very important factor in helping project managers successfully lead projects is the level of commitment and support they receive from top management</a:t>
            </a:r>
          </a:p>
          <a:p>
            <a:r>
              <a:rPr lang="en-US" dirty="0"/>
              <a:t>Without top management commitment, many projects will fail.</a:t>
            </a:r>
          </a:p>
          <a:p>
            <a:r>
              <a:rPr lang="en-US" dirty="0"/>
              <a:t>Some projects have a senior manager called a </a:t>
            </a:r>
            <a:r>
              <a:rPr lang="en-US" b="1" dirty="0"/>
              <a:t>champion</a:t>
            </a:r>
            <a:r>
              <a:rPr lang="en-US" dirty="0"/>
              <a:t> who acts as a key proponent for a project.</a:t>
            </a:r>
          </a:p>
          <a:p>
            <a:endParaRPr lang="en-US" dirty="0"/>
          </a:p>
        </p:txBody>
      </p:sp>
      <p:sp>
        <p:nvSpPr>
          <p:cNvPr id="3" name="Title 2"/>
          <p:cNvSpPr>
            <a:spLocks noGrp="1"/>
          </p:cNvSpPr>
          <p:nvPr>
            <p:ph type="title"/>
          </p:nvPr>
        </p:nvSpPr>
        <p:spPr/>
        <p:txBody>
          <a:bodyPr>
            <a:normAutofit fontScale="90000"/>
          </a:bodyPr>
          <a:lstStyle/>
          <a:p>
            <a:r>
              <a:rPr lang="en-US" dirty="0"/>
              <a:t>The Importance of Top Management Commitment</a:t>
            </a:r>
          </a:p>
        </p:txBody>
      </p:sp>
      <p:sp>
        <p:nvSpPr>
          <p:cNvPr id="4" name="Footer Placeholder 3"/>
          <p:cNvSpPr>
            <a:spLocks noGrp="1"/>
          </p:cNvSpPr>
          <p:nvPr>
            <p:ph type="ftr" sz="quarter" idx="10"/>
          </p:nvPr>
        </p:nvSpPr>
        <p:spPr/>
        <p:txBody>
          <a:bodyPr/>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D4FD9659-824B-46C0-8A9A-C90F38C1F825}" type="slidenum">
              <a:rPr lang="en-US" smtClean="0"/>
              <a:pPr>
                <a:defRPr/>
              </a:pPr>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9" name="Rectangle 3"/>
          <p:cNvSpPr>
            <a:spLocks noGrp="1" noChangeArrowheads="1"/>
          </p:cNvSpPr>
          <p:nvPr>
            <p:ph idx="1"/>
          </p:nvPr>
        </p:nvSpPr>
        <p:spPr/>
        <p:txBody>
          <a:bodyPr/>
          <a:lstStyle/>
          <a:p>
            <a:pPr>
              <a:lnSpc>
                <a:spcPct val="90000"/>
              </a:lnSpc>
            </a:pPr>
            <a:r>
              <a:rPr lang="en-US" dirty="0"/>
              <a:t>A </a:t>
            </a:r>
            <a:r>
              <a:rPr lang="en-US" b="1" dirty="0"/>
              <a:t>project life cycle</a:t>
            </a:r>
            <a:r>
              <a:rPr lang="en-US" dirty="0"/>
              <a:t> is a collection of project phases that defines</a:t>
            </a:r>
          </a:p>
          <a:p>
            <a:pPr lvl="1">
              <a:lnSpc>
                <a:spcPct val="90000"/>
              </a:lnSpc>
            </a:pPr>
            <a:r>
              <a:rPr lang="en-US" dirty="0"/>
              <a:t>what work will be performed in each phase</a:t>
            </a:r>
          </a:p>
          <a:p>
            <a:pPr lvl="1">
              <a:lnSpc>
                <a:spcPct val="90000"/>
              </a:lnSpc>
            </a:pPr>
            <a:r>
              <a:rPr lang="en-US" dirty="0"/>
              <a:t>what deliverables will be produced and when</a:t>
            </a:r>
          </a:p>
          <a:p>
            <a:pPr lvl="1">
              <a:lnSpc>
                <a:spcPct val="90000"/>
              </a:lnSpc>
            </a:pPr>
            <a:r>
              <a:rPr lang="en-US" dirty="0"/>
              <a:t>who is involved in each phase, and </a:t>
            </a:r>
          </a:p>
          <a:p>
            <a:pPr lvl="1">
              <a:lnSpc>
                <a:spcPct val="90000"/>
              </a:lnSpc>
            </a:pPr>
            <a:r>
              <a:rPr lang="en-US" dirty="0"/>
              <a:t>how management will control and approve work produced in each phase</a:t>
            </a:r>
          </a:p>
          <a:p>
            <a:pPr>
              <a:lnSpc>
                <a:spcPct val="90000"/>
              </a:lnSpc>
            </a:pPr>
            <a:r>
              <a:rPr lang="en-US" dirty="0"/>
              <a:t>A </a:t>
            </a:r>
            <a:r>
              <a:rPr lang="en-US" b="1" dirty="0"/>
              <a:t>deliverable</a:t>
            </a:r>
            <a:r>
              <a:rPr lang="en-US" dirty="0"/>
              <a:t> is a product or service produced or provided as part of a project</a:t>
            </a:r>
          </a:p>
          <a:p>
            <a:pPr>
              <a:lnSpc>
                <a:spcPct val="90000"/>
              </a:lnSpc>
            </a:pPr>
            <a:endParaRPr lang="en-US" dirty="0"/>
          </a:p>
        </p:txBody>
      </p:sp>
      <p:sp>
        <p:nvSpPr>
          <p:cNvPr id="26628" name="Rectangle 2"/>
          <p:cNvSpPr>
            <a:spLocks noGrp="1" noChangeArrowheads="1"/>
          </p:cNvSpPr>
          <p:nvPr>
            <p:ph type="title"/>
          </p:nvPr>
        </p:nvSpPr>
        <p:spPr/>
        <p:txBody>
          <a:bodyPr>
            <a:normAutofit fontScale="90000"/>
          </a:bodyPr>
          <a:lstStyle/>
          <a:p>
            <a:r>
              <a:rPr lang="en-US" dirty="0"/>
              <a:t>Project Phases and the Project Life Cycle</a:t>
            </a:r>
          </a:p>
        </p:txBody>
      </p:sp>
      <p:sp>
        <p:nvSpPr>
          <p:cNvPr id="26626" name="Footer Placeholder 3"/>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4D96721C-6BC0-4C07-9A39-4E0D16EE6CE8}" type="slidenum">
              <a:rPr lang="en-US"/>
              <a:pPr>
                <a:defRPr/>
              </a:pPr>
              <a:t>13</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Rectangle 3"/>
          <p:cNvSpPr>
            <a:spLocks noGrp="1" noChangeArrowheads="1"/>
          </p:cNvSpPr>
          <p:nvPr>
            <p:ph idx="1"/>
          </p:nvPr>
        </p:nvSpPr>
        <p:spPr/>
        <p:txBody>
          <a:bodyPr/>
          <a:lstStyle/>
          <a:p>
            <a:pPr>
              <a:lnSpc>
                <a:spcPct val="90000"/>
              </a:lnSpc>
            </a:pPr>
            <a:r>
              <a:rPr lang="en-US" dirty="0"/>
              <a:t>In early phases of a project life cycle</a:t>
            </a:r>
          </a:p>
          <a:p>
            <a:pPr lvl="1">
              <a:lnSpc>
                <a:spcPct val="90000"/>
              </a:lnSpc>
            </a:pPr>
            <a:r>
              <a:rPr lang="en-US" dirty="0"/>
              <a:t>resource needs are usually lowest</a:t>
            </a:r>
          </a:p>
          <a:p>
            <a:pPr lvl="1">
              <a:lnSpc>
                <a:spcPct val="90000"/>
              </a:lnSpc>
            </a:pPr>
            <a:r>
              <a:rPr lang="en-US" dirty="0"/>
              <a:t>the level of uncertainty (risk) is highest</a:t>
            </a:r>
          </a:p>
          <a:p>
            <a:pPr lvl="1">
              <a:lnSpc>
                <a:spcPct val="90000"/>
              </a:lnSpc>
            </a:pPr>
            <a:r>
              <a:rPr lang="en-US" dirty="0"/>
              <a:t>project stakeholders have the greatest opportunity to influence the project</a:t>
            </a:r>
          </a:p>
          <a:p>
            <a:pPr>
              <a:lnSpc>
                <a:spcPct val="90000"/>
              </a:lnSpc>
            </a:pPr>
            <a:r>
              <a:rPr lang="en-US" dirty="0"/>
              <a:t>In middle phases of a project life cycle</a:t>
            </a:r>
          </a:p>
          <a:p>
            <a:pPr lvl="1">
              <a:lnSpc>
                <a:spcPct val="90000"/>
              </a:lnSpc>
            </a:pPr>
            <a:r>
              <a:rPr lang="en-US" dirty="0"/>
              <a:t>the certainty of completing a project improves</a:t>
            </a:r>
          </a:p>
          <a:p>
            <a:pPr lvl="1">
              <a:lnSpc>
                <a:spcPct val="90000"/>
              </a:lnSpc>
            </a:pPr>
            <a:r>
              <a:rPr lang="en-US" dirty="0"/>
              <a:t>more resources are needed</a:t>
            </a:r>
          </a:p>
          <a:p>
            <a:pPr>
              <a:lnSpc>
                <a:spcPct val="90000"/>
              </a:lnSpc>
            </a:pPr>
            <a:r>
              <a:rPr lang="en-US" dirty="0"/>
              <a:t>The final phase of a project life cycle focuses on</a:t>
            </a:r>
          </a:p>
          <a:p>
            <a:pPr lvl="1">
              <a:lnSpc>
                <a:spcPct val="90000"/>
              </a:lnSpc>
            </a:pPr>
            <a:r>
              <a:rPr lang="en-US" dirty="0"/>
              <a:t>ensuring that project requirements were met</a:t>
            </a:r>
          </a:p>
          <a:p>
            <a:pPr lvl="1">
              <a:lnSpc>
                <a:spcPct val="90000"/>
              </a:lnSpc>
            </a:pPr>
            <a:r>
              <a:rPr lang="en-US" dirty="0"/>
              <a:t>the sponsor approves completion of the project</a:t>
            </a:r>
          </a:p>
          <a:p>
            <a:pPr lvl="1">
              <a:lnSpc>
                <a:spcPct val="90000"/>
              </a:lnSpc>
            </a:pPr>
            <a:endParaRPr lang="en-US" dirty="0"/>
          </a:p>
        </p:txBody>
      </p:sp>
      <p:sp>
        <p:nvSpPr>
          <p:cNvPr id="27652" name="Rectangle 2"/>
          <p:cNvSpPr>
            <a:spLocks noGrp="1" noChangeArrowheads="1"/>
          </p:cNvSpPr>
          <p:nvPr>
            <p:ph type="title"/>
          </p:nvPr>
        </p:nvSpPr>
        <p:spPr/>
        <p:txBody>
          <a:bodyPr/>
          <a:lstStyle/>
          <a:p>
            <a:r>
              <a:rPr lang="en-US" dirty="0"/>
              <a:t>More on Project Phases</a:t>
            </a:r>
          </a:p>
        </p:txBody>
      </p:sp>
      <p:sp>
        <p:nvSpPr>
          <p:cNvPr id="27650" name="Footer Placeholder 3"/>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6E850ECD-DC50-44BE-9E96-61A1A4867365}" type="slidenum">
              <a:rPr lang="en-US"/>
              <a:pPr>
                <a:defRPr/>
              </a:pPr>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normAutofit fontScale="90000"/>
          </a:bodyPr>
          <a:lstStyle/>
          <a:p>
            <a:r>
              <a:rPr lang="en-US" dirty="0"/>
              <a:t>Figure 2-4. Phases of the Traditional Project Life Cycle</a:t>
            </a:r>
          </a:p>
        </p:txBody>
      </p:sp>
      <p:sp>
        <p:nvSpPr>
          <p:cNvPr id="28678" name="Footer Placeholder 6"/>
          <p:cNvSpPr>
            <a:spLocks noGrp="1"/>
          </p:cNvSpPr>
          <p:nvPr>
            <p:ph type="ftr" sz="quarter" idx="10"/>
          </p:nvPr>
        </p:nvSpPr>
        <p:spPr bwMode="auto">
          <a:noFill/>
          <a:ln>
            <a:miter lim="800000"/>
            <a:headEnd/>
            <a:tailEnd/>
          </a:ln>
        </p:spPr>
        <p:txBody>
          <a:bodyPr/>
          <a:lstStyle/>
          <a:p>
            <a:pPr>
              <a:buFontTx/>
              <a:buNone/>
            </a:pPr>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buFontTx/>
              <a:buNone/>
              <a:defRPr/>
            </a:pPr>
            <a:fld id="{DC9D79A6-F114-4CB1-8985-7DBC117EBAC0}" type="slidenum">
              <a:rPr lang="en-US" smtClean="0"/>
              <a:pPr>
                <a:buFontTx/>
                <a:buNone/>
                <a:defRPr/>
              </a:pPr>
              <a:t>15</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799" y="1600200"/>
            <a:ext cx="8719843" cy="474309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1" name="Rectangle 3"/>
          <p:cNvSpPr>
            <a:spLocks noGrp="1" noChangeArrowheads="1"/>
          </p:cNvSpPr>
          <p:nvPr>
            <p:ph idx="1"/>
          </p:nvPr>
        </p:nvSpPr>
        <p:spPr>
          <a:xfrm>
            <a:off x="304800" y="762000"/>
            <a:ext cx="8305800" cy="4572000"/>
          </a:xfrm>
        </p:spPr>
        <p:txBody>
          <a:bodyPr/>
          <a:lstStyle/>
          <a:p>
            <a:r>
              <a:rPr lang="en-US" dirty="0"/>
              <a:t>Products also have life cycles</a:t>
            </a:r>
          </a:p>
          <a:p>
            <a:r>
              <a:rPr lang="en-US" dirty="0"/>
              <a:t>The </a:t>
            </a:r>
            <a:r>
              <a:rPr lang="en-US" b="1" dirty="0"/>
              <a:t>Systems Development Life Cycle (SDLC)</a:t>
            </a:r>
            <a:r>
              <a:rPr lang="en-US" dirty="0"/>
              <a:t> is a framework for describing the phases involved in developing and maintaining information systems</a:t>
            </a:r>
          </a:p>
          <a:p>
            <a:r>
              <a:rPr lang="en-US" dirty="0"/>
              <a:t>Systems development projects can follow </a:t>
            </a:r>
          </a:p>
          <a:p>
            <a:pPr lvl="1"/>
            <a:r>
              <a:rPr lang="en-US" b="1" dirty="0"/>
              <a:t>Predictive life cycle</a:t>
            </a:r>
            <a:r>
              <a:rPr lang="en-US" dirty="0"/>
              <a:t>: the scope of the project can be clearly articulated and the schedule and cost can be predicted</a:t>
            </a:r>
          </a:p>
          <a:p>
            <a:pPr lvl="1"/>
            <a:r>
              <a:rPr lang="en-US" b="1" dirty="0"/>
              <a:t>Adaptive Software Development (ASD)</a:t>
            </a:r>
            <a:r>
              <a:rPr lang="en-US" dirty="0"/>
              <a:t> </a:t>
            </a:r>
            <a:r>
              <a:rPr lang="en-US" b="1" dirty="0"/>
              <a:t>life cycle</a:t>
            </a:r>
            <a:r>
              <a:rPr lang="en-US" dirty="0"/>
              <a:t>: requirements cannot be clearly expressed, projects are mission driven and component based, using time-based cycles to meet target dates</a:t>
            </a:r>
          </a:p>
          <a:p>
            <a:pPr lvl="1">
              <a:buFontTx/>
              <a:buNone/>
            </a:pPr>
            <a:endParaRPr lang="en-US" dirty="0"/>
          </a:p>
        </p:txBody>
      </p:sp>
      <p:sp>
        <p:nvSpPr>
          <p:cNvPr id="29700" name="Rectangle 2"/>
          <p:cNvSpPr>
            <a:spLocks noGrp="1" noChangeArrowheads="1"/>
          </p:cNvSpPr>
          <p:nvPr>
            <p:ph type="title"/>
          </p:nvPr>
        </p:nvSpPr>
        <p:spPr>
          <a:xfrm>
            <a:off x="381000" y="274638"/>
            <a:ext cx="8305800" cy="487362"/>
          </a:xfrm>
        </p:spPr>
        <p:txBody>
          <a:bodyPr>
            <a:normAutofit fontScale="90000"/>
          </a:bodyPr>
          <a:lstStyle/>
          <a:p>
            <a:r>
              <a:rPr lang="en-US" dirty="0"/>
              <a:t>Product Life Cycles</a:t>
            </a:r>
          </a:p>
        </p:txBody>
      </p:sp>
      <p:sp>
        <p:nvSpPr>
          <p:cNvPr id="29698" name="Footer Placeholder 3"/>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E2965920-7E31-46B5-8B7E-9CD60737DC3C}" type="slidenum">
              <a:rPr lang="en-US"/>
              <a:pPr>
                <a:defRPr/>
              </a:pPr>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5" name="Rectangle 3"/>
          <p:cNvSpPr>
            <a:spLocks noGrp="1" noChangeArrowheads="1"/>
          </p:cNvSpPr>
          <p:nvPr>
            <p:ph idx="1"/>
          </p:nvPr>
        </p:nvSpPr>
        <p:spPr>
          <a:xfrm>
            <a:off x="457200" y="1219200"/>
            <a:ext cx="8229600" cy="4525962"/>
          </a:xfrm>
        </p:spPr>
        <p:txBody>
          <a:bodyPr/>
          <a:lstStyle/>
          <a:p>
            <a:pPr>
              <a:lnSpc>
                <a:spcPct val="90000"/>
              </a:lnSpc>
            </a:pPr>
            <a:r>
              <a:rPr lang="en-US" dirty="0"/>
              <a:t>Waterfall model: has well-defined, linear stages of systems development and support</a:t>
            </a:r>
          </a:p>
          <a:p>
            <a:pPr>
              <a:lnSpc>
                <a:spcPct val="90000"/>
              </a:lnSpc>
            </a:pPr>
            <a:r>
              <a:rPr lang="en-US" dirty="0"/>
              <a:t>Spiral model: shows that software is developed using an iterative or spiral approach rather than a linear approach</a:t>
            </a:r>
          </a:p>
          <a:p>
            <a:pPr>
              <a:lnSpc>
                <a:spcPct val="90000"/>
              </a:lnSpc>
            </a:pPr>
            <a:r>
              <a:rPr lang="en-US" dirty="0"/>
              <a:t>Incremental build model: provides for progressive development of operational software</a:t>
            </a:r>
          </a:p>
          <a:p>
            <a:pPr>
              <a:lnSpc>
                <a:spcPct val="90000"/>
              </a:lnSpc>
            </a:pPr>
            <a:r>
              <a:rPr lang="en-US" dirty="0"/>
              <a:t>Prototyping model: used for developing prototypes to clarify user requirements</a:t>
            </a:r>
          </a:p>
          <a:p>
            <a:pPr>
              <a:lnSpc>
                <a:spcPct val="90000"/>
              </a:lnSpc>
            </a:pPr>
            <a:r>
              <a:rPr lang="en-US" dirty="0"/>
              <a:t>Rapid Application Development (RAD) model:  used to produce systems quickly without sacrificing quality</a:t>
            </a:r>
          </a:p>
        </p:txBody>
      </p:sp>
      <p:sp>
        <p:nvSpPr>
          <p:cNvPr id="30724" name="Rectangle 2"/>
          <p:cNvSpPr>
            <a:spLocks noGrp="1" noChangeArrowheads="1"/>
          </p:cNvSpPr>
          <p:nvPr>
            <p:ph type="title"/>
          </p:nvPr>
        </p:nvSpPr>
        <p:spPr>
          <a:xfrm>
            <a:off x="533400" y="152400"/>
            <a:ext cx="8229600" cy="1143000"/>
          </a:xfrm>
        </p:spPr>
        <p:txBody>
          <a:bodyPr/>
          <a:lstStyle/>
          <a:p>
            <a:r>
              <a:rPr lang="en-US" dirty="0"/>
              <a:t>Predictive Life Cycle Models</a:t>
            </a:r>
          </a:p>
        </p:txBody>
      </p:sp>
      <p:sp>
        <p:nvSpPr>
          <p:cNvPr id="30722" name="Footer Placeholder 3"/>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4F5B79B3-05A3-4B8C-B607-F4486E5A67C2}" type="slidenum">
              <a:rPr lang="en-US"/>
              <a:pPr>
                <a:defRPr/>
              </a:pPr>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37514"/>
            <a:ext cx="8229600" cy="1143000"/>
          </a:xfrm>
        </p:spPr>
        <p:txBody>
          <a:bodyPr>
            <a:normAutofit fontScale="90000"/>
          </a:bodyPr>
          <a:lstStyle/>
          <a:p>
            <a:r>
              <a:rPr lang="en-US" dirty="0"/>
              <a:t>Figure 2-5. Waterfall and Spiral Life Cycle Models</a:t>
            </a:r>
          </a:p>
        </p:txBody>
      </p:sp>
      <p:sp>
        <p:nvSpPr>
          <p:cNvPr id="4" name="Footer Placeholder 3"/>
          <p:cNvSpPr>
            <a:spLocks noGrp="1"/>
          </p:cNvSpPr>
          <p:nvPr>
            <p:ph type="ftr" sz="quarter" idx="10"/>
          </p:nvPr>
        </p:nvSpPr>
        <p:spPr/>
        <p:txBody>
          <a:bodyPr/>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D4FD9659-824B-46C0-8A9A-C90F38C1F825}" type="slidenum">
              <a:rPr lang="en-US" smtClean="0"/>
              <a:pPr>
                <a:defRPr/>
              </a:pPr>
              <a:t>18</a:t>
            </a:fld>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371600"/>
            <a:ext cx="7924799" cy="4990936"/>
          </a:xfrm>
          <a:prstGeom prst="rect">
            <a:avLst/>
          </a:prstGeom>
        </p:spPr>
      </p:pic>
    </p:spTree>
    <p:extLst>
      <p:ext uri="{BB962C8B-B14F-4D97-AF65-F5344CB8AC3E}">
        <p14:creationId xmlns:p14="http://schemas.microsoft.com/office/powerpoint/2010/main" val="33051874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9" name="Rectangle 3"/>
          <p:cNvSpPr>
            <a:spLocks noGrp="1" noChangeArrowheads="1"/>
          </p:cNvSpPr>
          <p:nvPr>
            <p:ph idx="1"/>
          </p:nvPr>
        </p:nvSpPr>
        <p:spPr/>
        <p:txBody>
          <a:bodyPr/>
          <a:lstStyle/>
          <a:p>
            <a:r>
              <a:rPr lang="en-US" dirty="0"/>
              <a:t>A project should successfully pass through each of the project phases in order to continue on to the next</a:t>
            </a:r>
          </a:p>
          <a:p>
            <a:r>
              <a:rPr lang="en-US" dirty="0"/>
              <a:t>Management reviews, also called </a:t>
            </a:r>
            <a:r>
              <a:rPr lang="en-US" b="1" dirty="0"/>
              <a:t>phase exits</a:t>
            </a:r>
            <a:r>
              <a:rPr lang="en-US" dirty="0"/>
              <a:t> or </a:t>
            </a:r>
            <a:r>
              <a:rPr lang="en-US" b="1" dirty="0"/>
              <a:t>kill points</a:t>
            </a:r>
            <a:r>
              <a:rPr lang="en-US" dirty="0"/>
              <a:t>, should occur after each phase to evaluate the project’s progress, likely success, and continued compatibility with organizational goals</a:t>
            </a:r>
          </a:p>
        </p:txBody>
      </p:sp>
      <p:sp>
        <p:nvSpPr>
          <p:cNvPr id="31748" name="Rectangle 2"/>
          <p:cNvSpPr>
            <a:spLocks noGrp="1" noChangeArrowheads="1"/>
          </p:cNvSpPr>
          <p:nvPr>
            <p:ph type="title"/>
          </p:nvPr>
        </p:nvSpPr>
        <p:spPr/>
        <p:txBody>
          <a:bodyPr>
            <a:normAutofit fontScale="90000"/>
          </a:bodyPr>
          <a:lstStyle/>
          <a:p>
            <a:r>
              <a:rPr lang="en-US" dirty="0"/>
              <a:t>The Importance of Project Phases and Management Reviews</a:t>
            </a:r>
          </a:p>
        </p:txBody>
      </p:sp>
      <p:sp>
        <p:nvSpPr>
          <p:cNvPr id="31746" name="Footer Placeholder 3"/>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3283665F-2A2C-41B7-B054-D29178245054}" type="slidenum">
              <a:rPr lang="en-US"/>
              <a:pPr>
                <a:defRPr/>
              </a:pPr>
              <a:t>19</a:t>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7" name="Rectangle 3"/>
          <p:cNvSpPr>
            <a:spLocks noGrp="1" noChangeArrowheads="1"/>
          </p:cNvSpPr>
          <p:nvPr>
            <p:ph idx="1"/>
          </p:nvPr>
        </p:nvSpPr>
        <p:spPr/>
        <p:txBody>
          <a:bodyPr/>
          <a:lstStyle/>
          <a:p>
            <a:r>
              <a:rPr lang="en-US" dirty="0"/>
              <a:t>IT projects can be very diverse in terms of size,  complexity, products produced, application area, and resource requirements</a:t>
            </a:r>
          </a:p>
          <a:p>
            <a:r>
              <a:rPr lang="en-US" dirty="0"/>
              <a:t>IT project team members often have diverse backgrounds and skill sets</a:t>
            </a:r>
          </a:p>
          <a:p>
            <a:r>
              <a:rPr lang="en-US" dirty="0"/>
              <a:t>IT projects use diverse technologies that change rapidly.  Even within one technology area, people must be highly specialized</a:t>
            </a:r>
          </a:p>
        </p:txBody>
      </p:sp>
      <p:sp>
        <p:nvSpPr>
          <p:cNvPr id="33796" name="Rectangle 2"/>
          <p:cNvSpPr>
            <a:spLocks noGrp="1" noChangeArrowheads="1"/>
          </p:cNvSpPr>
          <p:nvPr>
            <p:ph type="title"/>
          </p:nvPr>
        </p:nvSpPr>
        <p:spPr/>
        <p:txBody>
          <a:bodyPr/>
          <a:lstStyle/>
          <a:p>
            <a:r>
              <a:rPr lang="en-US" dirty="0"/>
              <a:t>The Context of IT Projects</a:t>
            </a:r>
          </a:p>
        </p:txBody>
      </p:sp>
      <p:sp>
        <p:nvSpPr>
          <p:cNvPr id="33794" name="Footer Placeholder 3"/>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5A7AAFB9-DD0E-414F-9474-EA0B471D20ED}" type="slidenum">
              <a:rPr lang="en-US"/>
              <a:pPr>
                <a:defRPr/>
              </a:pPr>
              <a:t>20</a:t>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1295400"/>
            <a:ext cx="8458200" cy="4525962"/>
          </a:xfrm>
        </p:spPr>
        <p:txBody>
          <a:bodyPr/>
          <a:lstStyle/>
          <a:p>
            <a:r>
              <a:rPr lang="en-US" dirty="0"/>
              <a:t>Organizations remain competitive by using outsourcing to their advantage, such as finding ways to reduce costs</a:t>
            </a:r>
          </a:p>
          <a:p>
            <a:r>
              <a:rPr lang="en-US" dirty="0"/>
              <a:t>Their next challenge is to make strategic IT investments with outsourcing by improving their enterprise architecture to ensure that IT infrastructure and business processes are integrated and standardized (See Suggested Readings)</a:t>
            </a:r>
          </a:p>
          <a:p>
            <a:r>
              <a:rPr lang="en-US" dirty="0"/>
              <a:t>Project managers should become more familiar with negotiating contracts and other outsourcing issues</a:t>
            </a:r>
          </a:p>
          <a:p>
            <a:endParaRPr lang="en-US" dirty="0"/>
          </a:p>
          <a:p>
            <a:endParaRPr lang="en-US" dirty="0"/>
          </a:p>
        </p:txBody>
      </p:sp>
      <p:sp>
        <p:nvSpPr>
          <p:cNvPr id="3" name="Title 2"/>
          <p:cNvSpPr>
            <a:spLocks noGrp="1"/>
          </p:cNvSpPr>
          <p:nvPr>
            <p:ph type="title"/>
          </p:nvPr>
        </p:nvSpPr>
        <p:spPr/>
        <p:txBody>
          <a:bodyPr/>
          <a:lstStyle/>
          <a:p>
            <a:r>
              <a:rPr lang="en-US" dirty="0"/>
              <a:t>Outsourcing</a:t>
            </a:r>
          </a:p>
        </p:txBody>
      </p:sp>
      <p:sp>
        <p:nvSpPr>
          <p:cNvPr id="4" name="Footer Placeholder 3"/>
          <p:cNvSpPr>
            <a:spLocks noGrp="1"/>
          </p:cNvSpPr>
          <p:nvPr>
            <p:ph type="ftr" sz="quarter" idx="10"/>
          </p:nvPr>
        </p:nvSpPr>
        <p:spPr/>
        <p:txBody>
          <a:bodyPr/>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D4FD9659-824B-46C0-8A9A-C90F38C1F825}" type="slidenum">
              <a:rPr lang="en-US" smtClean="0"/>
              <a:pPr>
                <a:defRPr/>
              </a:pPr>
              <a:t>21</a:t>
            </a:fld>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2400" dirty="0"/>
              <a:t>Outsourcing also has disadvantages. For example, Apple benefits from manufacturing products in China, but it had big problems there after its iPhone 4S launch in January 2012 caused fighting between migrant workers who were hired by scalpers to stand in line to buy the phones. </a:t>
            </a:r>
          </a:p>
          <a:p>
            <a:r>
              <a:rPr lang="en-US" sz="2400" dirty="0"/>
              <a:t>When Apple said it would not open its store in Beijing, riots resulted and people attacked security guards. The Beijing Apple Store has had problems before. In May 2011, four people were injured when a crowd waiting to buy the </a:t>
            </a:r>
            <a:r>
              <a:rPr lang="en-US" sz="2400" dirty="0" err="1"/>
              <a:t>iPad</a:t>
            </a:r>
            <a:r>
              <a:rPr lang="en-US" sz="2400" dirty="0"/>
              <a:t> 2 turned ugly. </a:t>
            </a:r>
          </a:p>
        </p:txBody>
      </p:sp>
      <p:sp>
        <p:nvSpPr>
          <p:cNvPr id="3" name="Title 2"/>
          <p:cNvSpPr>
            <a:spLocks noGrp="1"/>
          </p:cNvSpPr>
          <p:nvPr>
            <p:ph type="title"/>
          </p:nvPr>
        </p:nvSpPr>
        <p:spPr/>
        <p:txBody>
          <a:bodyPr/>
          <a:lstStyle/>
          <a:p>
            <a:r>
              <a:rPr lang="en-US" dirty="0"/>
              <a:t>Global Issues</a:t>
            </a:r>
          </a:p>
        </p:txBody>
      </p:sp>
      <p:sp>
        <p:nvSpPr>
          <p:cNvPr id="4" name="Footer Placeholder 3"/>
          <p:cNvSpPr>
            <a:spLocks noGrp="1"/>
          </p:cNvSpPr>
          <p:nvPr>
            <p:ph type="ftr" sz="quarter" idx="10"/>
          </p:nvPr>
        </p:nvSpPr>
        <p:spPr/>
        <p:txBody>
          <a:bodyPr/>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D4FD9659-824B-46C0-8A9A-C90F38C1F825}" type="slidenum">
              <a:rPr lang="en-US" smtClean="0"/>
              <a:pPr>
                <a:defRPr/>
              </a:pPr>
              <a:t>22</a:t>
            </a:fld>
            <a:endParaRPr lang="en-US" dirty="0"/>
          </a:p>
        </p:txBody>
      </p:sp>
    </p:spTree>
    <p:extLst>
      <p:ext uri="{BB962C8B-B14F-4D97-AF65-F5344CB8AC3E}">
        <p14:creationId xmlns:p14="http://schemas.microsoft.com/office/powerpoint/2010/main" val="15990260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143000"/>
            <a:ext cx="8229600" cy="4525962"/>
          </a:xfrm>
        </p:spPr>
        <p:txBody>
          <a:bodyPr/>
          <a:lstStyle/>
          <a:p>
            <a:r>
              <a:rPr lang="en-US" sz="2800" dirty="0"/>
              <a:t>Increasing competiveness and responsiveness by having a team of workers available 24/7</a:t>
            </a:r>
          </a:p>
          <a:p>
            <a:r>
              <a:rPr lang="en-US" sz="2800" dirty="0"/>
              <a:t>Lowering costs because many virtual workers do not require office space or support beyond their home offices.</a:t>
            </a:r>
          </a:p>
          <a:p>
            <a:r>
              <a:rPr lang="en-US" sz="2800" dirty="0"/>
              <a:t>Providing more expertise and flexibility by having team members from across the globe working any time of day or night</a:t>
            </a:r>
          </a:p>
          <a:p>
            <a:r>
              <a:rPr lang="en-US" sz="2800" dirty="0"/>
              <a:t>Increasing the work/life balance for team members by eliminating fixed office hours and the need to travel to work.</a:t>
            </a:r>
            <a:endParaRPr lang="en-US" sz="3200" dirty="0"/>
          </a:p>
          <a:p>
            <a:pPr lvl="1"/>
            <a:endParaRPr lang="en-US" dirty="0"/>
          </a:p>
        </p:txBody>
      </p:sp>
      <p:sp>
        <p:nvSpPr>
          <p:cNvPr id="3" name="Title 2"/>
          <p:cNvSpPr>
            <a:spLocks noGrp="1"/>
          </p:cNvSpPr>
          <p:nvPr>
            <p:ph type="title"/>
          </p:nvPr>
        </p:nvSpPr>
        <p:spPr/>
        <p:txBody>
          <a:bodyPr/>
          <a:lstStyle/>
          <a:p>
            <a:r>
              <a:rPr lang="en-US" dirty="0"/>
              <a:t>Virtual Teams Advantages</a:t>
            </a:r>
          </a:p>
        </p:txBody>
      </p:sp>
      <p:sp>
        <p:nvSpPr>
          <p:cNvPr id="4" name="Footer Placeholder 3"/>
          <p:cNvSpPr>
            <a:spLocks noGrp="1"/>
          </p:cNvSpPr>
          <p:nvPr>
            <p:ph type="ftr" sz="quarter" idx="10"/>
          </p:nvPr>
        </p:nvSpPr>
        <p:spPr/>
        <p:txBody>
          <a:bodyPr/>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D4FD9659-824B-46C0-8A9A-C90F38C1F825}" type="slidenum">
              <a:rPr lang="en-US" smtClean="0"/>
              <a:pPr>
                <a:defRPr/>
              </a:pPr>
              <a:t>23</a:t>
            </a:fld>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295400"/>
            <a:ext cx="8382000" cy="4525962"/>
          </a:xfrm>
        </p:spPr>
        <p:txBody>
          <a:bodyPr/>
          <a:lstStyle/>
          <a:p>
            <a:r>
              <a:rPr lang="en-US" dirty="0"/>
              <a:t>Isolating team members</a:t>
            </a:r>
          </a:p>
          <a:p>
            <a:r>
              <a:rPr lang="en-US" dirty="0"/>
              <a:t>Increasing the potential for communications problems</a:t>
            </a:r>
          </a:p>
          <a:p>
            <a:r>
              <a:rPr lang="en-US" dirty="0"/>
              <a:t>Reducing the ability for team members to network and transfer information informally</a:t>
            </a:r>
          </a:p>
          <a:p>
            <a:r>
              <a:rPr lang="en-US" dirty="0"/>
              <a:t>Increasing the dependence on technology to accomplish work</a:t>
            </a:r>
          </a:p>
          <a:p>
            <a:r>
              <a:rPr lang="en-US" dirty="0"/>
              <a:t>See text for a list of factors that help virtual teams succeed, including team processes, trust/relationships, leadership style, and team member selection</a:t>
            </a:r>
          </a:p>
          <a:p>
            <a:endParaRPr lang="en-US" dirty="0"/>
          </a:p>
        </p:txBody>
      </p:sp>
      <p:sp>
        <p:nvSpPr>
          <p:cNvPr id="3" name="Title 2"/>
          <p:cNvSpPr>
            <a:spLocks noGrp="1"/>
          </p:cNvSpPr>
          <p:nvPr>
            <p:ph type="title"/>
          </p:nvPr>
        </p:nvSpPr>
        <p:spPr/>
        <p:txBody>
          <a:bodyPr/>
          <a:lstStyle/>
          <a:p>
            <a:r>
              <a:rPr lang="en-US" dirty="0"/>
              <a:t>Virtual Team Disadvantages</a:t>
            </a:r>
          </a:p>
        </p:txBody>
      </p:sp>
      <p:sp>
        <p:nvSpPr>
          <p:cNvPr id="4" name="Footer Placeholder 3"/>
          <p:cNvSpPr>
            <a:spLocks noGrp="1"/>
          </p:cNvSpPr>
          <p:nvPr>
            <p:ph type="ftr" sz="quarter" idx="10"/>
          </p:nvPr>
        </p:nvSpPr>
        <p:spPr/>
        <p:txBody>
          <a:bodyPr/>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D4FD9659-824B-46C0-8A9A-C90F38C1F825}" type="slidenum">
              <a:rPr lang="en-US" smtClean="0"/>
              <a:pPr>
                <a:defRPr/>
              </a:pPr>
              <a:t>24</a:t>
            </a:fld>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2400" dirty="0"/>
              <a:t>Agile means being able to move quickly and easily, but some people feel that project management, as they have seen it used, does not allow people to work quickly or easily.</a:t>
            </a:r>
          </a:p>
          <a:p>
            <a:r>
              <a:rPr lang="en-US" sz="2400" dirty="0"/>
              <a:t>Early software development projects often used a waterfall approach, as defined earlier in this chapter. As technology and businesses became more complex, the approach was often difficult to use because requirements were unknown or continuously changing. </a:t>
            </a:r>
          </a:p>
          <a:p>
            <a:r>
              <a:rPr lang="en-US" sz="2400" dirty="0"/>
              <a:t>Agile today means using a method based on iterative and incremental development, in which requirements and solutions evolve through collaboration.</a:t>
            </a:r>
          </a:p>
        </p:txBody>
      </p:sp>
      <p:sp>
        <p:nvSpPr>
          <p:cNvPr id="3" name="Title 2"/>
          <p:cNvSpPr>
            <a:spLocks noGrp="1"/>
          </p:cNvSpPr>
          <p:nvPr>
            <p:ph type="title"/>
          </p:nvPr>
        </p:nvSpPr>
        <p:spPr/>
        <p:txBody>
          <a:bodyPr/>
          <a:lstStyle/>
          <a:p>
            <a:r>
              <a:rPr lang="en-US" dirty="0"/>
              <a:t>Agile Project Management</a:t>
            </a:r>
          </a:p>
        </p:txBody>
      </p:sp>
      <p:sp>
        <p:nvSpPr>
          <p:cNvPr id="4" name="Footer Placeholder 3"/>
          <p:cNvSpPr>
            <a:spLocks noGrp="1"/>
          </p:cNvSpPr>
          <p:nvPr>
            <p:ph type="ftr" sz="quarter" idx="10"/>
          </p:nvPr>
        </p:nvSpPr>
        <p:spPr/>
        <p:txBody>
          <a:bodyPr/>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D4FD9659-824B-46C0-8A9A-C90F38C1F825}" type="slidenum">
              <a:rPr lang="en-US" smtClean="0"/>
              <a:pPr>
                <a:defRPr/>
              </a:pPr>
              <a:t>25</a:t>
            </a:fld>
            <a:endParaRPr lang="en-US" dirty="0"/>
          </a:p>
        </p:txBody>
      </p:sp>
    </p:spTree>
    <p:extLst>
      <p:ext uri="{BB962C8B-B14F-4D97-AF65-F5344CB8AC3E}">
        <p14:creationId xmlns:p14="http://schemas.microsoft.com/office/powerpoint/2010/main" val="33696846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According to the Scrum Alliance, Scrum is the leading agile development method for completing projects with a complex, innovative scope of work.</a:t>
            </a:r>
          </a:p>
          <a:p>
            <a:r>
              <a:rPr lang="en-US" dirty="0"/>
              <a:t>The term was coined in 1986 in a Harvard Business Review study that compared high-performing, cross-functional teams to the scrum formation used by rugby teams.</a:t>
            </a:r>
          </a:p>
        </p:txBody>
      </p:sp>
      <p:sp>
        <p:nvSpPr>
          <p:cNvPr id="3" name="Title 2"/>
          <p:cNvSpPr>
            <a:spLocks noGrp="1"/>
          </p:cNvSpPr>
          <p:nvPr>
            <p:ph type="title"/>
          </p:nvPr>
        </p:nvSpPr>
        <p:spPr/>
        <p:txBody>
          <a:bodyPr/>
          <a:lstStyle/>
          <a:p>
            <a:r>
              <a:rPr lang="en-US" dirty="0"/>
              <a:t>Scrum</a:t>
            </a:r>
          </a:p>
        </p:txBody>
      </p:sp>
      <p:sp>
        <p:nvSpPr>
          <p:cNvPr id="4" name="Footer Placeholder 3"/>
          <p:cNvSpPr>
            <a:spLocks noGrp="1"/>
          </p:cNvSpPr>
          <p:nvPr>
            <p:ph type="ftr" sz="quarter" idx="10"/>
          </p:nvPr>
        </p:nvSpPr>
        <p:spPr/>
        <p:txBody>
          <a:bodyPr/>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D4FD9659-824B-46C0-8A9A-C90F38C1F825}" type="slidenum">
              <a:rPr lang="en-US" smtClean="0"/>
              <a:pPr>
                <a:defRPr/>
              </a:pPr>
              <a:t>26</a:t>
            </a:fld>
            <a:endParaRPr lang="en-US" dirty="0"/>
          </a:p>
        </p:txBody>
      </p:sp>
    </p:spTree>
    <p:extLst>
      <p:ext uri="{BB962C8B-B14F-4D97-AF65-F5344CB8AC3E}">
        <p14:creationId xmlns:p14="http://schemas.microsoft.com/office/powerpoint/2010/main" val="39910578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Figure 2-6. Scrum Framework</a:t>
            </a:r>
          </a:p>
        </p:txBody>
      </p:sp>
      <p:sp>
        <p:nvSpPr>
          <p:cNvPr id="4" name="Footer Placeholder 3"/>
          <p:cNvSpPr>
            <a:spLocks noGrp="1"/>
          </p:cNvSpPr>
          <p:nvPr>
            <p:ph type="ftr" sz="quarter" idx="10"/>
          </p:nvPr>
        </p:nvSpPr>
        <p:spPr/>
        <p:txBody>
          <a:bodyPr/>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D4FD9659-824B-46C0-8A9A-C90F38C1F825}" type="slidenum">
              <a:rPr lang="en-US" smtClean="0"/>
              <a:pPr>
                <a:defRPr/>
              </a:pPr>
              <a:t>27</a:t>
            </a:fld>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3697" y="1219832"/>
            <a:ext cx="8609303" cy="4799967"/>
          </a:xfrm>
          <a:prstGeom prst="rect">
            <a:avLst/>
          </a:prstGeom>
        </p:spPr>
      </p:pic>
    </p:spTree>
    <p:extLst>
      <p:ext uri="{BB962C8B-B14F-4D97-AF65-F5344CB8AC3E}">
        <p14:creationId xmlns:p14="http://schemas.microsoft.com/office/powerpoint/2010/main" val="9268791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2400" dirty="0"/>
              <a:t>The PMBOK® Guide describes best practices for </a:t>
            </a:r>
            <a:r>
              <a:rPr lang="en-US" sz="2400" i="1" dirty="0"/>
              <a:t>what</a:t>
            </a:r>
            <a:r>
              <a:rPr lang="en-US" sz="2400" dirty="0"/>
              <a:t> should be done to manage projects.</a:t>
            </a:r>
          </a:p>
          <a:p>
            <a:r>
              <a:rPr lang="en-US" sz="2400" dirty="0"/>
              <a:t>Agile is a methodology that describes </a:t>
            </a:r>
            <a:r>
              <a:rPr lang="en-US" sz="2400" i="1" dirty="0"/>
              <a:t>how</a:t>
            </a:r>
            <a:r>
              <a:rPr lang="en-US" sz="2400" dirty="0"/>
              <a:t> to manage projects.</a:t>
            </a:r>
          </a:p>
          <a:p>
            <a:r>
              <a:rPr lang="en-US" sz="2400" dirty="0"/>
              <a:t>The Project Management Institute (PMI) recognized the increased interest in Agile, and introduced a new certification in 2011 called Agile Certified Practitioner (ACP).</a:t>
            </a:r>
          </a:p>
          <a:p>
            <a:r>
              <a:rPr lang="en-US" sz="2400" dirty="0"/>
              <a:t>Seasoned project managers understand that they have always had the option of customizing how they run projects, but that project management is not easy, even when using Agile.</a:t>
            </a:r>
          </a:p>
        </p:txBody>
      </p:sp>
      <p:sp>
        <p:nvSpPr>
          <p:cNvPr id="3" name="Title 2"/>
          <p:cNvSpPr>
            <a:spLocks noGrp="1"/>
          </p:cNvSpPr>
          <p:nvPr>
            <p:ph type="title"/>
          </p:nvPr>
        </p:nvSpPr>
        <p:spPr/>
        <p:txBody>
          <a:bodyPr>
            <a:normAutofit fontScale="90000"/>
          </a:bodyPr>
          <a:lstStyle/>
          <a:p>
            <a:r>
              <a:rPr lang="en-US" b="0" dirty="0"/>
              <a:t>Agile, the PMBOK® Guide, and a New Certification</a:t>
            </a:r>
            <a:endParaRPr lang="en-US" dirty="0"/>
          </a:p>
        </p:txBody>
      </p:sp>
      <p:sp>
        <p:nvSpPr>
          <p:cNvPr id="4" name="Footer Placeholder 3"/>
          <p:cNvSpPr>
            <a:spLocks noGrp="1"/>
          </p:cNvSpPr>
          <p:nvPr>
            <p:ph type="ftr" sz="quarter" idx="10"/>
          </p:nvPr>
        </p:nvSpPr>
        <p:spPr/>
        <p:txBody>
          <a:bodyPr/>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D4FD9659-824B-46C0-8A9A-C90F38C1F825}" type="slidenum">
              <a:rPr lang="en-US" smtClean="0"/>
              <a:pPr>
                <a:defRPr/>
              </a:pPr>
              <a:t>28</a:t>
            </a:fld>
            <a:endParaRPr lang="en-US" dirty="0"/>
          </a:p>
        </p:txBody>
      </p:sp>
    </p:spTree>
    <p:extLst>
      <p:ext uri="{BB962C8B-B14F-4D97-AF65-F5344CB8AC3E}">
        <p14:creationId xmlns:p14="http://schemas.microsoft.com/office/powerpoint/2010/main" val="39997097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1" name="Rectangle 3"/>
          <p:cNvSpPr>
            <a:spLocks noGrp="1" noChangeArrowheads="1"/>
          </p:cNvSpPr>
          <p:nvPr>
            <p:ph idx="1"/>
          </p:nvPr>
        </p:nvSpPr>
        <p:spPr>
          <a:xfrm>
            <a:off x="0" y="838200"/>
            <a:ext cx="8915400" cy="4876800"/>
          </a:xfrm>
        </p:spPr>
        <p:txBody>
          <a:bodyPr/>
          <a:lstStyle/>
          <a:p>
            <a:pPr>
              <a:lnSpc>
                <a:spcPct val="90000"/>
              </a:lnSpc>
            </a:pPr>
            <a:r>
              <a:rPr lang="en-US" dirty="0"/>
              <a:t>Project managers need to take a systems approach when working on projects</a:t>
            </a:r>
          </a:p>
          <a:p>
            <a:pPr>
              <a:lnSpc>
                <a:spcPct val="90000"/>
              </a:lnSpc>
            </a:pPr>
            <a:r>
              <a:rPr lang="en-US" dirty="0"/>
              <a:t>Organizations have four different frames: structural, human resources, political, and symbolic</a:t>
            </a:r>
          </a:p>
          <a:p>
            <a:pPr>
              <a:lnSpc>
                <a:spcPct val="90000"/>
              </a:lnSpc>
            </a:pPr>
            <a:r>
              <a:rPr lang="en-US" dirty="0"/>
              <a:t>The structure and culture of an organization have strong implications for project managers</a:t>
            </a:r>
          </a:p>
          <a:p>
            <a:pPr>
              <a:lnSpc>
                <a:spcPct val="90000"/>
              </a:lnSpc>
            </a:pPr>
            <a:r>
              <a:rPr lang="en-US" dirty="0"/>
              <a:t>Projects should successfully pass through each phase of the project life cycle</a:t>
            </a:r>
          </a:p>
          <a:p>
            <a:pPr>
              <a:lnSpc>
                <a:spcPct val="90000"/>
              </a:lnSpc>
            </a:pPr>
            <a:r>
              <a:rPr lang="en-US" dirty="0"/>
              <a:t>Project managers need to consider several factors due to the unique context of information technology projects</a:t>
            </a:r>
          </a:p>
          <a:p>
            <a:pPr>
              <a:lnSpc>
                <a:spcPct val="90000"/>
              </a:lnSpc>
            </a:pPr>
            <a:r>
              <a:rPr lang="en-US" dirty="0"/>
              <a:t>Recent trends affecting IT project management include globalization, outsourcing, virtual teams, and Agile</a:t>
            </a:r>
          </a:p>
        </p:txBody>
      </p:sp>
      <p:sp>
        <p:nvSpPr>
          <p:cNvPr id="34820" name="Rectangle 2"/>
          <p:cNvSpPr>
            <a:spLocks noGrp="1" noChangeArrowheads="1"/>
          </p:cNvSpPr>
          <p:nvPr>
            <p:ph type="title"/>
          </p:nvPr>
        </p:nvSpPr>
        <p:spPr>
          <a:xfrm>
            <a:off x="381000" y="37514"/>
            <a:ext cx="8305800" cy="715962"/>
          </a:xfrm>
        </p:spPr>
        <p:txBody>
          <a:bodyPr>
            <a:normAutofit fontScale="90000"/>
          </a:bodyPr>
          <a:lstStyle/>
          <a:p>
            <a:r>
              <a:rPr lang="en-US" dirty="0"/>
              <a:t>Chapter Summary</a:t>
            </a:r>
          </a:p>
        </p:txBody>
      </p:sp>
      <p:sp>
        <p:nvSpPr>
          <p:cNvPr id="34818" name="Footer Placeholder 3"/>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26E4E808-D5A2-4270-948F-25CED7EF1363}" type="slidenum">
              <a:rPr lang="en-US"/>
              <a:pPr>
                <a:defRPr/>
              </a:pPr>
              <a:t>29</a:t>
            </a:fld>
            <a:endParaRPr lang="en-US" dirty="0"/>
          </a:p>
        </p:txBody>
      </p:sp>
    </p:spTree>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eme1">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3.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4.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docProps/app.xml><?xml version="1.0" encoding="utf-8"?>
<Properties xmlns="http://schemas.openxmlformats.org/officeDocument/2006/extended-properties" xmlns:vt="http://schemas.openxmlformats.org/officeDocument/2006/docPropsVTypes">
  <Template/>
  <TotalTime>2601</TotalTime>
  <Words>1747</Words>
  <Application>Microsoft Office PowerPoint</Application>
  <PresentationFormat>全屏显示(4:3)</PresentationFormat>
  <Paragraphs>182</Paragraphs>
  <Slides>29</Slides>
  <Notes>1</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29</vt:i4>
      </vt:variant>
    </vt:vector>
  </HeadingPairs>
  <TitlesOfParts>
    <vt:vector size="39" baseType="lpstr">
      <vt:lpstr>Arial</vt:lpstr>
      <vt:lpstr>Arial Rounded MT Bold</vt:lpstr>
      <vt:lpstr>Calibri</vt:lpstr>
      <vt:lpstr>Lucida Sans Unicode</vt:lpstr>
      <vt:lpstr>Times New Roman</vt:lpstr>
      <vt:lpstr>Verdana</vt:lpstr>
      <vt:lpstr>Wingdings 2</vt:lpstr>
      <vt:lpstr>Wingdings 3</vt:lpstr>
      <vt:lpstr>Custom Design</vt:lpstr>
      <vt:lpstr>Theme1</vt:lpstr>
      <vt:lpstr>Chapter 2: The Project Management and Information Technology Context</vt:lpstr>
      <vt:lpstr>Projects Cannot Be Run In Isolation</vt:lpstr>
      <vt:lpstr>A Systems View of Project Management</vt:lpstr>
      <vt:lpstr>Figure 2-1. Three Sphere Model for Systems Management</vt:lpstr>
      <vt:lpstr>Figure 2-2. Perspectives on Organizations</vt:lpstr>
      <vt:lpstr>Organizational Structures</vt:lpstr>
      <vt:lpstr>Figure 2-3. Functional, Project, and Matrix Organizational Structures</vt:lpstr>
      <vt:lpstr>Table 2-1.  Organizational Structure Influences on Projects</vt:lpstr>
      <vt:lpstr>Organizational Culture</vt:lpstr>
      <vt:lpstr>Ten Characteristics of Organizational Culture</vt:lpstr>
      <vt:lpstr>Stakeholder Management</vt:lpstr>
      <vt:lpstr>The Importance of Top Management Commitment</vt:lpstr>
      <vt:lpstr>Project Phases and the Project Life Cycle</vt:lpstr>
      <vt:lpstr>More on Project Phases</vt:lpstr>
      <vt:lpstr>Figure 2-4. Phases of the Traditional Project Life Cycle</vt:lpstr>
      <vt:lpstr>Product Life Cycles</vt:lpstr>
      <vt:lpstr>Predictive Life Cycle Models</vt:lpstr>
      <vt:lpstr>Figure 2-5. Waterfall and Spiral Life Cycle Models</vt:lpstr>
      <vt:lpstr>The Importance of Project Phases and Management Reviews</vt:lpstr>
      <vt:lpstr>The Context of IT Projects</vt:lpstr>
      <vt:lpstr>Outsourcing</vt:lpstr>
      <vt:lpstr>Global Issues</vt:lpstr>
      <vt:lpstr>Virtual Teams Advantages</vt:lpstr>
      <vt:lpstr>Virtual Team Disadvantages</vt:lpstr>
      <vt:lpstr>Agile Project Management</vt:lpstr>
      <vt:lpstr>Scrum</vt:lpstr>
      <vt:lpstr>Figure 2-6. Scrum Framework</vt:lpstr>
      <vt:lpstr>Agile, the PMBOK® Guide, and a New Certification</vt:lpstr>
      <vt:lpstr>Chapter Summary</vt:lpstr>
    </vt:vector>
  </TitlesOfParts>
  <Company>Augsburg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Information  Technology</dc:creator>
  <cp:lastModifiedBy>七七 许</cp:lastModifiedBy>
  <cp:revision>162</cp:revision>
  <dcterms:created xsi:type="dcterms:W3CDTF">2001-07-05T23:10:12Z</dcterms:created>
  <dcterms:modified xsi:type="dcterms:W3CDTF">2025-11-02T05:45:10Z</dcterms:modified>
</cp:coreProperties>
</file>