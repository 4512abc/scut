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58" r:id="rId2"/>
  </p:sldMasterIdLst>
  <p:notesMasterIdLst>
    <p:notesMasterId r:id="rId53"/>
  </p:notesMasterIdLst>
  <p:handoutMasterIdLst>
    <p:handoutMasterId r:id="rId54"/>
  </p:handoutMasterIdLst>
  <p:sldIdLst>
    <p:sldId id="257" r:id="rId3"/>
    <p:sldId id="334" r:id="rId4"/>
    <p:sldId id="335" r:id="rId5"/>
    <p:sldId id="336" r:id="rId6"/>
    <p:sldId id="338" r:id="rId7"/>
    <p:sldId id="394" r:id="rId8"/>
    <p:sldId id="340" r:id="rId9"/>
    <p:sldId id="387" r:id="rId10"/>
    <p:sldId id="391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89" r:id="rId33"/>
    <p:sldId id="362" r:id="rId34"/>
    <p:sldId id="363" r:id="rId35"/>
    <p:sldId id="364" r:id="rId36"/>
    <p:sldId id="365" r:id="rId37"/>
    <p:sldId id="367" r:id="rId38"/>
    <p:sldId id="368" r:id="rId39"/>
    <p:sldId id="369" r:id="rId40"/>
    <p:sldId id="370" r:id="rId41"/>
    <p:sldId id="372" r:id="rId42"/>
    <p:sldId id="37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6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99"/>
    <a:srgbClr val="5B5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551" autoAdjust="0"/>
  </p:normalViewPr>
  <p:slideViewPr>
    <p:cSldViewPr>
      <p:cViewPr varScale="1">
        <p:scale>
          <a:sx n="104" d="100"/>
          <a:sy n="104" d="100"/>
        </p:scale>
        <p:origin x="162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E7B4F1CC-2762-4A50-BFA6-AF4F471C3C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40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F3EBEAF-6895-428A-8971-6FD8257AC8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795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486078-1A2C-484F-8A15-D073A54781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53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4D64B7-11BE-4AAB-A1A2-20471B7113C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93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EA177-C202-48BA-AF4D-2645A8CF6F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C870F-4AB0-48EA-9ACA-4E0C1250B9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6BDA-B7BA-440B-BF34-F6DF8DFF6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91FBB-05A9-4CEA-9627-761E2FCF9D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25135-0D65-4FDE-A603-3A297B6B40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EC8A9-E05A-438D-BA48-FA908318F6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C376F-9D73-4343-8401-E824D78AA1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FFDD6-B46B-48EF-A55E-B5A0FBF604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D75B6-C890-4F77-8E54-C3ED368CAA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89822F-469C-4E72-8161-9668E37E21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2EC78-DC8E-458A-B3A2-8620E36F41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129213C3-25F8-4CC4-AF1E-FFB11A2B0C9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 dirty="0">
                <a:latin typeface="+mn-lt"/>
              </a:rPr>
              <a:t>Copyright 2014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DC5EDC1C-DD06-4243-A0F6-5A02A43274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6"/>
          <p:cNvSpPr txBox="1">
            <a:spLocks/>
          </p:cNvSpPr>
          <p:nvPr userDrawn="1"/>
        </p:nvSpPr>
        <p:spPr bwMode="auto">
          <a:xfrm>
            <a:off x="0" y="6492875"/>
            <a:ext cx="25908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anchor="b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Information Technology Project Management, Seventh Edition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5C8C67B-79E0-4B03-B548-F16276F862A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BB675E-CD20-4C54-8399-39A650F866B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4748EE6-6B0B-4557-BE05-F1325954573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F8CC0BE-5FF1-4C81-A1E4-B20E45CD56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02AE8-0F98-4760-A7D3-E3FB9149980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105FC69-1F0D-4295-BEAF-FB708C736AC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01E5F35-7DC0-482B-828C-42B387541D4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6C5CD-ACCB-4EFC-BFDB-1031EBD9A9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9624F-B5B9-4CA5-BE26-992B54613FF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880B4BE-BFE4-4577-A30B-8926328F73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880B4BE-BFE4-4577-A30B-8926328F73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447800"/>
            <a:ext cx="8077200" cy="134937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Chapter 6:</a:t>
            </a:r>
            <a:br>
              <a:rPr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</a:br>
            <a:r>
              <a:rPr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Project Time Management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3657600"/>
            <a:ext cx="5791200" cy="134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  <a:ea typeface="+mj-ea"/>
                <a:cs typeface="+mj-cs"/>
              </a:rPr>
              <a:t>Information Technology Project Management, Seventh Edition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5791200"/>
            <a:ext cx="47933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See the text itself for full citations.</a:t>
            </a:r>
          </a:p>
        </p:txBody>
      </p:sp>
      <p:pic>
        <p:nvPicPr>
          <p:cNvPr id="8" name="Picture 5" descr="Information Technology Project Manag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153" y="3034843"/>
            <a:ext cx="2971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458200" cy="4572000"/>
          </a:xfrm>
        </p:spPr>
        <p:txBody>
          <a:bodyPr/>
          <a:lstStyle/>
          <a:p>
            <a:r>
              <a:rPr lang="en-US" sz="2400" dirty="0"/>
              <a:t>Understand the importance of project schedules and good project time management</a:t>
            </a:r>
          </a:p>
          <a:p>
            <a:r>
              <a:rPr lang="en-US" sz="2400" dirty="0"/>
              <a:t>Discuss the process of planning schedule management</a:t>
            </a:r>
          </a:p>
          <a:p>
            <a:r>
              <a:rPr lang="en-US" sz="2400" dirty="0"/>
              <a:t>Define activities as the basis for developing project schedules</a:t>
            </a:r>
          </a:p>
          <a:p>
            <a:r>
              <a:rPr lang="en-US" sz="2400" dirty="0"/>
              <a:t>Describe how project managers use network diagrams and dependencies to assist in activity sequencing</a:t>
            </a:r>
          </a:p>
          <a:p>
            <a:r>
              <a:rPr lang="en-US" sz="2400" dirty="0"/>
              <a:t>Understand the relationship between estimating resources and project schedules</a:t>
            </a:r>
          </a:p>
          <a:p>
            <a:r>
              <a:rPr lang="en-US" sz="2400" dirty="0"/>
              <a:t>Explain how various tools and techniques help project managers perform activity duration estimates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5F7A74-1AE0-4F48-ABDC-D6A934445B2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458200" cy="5105400"/>
          </a:xfrm>
        </p:spPr>
        <p:txBody>
          <a:bodyPr/>
          <a:lstStyle/>
          <a:p>
            <a:r>
              <a:rPr lang="en-US" dirty="0"/>
              <a:t>Use a Gantt chart for planning and tracking schedule information, find the critical path for a project, and describe how critical chain scheduling and the Program Evaluation and Review Technique (PERT) affect schedule development</a:t>
            </a:r>
          </a:p>
          <a:p>
            <a:r>
              <a:rPr lang="en-US" dirty="0"/>
              <a:t>Discuss how reality checks and discipline are involved in controlling and managing changes to the project schedule</a:t>
            </a:r>
          </a:p>
          <a:p>
            <a:r>
              <a:rPr lang="en-US" dirty="0"/>
              <a:t>Describe how project management software can assist in project time management and review words of caution before using this software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838200"/>
          </a:xfrm>
        </p:spPr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15CD222-B7F2-423A-A3EB-D75792A90A3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458200" cy="5334000"/>
          </a:xfrm>
        </p:spPr>
        <p:txBody>
          <a:bodyPr/>
          <a:lstStyle/>
          <a:p>
            <a:r>
              <a:rPr lang="en-US" dirty="0"/>
              <a:t>Managers often cite delivering projects on time as one of their biggest challenges</a:t>
            </a:r>
          </a:p>
          <a:p>
            <a:r>
              <a:rPr lang="en-US" dirty="0"/>
              <a:t>Time has the least amount of flexibility; it passes no matter what happens on a project</a:t>
            </a:r>
          </a:p>
          <a:p>
            <a:r>
              <a:rPr lang="en-US" dirty="0"/>
              <a:t>Schedule issues are the main reason for conflicts on projects, especially during the second half of projects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898525"/>
          </a:xfrm>
        </p:spPr>
        <p:txBody>
          <a:bodyPr/>
          <a:lstStyle/>
          <a:p>
            <a:r>
              <a:rPr lang="en-US" dirty="0"/>
              <a:t>Importance of Project Schedules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2DCDCB-BB36-45DB-B937-73A12411FF5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 of the Meyers-Briggs Type Indicator focuses on peoples’ attitudes toward structure and deadline</a:t>
            </a:r>
          </a:p>
          <a:p>
            <a:r>
              <a:rPr lang="en-US" dirty="0"/>
              <a:t>Some people prefer to follow schedules and meet deadlines while others do not  (J vs. P)</a:t>
            </a:r>
          </a:p>
          <a:p>
            <a:r>
              <a:rPr lang="en-US" dirty="0"/>
              <a:t>Difference cultures and even entire countries have different attitudes about schedules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Individual Work Styles and Cultural Differences Cause Schedule Conflicts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070769-5A29-47E1-8BEF-12E5F45AE72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迈尔斯布里格斯类型指标</a:t>
            </a:r>
            <a:r>
              <a:rPr lang="en-US" altLang="zh-CN"/>
              <a:t>(MBTI)</a:t>
            </a:r>
            <a:r>
              <a:rPr lang="zh-CN" altLang="en-US"/>
              <a:t>表征人的性格，是由美国的凯恩琳</a:t>
            </a:r>
            <a:r>
              <a:rPr lang="en-US" altLang="zh-CN"/>
              <a:t>·</a:t>
            </a:r>
            <a:r>
              <a:rPr lang="zh-CN" altLang="en-US"/>
              <a:t>布里格斯和她的女儿伊莎贝尔</a:t>
            </a:r>
            <a:r>
              <a:rPr lang="en-US" altLang="zh-CN"/>
              <a:t>·</a:t>
            </a:r>
            <a:r>
              <a:rPr lang="zh-CN" altLang="en-US"/>
              <a:t>布里格斯</a:t>
            </a:r>
            <a:r>
              <a:rPr lang="en-US" altLang="zh-CN"/>
              <a:t>·</a:t>
            </a:r>
            <a:r>
              <a:rPr lang="zh-CN" altLang="en-US"/>
              <a:t>迈尔斯制定的。该指标以瑞士心理学家荣格划分的</a:t>
            </a:r>
            <a:r>
              <a:rPr lang="en-US" altLang="zh-CN"/>
              <a:t>8</a:t>
            </a:r>
            <a:r>
              <a:rPr lang="zh-CN" altLang="en-US"/>
              <a:t>种类型为基础，加以扩展，形成四个维度，每个点对应每个人的性格。 </a:t>
            </a:r>
          </a:p>
          <a:p>
            <a:pPr lvl="1"/>
            <a:r>
              <a:rPr lang="zh-CN" altLang="en-US"/>
              <a:t>① 外倾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E)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zh-CN" altLang="en-US"/>
              <a:t>内倾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I)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② </a:t>
            </a:r>
            <a:r>
              <a:rPr lang="zh-CN" altLang="en-US"/>
              <a:t>感觉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S)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zh-CN" altLang="en-US"/>
              <a:t>直觉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N)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③ </a:t>
            </a:r>
            <a:r>
              <a:rPr lang="zh-CN" altLang="en-US"/>
              <a:t>思维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T)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zh-CN" altLang="en-US"/>
              <a:t>情感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F)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④ </a:t>
            </a:r>
            <a:r>
              <a:rPr lang="zh-CN" altLang="en-US"/>
              <a:t>判断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J)</a:t>
            </a:r>
            <a:r>
              <a:rPr lang="zh-CN" altLang="en-US">
                <a:ea typeface="宋体" panose="02010600030101010101" pitchFamily="2" charset="-122"/>
              </a:rPr>
              <a:t>－</a:t>
            </a:r>
            <a:r>
              <a:rPr lang="zh-CN" altLang="en-US"/>
              <a:t>知觉</a:t>
            </a:r>
            <a:r>
              <a:rPr lang="en-US" altLang="zh-CN"/>
              <a:t>(</a:t>
            </a:r>
            <a:r>
              <a:rPr lang="en-US" altLang="zh-CN">
                <a:ea typeface="宋体" panose="02010600030101010101" pitchFamily="2" charset="-122"/>
              </a:rPr>
              <a:t>P) 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588375" y="6492875"/>
            <a:ext cx="555625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029642-EAA7-4A1B-A58C-24C5A6212CB4}" type="slidenum">
              <a:rPr lang="en-US" altLang="zh-CN" sz="1200"/>
              <a:pPr eaLnBrk="1" hangingPunct="1"/>
              <a:t>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55607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686800" cy="4953000"/>
          </a:xfrm>
        </p:spPr>
        <p:txBody>
          <a:bodyPr/>
          <a:lstStyle/>
          <a:p>
            <a:r>
              <a:rPr lang="en-US" sz="2000" b="1" dirty="0"/>
              <a:t>Planning schedule management: </a:t>
            </a:r>
            <a:r>
              <a:rPr lang="en-US" sz="2000" dirty="0"/>
              <a:t>determining the policies, procedures, and documentation that will be used for planning, executing, and controlling the project schedule</a:t>
            </a:r>
          </a:p>
          <a:p>
            <a:r>
              <a:rPr lang="en-US" sz="2000" b="1" dirty="0"/>
              <a:t>Defining activities: </a:t>
            </a:r>
            <a:r>
              <a:rPr lang="en-US" sz="2000" dirty="0"/>
              <a:t>identifying the specific activities that the project team members and stakeholders must perform to produce the project deliverables</a:t>
            </a:r>
            <a:endParaRPr lang="en-US" sz="2000" b="1" dirty="0"/>
          </a:p>
          <a:p>
            <a:pPr>
              <a:lnSpc>
                <a:spcPct val="80000"/>
              </a:lnSpc>
            </a:pPr>
            <a:r>
              <a:rPr lang="en-US" sz="2000" b="1" dirty="0"/>
              <a:t>Sequencing activities:</a:t>
            </a:r>
            <a:r>
              <a:rPr lang="en-US" sz="2000" dirty="0"/>
              <a:t> identifying and documenting the relationships between project activities</a:t>
            </a:r>
          </a:p>
          <a:p>
            <a:pPr>
              <a:lnSpc>
                <a:spcPct val="80000"/>
              </a:lnSpc>
            </a:pPr>
            <a:r>
              <a:rPr lang="en-US" sz="2000" b="1" dirty="0"/>
              <a:t>Estimating activity resources: </a:t>
            </a:r>
            <a:r>
              <a:rPr lang="en-US" sz="2000" dirty="0"/>
              <a:t>estimating how many </a:t>
            </a:r>
            <a:r>
              <a:rPr lang="en-US" sz="2000" b="1" dirty="0"/>
              <a:t>resources </a:t>
            </a:r>
            <a:r>
              <a:rPr lang="en-US" sz="2000" dirty="0"/>
              <a:t>a project team should use to perform project activities</a:t>
            </a:r>
          </a:p>
          <a:p>
            <a:pPr>
              <a:lnSpc>
                <a:spcPct val="80000"/>
              </a:lnSpc>
            </a:pPr>
            <a:r>
              <a:rPr lang="en-US" sz="2000" b="1" dirty="0"/>
              <a:t>Estimating activity durations: </a:t>
            </a:r>
            <a:r>
              <a:rPr lang="en-US" sz="2000" dirty="0"/>
              <a:t>estimating the number of work periods that are needed to complete individual activities</a:t>
            </a:r>
          </a:p>
          <a:p>
            <a:pPr>
              <a:lnSpc>
                <a:spcPct val="80000"/>
              </a:lnSpc>
            </a:pPr>
            <a:r>
              <a:rPr lang="en-US" sz="2000" b="1" dirty="0"/>
              <a:t>Developing the schedule: </a:t>
            </a:r>
            <a:r>
              <a:rPr lang="en-US" sz="2000" dirty="0"/>
              <a:t>analyzing activity sequences, activity resource estimates, and activity duration estimates to create the project schedule</a:t>
            </a:r>
          </a:p>
          <a:p>
            <a:pPr>
              <a:lnSpc>
                <a:spcPct val="80000"/>
              </a:lnSpc>
            </a:pPr>
            <a:r>
              <a:rPr lang="en-US" sz="2000" b="1" dirty="0"/>
              <a:t>Controlling the schedule:</a:t>
            </a:r>
            <a:r>
              <a:rPr lang="en-US" sz="2000" dirty="0"/>
              <a:t> controlling and managing changes to the project schedule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Time Management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7BEF57-3FAF-45F7-A64B-4A03589D8F3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Figure 6-1. Project Time Management 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DE0555-12AE-4560-B223-B50328FFE01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48032"/>
            <a:ext cx="6629400" cy="5222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team uses expert judgment, analytical techniques, and meetings to develop the schedule management plan</a:t>
            </a:r>
          </a:p>
          <a:p>
            <a:r>
              <a:rPr lang="en-US" dirty="0"/>
              <a:t>A schedule management plan includes:</a:t>
            </a:r>
          </a:p>
          <a:p>
            <a:pPr lvl="1"/>
            <a:r>
              <a:rPr lang="en-US" dirty="0"/>
              <a:t>Project schedule model development</a:t>
            </a:r>
          </a:p>
          <a:p>
            <a:pPr lvl="1"/>
            <a:r>
              <a:rPr lang="en-US" dirty="0"/>
              <a:t>The scheduling methodology</a:t>
            </a:r>
          </a:p>
          <a:p>
            <a:pPr lvl="1"/>
            <a:r>
              <a:rPr lang="en-US" dirty="0"/>
              <a:t>Level of accuracy and units of measure</a:t>
            </a:r>
          </a:p>
          <a:p>
            <a:pPr lvl="1"/>
            <a:r>
              <a:rPr lang="en-US" dirty="0"/>
              <a:t>Control thresholds</a:t>
            </a:r>
          </a:p>
          <a:p>
            <a:pPr lvl="1"/>
            <a:r>
              <a:rPr lang="en-US" dirty="0"/>
              <a:t>Rules of performance measurement</a:t>
            </a:r>
          </a:p>
          <a:p>
            <a:pPr lvl="1"/>
            <a:r>
              <a:rPr lang="en-US" dirty="0"/>
              <a:t>Reporting formats</a:t>
            </a:r>
          </a:p>
          <a:p>
            <a:pPr lvl="1"/>
            <a:r>
              <a:rPr lang="en-US" dirty="0"/>
              <a:t>Process descriptions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Schedule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5EDC1C-DD06-4243-A0F6-5A02A43274A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433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62938" cy="479107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activity</a:t>
            </a:r>
            <a:r>
              <a:rPr lang="en-US" dirty="0"/>
              <a:t> or </a:t>
            </a:r>
            <a:r>
              <a:rPr lang="en-US" b="1" dirty="0"/>
              <a:t>task</a:t>
            </a:r>
            <a:r>
              <a:rPr lang="en-US" dirty="0"/>
              <a:t> is an element of work normally found on the work breakdown structure (WBS) that has an expected duration, a cost, and resource requirements</a:t>
            </a:r>
          </a:p>
          <a:p>
            <a:pPr>
              <a:lnSpc>
                <a:spcPct val="80000"/>
              </a:lnSpc>
            </a:pPr>
            <a:r>
              <a:rPr lang="en-US" dirty="0"/>
              <a:t>Activity definition involves developing a more detailed WBS and supporting explanations to understand all the work to be done so you can develop realistic cost and duration estimates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944562"/>
          </a:xfrm>
        </p:spPr>
        <p:txBody>
          <a:bodyPr/>
          <a:lstStyle/>
          <a:p>
            <a:r>
              <a:rPr lang="en-US" dirty="0"/>
              <a:t>Defining Activities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990CB0-9CAD-47C6-98DA-F3FB6E96E08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activity list</a:t>
            </a:r>
            <a:r>
              <a:rPr lang="en-US" dirty="0"/>
              <a:t> is a tabulation of activities to be included on a project schedule that includes</a:t>
            </a:r>
          </a:p>
          <a:p>
            <a:pPr lvl="1"/>
            <a:r>
              <a:rPr lang="en-US" dirty="0"/>
              <a:t>the activity name</a:t>
            </a:r>
          </a:p>
          <a:p>
            <a:pPr lvl="1"/>
            <a:r>
              <a:rPr lang="en-US" dirty="0"/>
              <a:t>an activity identifier or number</a:t>
            </a:r>
          </a:p>
          <a:p>
            <a:pPr lvl="1"/>
            <a:r>
              <a:rPr lang="en-US" dirty="0"/>
              <a:t>a brief description of the activity</a:t>
            </a:r>
          </a:p>
          <a:p>
            <a:r>
              <a:rPr lang="en-US" b="1" dirty="0"/>
              <a:t>Activity attributes</a:t>
            </a:r>
            <a:r>
              <a:rPr lang="en-US" dirty="0"/>
              <a:t> provide more information such as predecessors, successors, logical relationships, leads and lags, resource requirements, constraints, imposed dates, and assumptions related to the activity</a:t>
            </a:r>
          </a:p>
          <a:p>
            <a:pPr lvl="1"/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868362"/>
          </a:xfrm>
        </p:spPr>
        <p:txBody>
          <a:bodyPr/>
          <a:lstStyle/>
          <a:p>
            <a:r>
              <a:rPr lang="en-US" dirty="0"/>
              <a:t>Activity Lists and Attributes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ED0421-8ED8-4E0C-BFCB-4504FB076A0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milestone</a:t>
            </a:r>
            <a:r>
              <a:rPr lang="en-US" dirty="0"/>
              <a:t> is a significant event that normally has no duration</a:t>
            </a:r>
          </a:p>
          <a:p>
            <a:pPr>
              <a:lnSpc>
                <a:spcPct val="90000"/>
              </a:lnSpc>
            </a:pPr>
            <a:r>
              <a:rPr lang="en-US" dirty="0"/>
              <a:t>It often takes several activities and a lot of work to complete a milestone</a:t>
            </a:r>
          </a:p>
          <a:p>
            <a:pPr>
              <a:lnSpc>
                <a:spcPct val="90000"/>
              </a:lnSpc>
            </a:pPr>
            <a:r>
              <a:rPr lang="en-US" dirty="0"/>
              <a:t>They’re useful tools for setting schedule goals and monitoring progress</a:t>
            </a:r>
          </a:p>
          <a:p>
            <a:pPr>
              <a:lnSpc>
                <a:spcPct val="90000"/>
              </a:lnSpc>
            </a:pPr>
            <a:r>
              <a:rPr lang="en-US" dirty="0"/>
              <a:t>Examples include obtaining customer sign-off on key documents or completion of specific products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412D1A-37A6-4734-A1C1-78275680573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186738" cy="4791075"/>
          </a:xfrm>
        </p:spPr>
        <p:txBody>
          <a:bodyPr/>
          <a:lstStyle/>
          <a:p>
            <a:r>
              <a:rPr lang="en-US" dirty="0"/>
              <a:t>Involves reviewing activities and determining dependencies</a:t>
            </a:r>
          </a:p>
          <a:p>
            <a:r>
              <a:rPr lang="en-US" dirty="0"/>
              <a:t>A </a:t>
            </a:r>
            <a:r>
              <a:rPr lang="en-US" b="1" dirty="0"/>
              <a:t>dependency</a:t>
            </a:r>
            <a:r>
              <a:rPr lang="en-US" dirty="0"/>
              <a:t> or </a:t>
            </a:r>
            <a:r>
              <a:rPr lang="en-US" b="1" dirty="0"/>
              <a:t>relationship</a:t>
            </a:r>
            <a:r>
              <a:rPr lang="en-US" dirty="0"/>
              <a:t> is the sequencing of project activities or tasks	</a:t>
            </a:r>
          </a:p>
          <a:p>
            <a:r>
              <a:rPr lang="en-US" dirty="0"/>
              <a:t>You </a:t>
            </a:r>
            <a:r>
              <a:rPr lang="en-US" i="1" dirty="0"/>
              <a:t>must</a:t>
            </a:r>
            <a:r>
              <a:rPr lang="en-US" dirty="0"/>
              <a:t> determine dependencies in order to use critical path analysis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762000"/>
          </a:xfrm>
        </p:spPr>
        <p:txBody>
          <a:bodyPr/>
          <a:lstStyle/>
          <a:p>
            <a:r>
              <a:rPr lang="en-US" dirty="0"/>
              <a:t>Sequencing Activities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907678-8CC1-460A-BA5A-131F8F1087B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3058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Mandatory dependencies:</a:t>
            </a:r>
            <a:r>
              <a:rPr lang="en-US" dirty="0"/>
              <a:t> inherent in the nature of the work being performed on a project, sometimes referred to as hard logic</a:t>
            </a:r>
            <a:endParaRPr lang="en-US" b="1" dirty="0"/>
          </a:p>
          <a:p>
            <a:pPr>
              <a:lnSpc>
                <a:spcPct val="90000"/>
              </a:lnSpc>
            </a:pPr>
            <a:r>
              <a:rPr lang="en-US" b="1" dirty="0"/>
              <a:t>Discretionary dependencies: </a:t>
            </a:r>
            <a:r>
              <a:rPr lang="en-US" dirty="0"/>
              <a:t>defined by the project team.,  sometimes referred to as soft logic and should be used with care since they may limit later scheduling options</a:t>
            </a:r>
            <a:endParaRPr lang="en-US" b="1" dirty="0"/>
          </a:p>
          <a:p>
            <a:pPr>
              <a:lnSpc>
                <a:spcPct val="90000"/>
              </a:lnSpc>
            </a:pPr>
            <a:r>
              <a:rPr lang="en-US" b="1" dirty="0"/>
              <a:t>External dependencies:</a:t>
            </a:r>
            <a:r>
              <a:rPr lang="en-US" dirty="0"/>
              <a:t> involve relationships between project and non-project activities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Dependencies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8BBAD3-A968-47CC-BC42-F5C3CCDA555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diagrams are the preferred technique for showing activity sequencing</a:t>
            </a:r>
          </a:p>
          <a:p>
            <a:r>
              <a:rPr lang="en-US" dirty="0"/>
              <a:t>A </a:t>
            </a:r>
            <a:r>
              <a:rPr lang="en-US" b="1" dirty="0"/>
              <a:t>network diagram</a:t>
            </a:r>
            <a:r>
              <a:rPr lang="en-US" dirty="0"/>
              <a:t> is a schematic display of the logical relationships among, or sequencing of, project activities</a:t>
            </a:r>
          </a:p>
          <a:p>
            <a:r>
              <a:rPr lang="en-US" dirty="0"/>
              <a:t>Two main formats are the arrow and precedence diagramming methods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868362"/>
          </a:xfrm>
        </p:spPr>
        <p:txBody>
          <a:bodyPr/>
          <a:lstStyle/>
          <a:p>
            <a:r>
              <a:rPr lang="en-US" dirty="0"/>
              <a:t>Network Diagrams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398F04-7328-4D9A-BC8C-7399E9F9A34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Figure 6-2. Network Diagram for Project 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C3B026E8-5638-45B3-992F-6E806CDE3B8E}" type="slidenum">
              <a:rPr lang="en-US" smtClean="0"/>
              <a:pPr>
                <a:buFontTx/>
                <a:buNone/>
                <a:defRPr/>
              </a:pPr>
              <a:t>16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" y="1447800"/>
            <a:ext cx="9132571" cy="45777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activity-on-arrow (AOA) network diagrams</a:t>
            </a:r>
          </a:p>
          <a:p>
            <a:r>
              <a:rPr lang="en-US" dirty="0"/>
              <a:t>Activities are represented by arrows</a:t>
            </a:r>
          </a:p>
          <a:p>
            <a:r>
              <a:rPr lang="en-US" dirty="0"/>
              <a:t>Nodes or circles are the starting and ending points of activities</a:t>
            </a:r>
          </a:p>
          <a:p>
            <a:r>
              <a:rPr lang="en-US" dirty="0"/>
              <a:t>Can only show finish-to-start dependencies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Arrow Diagramming Method (ADM)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C98BB9-3C19-4BD6-9A5F-7F1B5FE7A47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2578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/>
              <a:t>1. </a:t>
            </a:r>
            <a:r>
              <a:rPr lang="en-US" sz="2400" dirty="0"/>
              <a:t>Find all of the activities that start at node 1.  Draw their finish nodes and draw arrows between node 1 and those finish nodes.  Put the activity letter or name and duration estimate on the associated arrow </a:t>
            </a:r>
          </a:p>
          <a:p>
            <a:pPr>
              <a:buFontTx/>
              <a:buNone/>
            </a:pPr>
            <a:r>
              <a:rPr lang="en-US" sz="2400" dirty="0"/>
              <a:t>2. Continuing drawing the network diagram, working from left to right.  Look for bursts and merges.  </a:t>
            </a:r>
            <a:r>
              <a:rPr lang="en-US" sz="2400" b="1" dirty="0"/>
              <a:t>Bursts</a:t>
            </a:r>
            <a:r>
              <a:rPr lang="en-US" sz="2400" dirty="0"/>
              <a:t> occur when a single node is followed by two or more activities.  A </a:t>
            </a:r>
            <a:r>
              <a:rPr lang="en-US" sz="2400" b="1" dirty="0"/>
              <a:t>merge</a:t>
            </a:r>
            <a:r>
              <a:rPr lang="en-US" sz="2400" dirty="0"/>
              <a:t> occurs when two or more nodes precede a single node</a:t>
            </a:r>
          </a:p>
          <a:p>
            <a:pPr>
              <a:buFontTx/>
              <a:buNone/>
            </a:pPr>
            <a:r>
              <a:rPr lang="en-US" sz="2400" dirty="0"/>
              <a:t>3. Continue drawing the project network diagram until all activities are included on the diagram that have dependencies</a:t>
            </a:r>
          </a:p>
          <a:p>
            <a:pPr>
              <a:buFontTx/>
              <a:buNone/>
            </a:pPr>
            <a:r>
              <a:rPr lang="en-US" sz="2400" dirty="0"/>
              <a:t>4. As a rule of thumb, all arrowheads should face toward the right, and no arrows should cross on an AOA network diagram</a:t>
            </a:r>
            <a:endParaRPr lang="en-US" sz="3600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9144000" cy="327025"/>
          </a:xfrm>
        </p:spPr>
        <p:txBody>
          <a:bodyPr>
            <a:normAutofit fontScale="90000"/>
          </a:bodyPr>
          <a:lstStyle/>
          <a:p>
            <a:r>
              <a:rPr lang="en-US" dirty="0"/>
              <a:t>Process for Creating AOA Diagrams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8120F8-6832-4F3B-ADF8-A6FDA54EFEAD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Activities are represented by boxes</a:t>
            </a:r>
          </a:p>
          <a:p>
            <a:r>
              <a:rPr lang="en-US" dirty="0"/>
              <a:t>Arrows show relationships between activities</a:t>
            </a:r>
          </a:p>
          <a:p>
            <a:r>
              <a:rPr lang="en-US" dirty="0"/>
              <a:t>More popular than ADM method and used by project management software</a:t>
            </a:r>
          </a:p>
          <a:p>
            <a:r>
              <a:rPr lang="en-US" dirty="0"/>
              <a:t>Better at showing different types of dependencies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Precedence Diagramming Method (PDM)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ECF90C-27FF-4771-A56A-23DBBE2C7B3C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Figure 6-3. Task Dependency Types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A4D16118-26E8-437C-B900-43E37754E064}" type="slidenum">
              <a:rPr lang="en-US" smtClean="0"/>
              <a:pPr>
                <a:buFontTx/>
                <a:buNone/>
                <a:defRPr/>
              </a:pPr>
              <a:t>20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96" y="1345629"/>
            <a:ext cx="8687322" cy="47503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Figure 6-4. Sample PDM Network Diagram</a:t>
            </a:r>
            <a:endParaRPr lang="en-US" sz="32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2094BC48-FA5E-46CE-8C4F-D07352F303E3}" type="slidenum">
              <a:rPr lang="en-US" smtClean="0"/>
              <a:pPr>
                <a:buFontTx/>
                <a:buNone/>
                <a:defRPr/>
              </a:pPr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1" y="1828800"/>
            <a:ext cx="8889996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05800" cy="4572000"/>
          </a:xfrm>
        </p:spPr>
        <p:txBody>
          <a:bodyPr/>
          <a:lstStyle/>
          <a:p>
            <a:r>
              <a:rPr lang="en-US" dirty="0"/>
              <a:t>Before estimating activity durations, you must have a good idea of the quantity and type of resources that will be assigned to each activity; </a:t>
            </a:r>
            <a:r>
              <a:rPr lang="en-US" b="1" dirty="0"/>
              <a:t>resources</a:t>
            </a:r>
            <a:r>
              <a:rPr lang="en-US" dirty="0"/>
              <a:t> are people, equipment, and materials</a:t>
            </a:r>
          </a:p>
          <a:p>
            <a:pPr>
              <a:lnSpc>
                <a:spcPct val="90000"/>
              </a:lnSpc>
            </a:pPr>
            <a:r>
              <a:rPr lang="en-US" dirty="0"/>
              <a:t>Consider important issues in estimating resources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How difficult will it be to do specific activities on this project?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What is the organization’s history in doing similar activities?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Are the required resources available?</a:t>
            </a:r>
          </a:p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resource breakdown structure </a:t>
            </a:r>
            <a:r>
              <a:rPr lang="en-US" dirty="0"/>
              <a:t>is a hierarchical structure that identifies the project’s resources by category and type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Activity Resources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288B24-D97E-41B0-8DB0-789651200C0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186738" cy="4791075"/>
          </a:xfrm>
        </p:spPr>
        <p:txBody>
          <a:bodyPr/>
          <a:lstStyle/>
          <a:p>
            <a:r>
              <a:rPr lang="en-US" b="1" dirty="0"/>
              <a:t>Duration</a:t>
            </a:r>
            <a:r>
              <a:rPr lang="en-US" dirty="0"/>
              <a:t> includes the actual amount of time worked on an activity </a:t>
            </a:r>
            <a:r>
              <a:rPr lang="en-US" i="1" dirty="0"/>
              <a:t>plus</a:t>
            </a:r>
            <a:r>
              <a:rPr lang="en-US" dirty="0"/>
              <a:t> elapsed time</a:t>
            </a:r>
          </a:p>
          <a:p>
            <a:r>
              <a:rPr lang="en-US" b="1" dirty="0"/>
              <a:t>Effort</a:t>
            </a:r>
            <a:r>
              <a:rPr lang="en-US" dirty="0"/>
              <a:t> is the number of workdays or work hours required to complete a task</a:t>
            </a:r>
          </a:p>
          <a:p>
            <a:r>
              <a:rPr lang="en-US" dirty="0"/>
              <a:t>Effort does not normally equal duration</a:t>
            </a:r>
          </a:p>
          <a:p>
            <a:r>
              <a:rPr lang="en-US" dirty="0"/>
              <a:t>People doing the work should help create estimates, and an expert should review them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1066800"/>
          </a:xfrm>
        </p:spPr>
        <p:txBody>
          <a:bodyPr/>
          <a:lstStyle/>
          <a:p>
            <a:r>
              <a:rPr lang="en-US" dirty="0"/>
              <a:t>Activity Duration Estimating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F7902D-2E9A-4368-BC8F-780B390E78C2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providing activity estimates as a discrete number, such as four weeks, it’s often helpful to create a </a:t>
            </a:r>
            <a:r>
              <a:rPr lang="en-US" b="1" dirty="0"/>
              <a:t>three-point estimate</a:t>
            </a:r>
          </a:p>
          <a:p>
            <a:pPr lvl="1"/>
            <a:r>
              <a:rPr lang="en-US" dirty="0"/>
              <a:t>an estimate that includes an optimistic, most likely, and pessimistic estimate, such as three weeks for the optimistic, four weeks for the most likely, and five weeks for the pessimistic estimate</a:t>
            </a:r>
          </a:p>
          <a:p>
            <a:r>
              <a:rPr lang="en-US" dirty="0"/>
              <a:t>Three-point estimates are needed for PERT and Monte Carlo simulations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Three-Point Estimates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458F38-7F74-4F04-A54C-61AF37FECED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186738" cy="4791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Uses results of the other time management processes to determine the start and end date of the project</a:t>
            </a:r>
          </a:p>
          <a:p>
            <a:pPr>
              <a:lnSpc>
                <a:spcPct val="90000"/>
              </a:lnSpc>
            </a:pPr>
            <a:r>
              <a:rPr lang="en-US" dirty="0"/>
              <a:t>Ultimate goal is to create a realistic project schedule that provides a basis for monitoring project progress for the time dimension of the project</a:t>
            </a:r>
          </a:p>
          <a:p>
            <a:pPr>
              <a:lnSpc>
                <a:spcPct val="90000"/>
              </a:lnSpc>
            </a:pPr>
            <a:r>
              <a:rPr lang="en-US" dirty="0"/>
              <a:t>Important tools and techniques include Gantt charts, critical path analysis, and critical chain scheduling, and PERT analysis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Developing the Schedule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F0914C-B560-4916-A481-53F2E5D7B739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186738" cy="4791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Gantt charts</a:t>
            </a:r>
            <a:r>
              <a:rPr lang="en-US" dirty="0"/>
              <a:t> provide a standard format for displaying project schedule information by listing project activities and their corresponding start and finish dates in a calendar format</a:t>
            </a:r>
          </a:p>
          <a:p>
            <a:pPr>
              <a:lnSpc>
                <a:spcPct val="90000"/>
              </a:lnSpc>
            </a:pPr>
            <a:r>
              <a:rPr lang="en-US" dirty="0"/>
              <a:t>Symbols include: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black diamond: a milestones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Thick black bars: summary tasks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Lighter horizontal bars: durations of tasks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Arrows: dependencies between tasks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838200"/>
          </a:xfrm>
        </p:spPr>
        <p:txBody>
          <a:bodyPr/>
          <a:lstStyle/>
          <a:p>
            <a:r>
              <a:rPr lang="en-US" dirty="0"/>
              <a:t>Gantt Charts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DE96D3-A52F-45D5-B2AF-E5E47A603FE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Figure 6-5. Gantt Chart for Project 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F3784B9A-2398-468D-9D00-2729FA002109}" type="slidenum">
              <a:rPr lang="en-US" smtClean="0"/>
              <a:pPr>
                <a:buFontTx/>
                <a:buNone/>
                <a:defRPr/>
              </a:pPr>
              <a:t>27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4" y="1600200"/>
            <a:ext cx="8886966" cy="35180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Figure 6-6. Gantt Chart for Software Launch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B9A2A0F0-42CA-4FF4-8D02-0516D9A5FAB1}" type="slidenum">
              <a:rPr lang="en-US" smtClean="0"/>
              <a:pPr>
                <a:buFontTx/>
                <a:buNone/>
                <a:defRPr/>
              </a:pPr>
              <a:t>28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90" y="1182114"/>
            <a:ext cx="6278409" cy="51424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people like to focus on meeting milestones, especially for large projects</a:t>
            </a:r>
          </a:p>
          <a:p>
            <a:r>
              <a:rPr lang="en-US" dirty="0"/>
              <a:t>Milestones emphasize important events or accomplishments on projects</a:t>
            </a:r>
          </a:p>
          <a:p>
            <a:r>
              <a:rPr lang="en-US" dirty="0"/>
              <a:t>Normally create milestone by entering tasks with a zero duration, or you can mark any task as a milestone</a:t>
            </a:r>
          </a:p>
          <a:p>
            <a:pPr lvl="1"/>
            <a:endParaRPr lang="en-US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Adding Milestones to Gantt Charts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850C89-3CD0-4104-9DBD-5E8728FD873E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Milestones should be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pecific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easurable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ssignable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ealistic</a:t>
            </a:r>
          </a:p>
          <a:p>
            <a:pPr lvl="1"/>
            <a:r>
              <a:rPr lang="en-US" b="1" dirty="0"/>
              <a:t>T</a:t>
            </a:r>
            <a:r>
              <a:rPr lang="en-US" dirty="0"/>
              <a:t>ime-framed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Criteria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49AFF9-8771-4AA9-8D36-4C4D22991DE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4572000"/>
          </a:xfrm>
        </p:spPr>
        <p:txBody>
          <a:bodyPr/>
          <a:lstStyle/>
          <a:p>
            <a:r>
              <a:rPr lang="en-US" sz="2400" dirty="0"/>
              <a:t>Schedule risk is inherent in the development of complex systems. Luc Richard, the founder of www.projectmangler.com, suggests that project managers can reduce schedule risk through project milestones, a best practice that involves identifying and tracking significant points or achievements in the project. The five key points of using project milestones include the following:</a:t>
            </a:r>
          </a:p>
          <a:p>
            <a:pPr lvl="1">
              <a:buFont typeface="Wingdings 2" pitchFamily="18" charset="2"/>
              <a:buNone/>
            </a:pPr>
            <a:r>
              <a:rPr lang="en-US" sz="2000" dirty="0"/>
              <a:t>1. Define milestones early in the project and include them in the Gantt chart to provide a visual guide</a:t>
            </a:r>
          </a:p>
          <a:p>
            <a:pPr lvl="1">
              <a:buFont typeface="Wingdings 2" pitchFamily="18" charset="2"/>
              <a:buNone/>
            </a:pPr>
            <a:r>
              <a:rPr lang="en-US" sz="2000" dirty="0"/>
              <a:t>2. Keep milestones small and frequent</a:t>
            </a:r>
          </a:p>
          <a:p>
            <a:pPr lvl="1">
              <a:buFont typeface="Wingdings 2" pitchFamily="18" charset="2"/>
              <a:buNone/>
            </a:pPr>
            <a:r>
              <a:rPr lang="en-US" sz="2000" dirty="0"/>
              <a:t>3. The set of milestones must be all-encompassing</a:t>
            </a:r>
          </a:p>
          <a:p>
            <a:pPr lvl="1">
              <a:buFont typeface="Wingdings 2" pitchFamily="18" charset="2"/>
              <a:buNone/>
            </a:pPr>
            <a:r>
              <a:rPr lang="en-US" sz="2000" dirty="0"/>
              <a:t>4. Each milestone must be binary, meaning it is either complete or incomplete.</a:t>
            </a:r>
          </a:p>
          <a:p>
            <a:pPr lvl="1">
              <a:buFont typeface="Wingdings 2" pitchFamily="18" charset="2"/>
              <a:buNone/>
            </a:pPr>
            <a:r>
              <a:rPr lang="en-US" sz="2000" dirty="0"/>
              <a:t>5. Carefully monitor the critical path</a:t>
            </a:r>
          </a:p>
        </p:txBody>
      </p:sp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Best Practice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979918-EED6-4DDB-A923-FD1FF82340C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Figure 6-7. Sample Tracking Gantt Chart</a:t>
            </a:r>
            <a:endParaRPr lang="en-US" sz="4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AFC8D2FF-D138-478B-A589-5C463DE2B723}" type="slidenum">
              <a:rPr lang="en-US" smtClean="0"/>
              <a:pPr>
                <a:buFontTx/>
                <a:buNone/>
                <a:defRPr/>
              </a:pPr>
              <a:t>32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7255"/>
            <a:ext cx="8610599" cy="498762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186738" cy="47910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CPM</a:t>
            </a:r>
            <a:r>
              <a:rPr lang="en-US" dirty="0"/>
              <a:t> is a network diagramming technique used to predict total project duration</a:t>
            </a:r>
          </a:p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critical path</a:t>
            </a:r>
            <a:r>
              <a:rPr lang="en-US" dirty="0"/>
              <a:t> for a project is the series of activities that determines the </a:t>
            </a:r>
            <a:r>
              <a:rPr lang="en-US" i="1" dirty="0"/>
              <a:t>earliest time</a:t>
            </a:r>
            <a:r>
              <a:rPr lang="en-US" dirty="0"/>
              <a:t> by which the project can be completed</a:t>
            </a:r>
          </a:p>
          <a:p>
            <a:pPr>
              <a:lnSpc>
                <a:spcPct val="90000"/>
              </a:lnSpc>
            </a:pPr>
            <a:r>
              <a:rPr lang="en-US" dirty="0"/>
              <a:t>The critical path is the </a:t>
            </a:r>
            <a:r>
              <a:rPr lang="en-US" i="1" dirty="0"/>
              <a:t>longest path</a:t>
            </a:r>
            <a:r>
              <a:rPr lang="en-US" dirty="0"/>
              <a:t> through the network diagram and has the least amount of</a:t>
            </a:r>
            <a:r>
              <a:rPr lang="en-US" b="1" dirty="0"/>
              <a:t> </a:t>
            </a:r>
            <a:r>
              <a:rPr lang="en-US" dirty="0"/>
              <a:t>slack or float</a:t>
            </a:r>
          </a:p>
          <a:p>
            <a:pPr>
              <a:lnSpc>
                <a:spcPct val="90000"/>
              </a:lnSpc>
            </a:pPr>
            <a:r>
              <a:rPr lang="en-US" b="1" dirty="0"/>
              <a:t>Slack </a:t>
            </a:r>
            <a:r>
              <a:rPr lang="en-US" dirty="0"/>
              <a:t>or</a:t>
            </a:r>
            <a:r>
              <a:rPr lang="en-US" b="1" dirty="0"/>
              <a:t> float</a:t>
            </a:r>
            <a:r>
              <a:rPr lang="en-US" dirty="0"/>
              <a:t> is</a:t>
            </a:r>
            <a:r>
              <a:rPr lang="en-US" b="1" dirty="0"/>
              <a:t> </a:t>
            </a:r>
            <a:r>
              <a:rPr lang="en-US" dirty="0"/>
              <a:t>the amount of time an activity may be delayed without delaying a succeeding activity or the project finish date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Critical Path Method (CPM)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A1AB2D-5DFB-4950-AF7C-9D232B8F5198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develop a good network diagram</a:t>
            </a:r>
          </a:p>
          <a:p>
            <a:r>
              <a:rPr lang="en-US" dirty="0"/>
              <a:t>Add the duration estimates for all activities on each path through the network diagram</a:t>
            </a:r>
          </a:p>
          <a:p>
            <a:r>
              <a:rPr lang="en-US" dirty="0"/>
              <a:t>The longest path is the critical path</a:t>
            </a:r>
          </a:p>
          <a:p>
            <a:r>
              <a:rPr lang="en-US" dirty="0"/>
              <a:t>If one or more of the activities on the critical path takes longer than planned, the whole project schedule will slip </a:t>
            </a:r>
            <a:r>
              <a:rPr lang="en-US" i="1" dirty="0"/>
              <a:t>unless</a:t>
            </a:r>
            <a:r>
              <a:rPr lang="en-US" dirty="0"/>
              <a:t> the project manager takes corrective action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Critical Path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2DCDDA-7202-4BF8-8035-48F69F05CA0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Figure 6-8.  Determining the Critical Path for Project 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EDDB1B10-3CAF-48B2-BF53-B898F606F6FD}" type="slidenum">
              <a:rPr lang="en-US" smtClean="0"/>
              <a:pPr>
                <a:buFontTx/>
                <a:buNone/>
                <a:defRPr/>
              </a:pPr>
              <a:t>35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55594"/>
            <a:ext cx="7467600" cy="50712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534400" cy="5029200"/>
          </a:xfrm>
        </p:spPr>
        <p:txBody>
          <a:bodyPr/>
          <a:lstStyle/>
          <a:p>
            <a:r>
              <a:rPr lang="en-US" b="1" dirty="0"/>
              <a:t>Free slack </a:t>
            </a:r>
            <a:r>
              <a:rPr lang="en-US" dirty="0"/>
              <a:t>or</a:t>
            </a:r>
            <a:r>
              <a:rPr lang="en-US" b="1" dirty="0"/>
              <a:t> free float</a:t>
            </a:r>
            <a:r>
              <a:rPr lang="en-US" dirty="0"/>
              <a:t> is the amount of time an activity can be delayed without delaying the early start of any immediately following activities</a:t>
            </a:r>
          </a:p>
          <a:p>
            <a:r>
              <a:rPr lang="en-US" b="1" dirty="0"/>
              <a:t>Total slack </a:t>
            </a:r>
            <a:r>
              <a:rPr lang="en-US" dirty="0"/>
              <a:t>or</a:t>
            </a:r>
            <a:r>
              <a:rPr lang="en-US" b="1" dirty="0"/>
              <a:t> total float</a:t>
            </a:r>
            <a:r>
              <a:rPr lang="en-US" dirty="0"/>
              <a:t> is the amount of time an activity may be delayed from its early start without delaying the planned project finish date</a:t>
            </a:r>
          </a:p>
          <a:p>
            <a:r>
              <a:rPr lang="en-US" dirty="0"/>
              <a:t>A </a:t>
            </a:r>
            <a:r>
              <a:rPr lang="en-US" b="1" dirty="0"/>
              <a:t>forward pass</a:t>
            </a:r>
            <a:r>
              <a:rPr lang="en-US" dirty="0"/>
              <a:t> through the network diagram determines the early start and finish dates</a:t>
            </a:r>
          </a:p>
          <a:p>
            <a:r>
              <a:rPr lang="en-US" dirty="0"/>
              <a:t>A </a:t>
            </a:r>
            <a:r>
              <a:rPr lang="en-US" b="1" dirty="0"/>
              <a:t>backward pass</a:t>
            </a:r>
            <a:r>
              <a:rPr lang="en-US" dirty="0"/>
              <a:t> determines the late start and finish dates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Critical Path Analysis to Make Schedule Trade-offs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2878E0-1EF5-4F6D-8CB8-2F1B4519DBD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Figure 6-9. Calculating Early and Late Start and Finish Dates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F8342974-F2CB-4BB4-95AC-8FA379BE76BC}" type="slidenum">
              <a:rPr lang="en-US" smtClean="0"/>
              <a:pPr>
                <a:buFontTx/>
                <a:buNone/>
                <a:defRPr/>
              </a:pPr>
              <a:t>37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71600"/>
            <a:ext cx="7315199" cy="502197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6-1. Free and Total Float or Slack for Project 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F90057A4-7251-44EB-9BBB-5BB8364155F3}" type="slidenum">
              <a:rPr lang="en-US" smtClean="0"/>
              <a:pPr>
                <a:buFontTx/>
                <a:buNone/>
                <a:defRPr/>
              </a:pPr>
              <a:t>38</a:t>
            </a:fld>
            <a:endParaRPr lang="en-US" dirty="0"/>
          </a:p>
        </p:txBody>
      </p:sp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2"/>
          <a:srcRect l="23125" t="27000" r="16875" b="17000"/>
          <a:stretch>
            <a:fillRect/>
          </a:stretch>
        </p:blipFill>
        <p:spPr bwMode="auto">
          <a:xfrm>
            <a:off x="609600" y="1524000"/>
            <a:ext cx="7848600" cy="457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main techniques for shortening schedules</a:t>
            </a:r>
          </a:p>
          <a:p>
            <a:pPr lvl="1"/>
            <a:r>
              <a:rPr lang="en-US" dirty="0"/>
              <a:t>Shortening durations of critical activities/tasks by adding more resources or changing their scope</a:t>
            </a:r>
          </a:p>
          <a:p>
            <a:pPr lvl="1"/>
            <a:r>
              <a:rPr lang="en-US" b="1" dirty="0"/>
              <a:t>Crashing</a:t>
            </a:r>
            <a:r>
              <a:rPr lang="en-US" i="1" dirty="0"/>
              <a:t> </a:t>
            </a:r>
            <a:r>
              <a:rPr lang="en-US" dirty="0"/>
              <a:t>activities by obtaining the greatest amount of schedule compression for the least incremental cost</a:t>
            </a:r>
          </a:p>
          <a:p>
            <a:pPr lvl="1"/>
            <a:r>
              <a:rPr lang="en-US" b="1" dirty="0"/>
              <a:t>Fast tracking</a:t>
            </a:r>
            <a:r>
              <a:rPr lang="en-US" dirty="0"/>
              <a:t> activities by doing them in parallel or overlapping them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Critical Path to Shorten a Project Schedule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B92340-8DA1-4F9E-B053-57523ECD5E2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important to update project schedule information to meet time goals for a project</a:t>
            </a:r>
          </a:p>
          <a:p>
            <a:r>
              <a:rPr lang="en-US" dirty="0"/>
              <a:t>The critical path may change as you enter actual start and finish dates</a:t>
            </a:r>
          </a:p>
          <a:p>
            <a:r>
              <a:rPr lang="en-US" dirty="0"/>
              <a:t>If you know the project completion date will slip, negotiate with the project sponsor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Importance of Updating Critical Path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DF7383D-7075-4AAF-B0A1-A58EB85DF292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4582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Critical chain scheduling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method of scheduling that considers limited resources when creating a project schedule and includes buffers to protect the project completion date</a:t>
            </a:r>
          </a:p>
          <a:p>
            <a:pPr>
              <a:lnSpc>
                <a:spcPct val="90000"/>
              </a:lnSpc>
            </a:pPr>
            <a:r>
              <a:rPr lang="en-US" dirty="0"/>
              <a:t>Uses the </a:t>
            </a:r>
            <a:r>
              <a:rPr lang="en-US" b="1" dirty="0"/>
              <a:t>Theory of Constraints</a:t>
            </a:r>
            <a:r>
              <a:rPr lang="en-US" dirty="0"/>
              <a:t> </a:t>
            </a:r>
            <a:r>
              <a:rPr lang="en-US" b="1" dirty="0"/>
              <a:t>(TOC)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management philosophy developed by Eliyahu M. Goldratt and introduced in his book </a:t>
            </a:r>
            <a:r>
              <a:rPr lang="en-US" i="1" dirty="0"/>
              <a:t>The Goal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</a:pPr>
            <a:r>
              <a:rPr lang="en-US" dirty="0"/>
              <a:t>Attempts to minimize </a:t>
            </a:r>
            <a:r>
              <a:rPr lang="en-US" b="1" dirty="0"/>
              <a:t>multitasking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when a resource works on more than one task at a time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Critical Chain Scheduling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E75986-2522-43CD-808C-023B2804D60B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Figures 6-10.a and b. Multitasking Example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CA528CDA-E243-45AF-8D88-47013EEEEFB5}" type="slidenum">
              <a:rPr lang="en-US" smtClean="0"/>
              <a:pPr>
                <a:buFontTx/>
                <a:buNone/>
                <a:defRPr/>
              </a:pPr>
              <a:t>42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23962"/>
            <a:ext cx="7762840" cy="2590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0" y="3404841"/>
            <a:ext cx="7710470" cy="301961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4582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buffer</a:t>
            </a:r>
            <a:r>
              <a:rPr lang="en-US" dirty="0"/>
              <a:t> is additional time to complete a task</a:t>
            </a:r>
          </a:p>
          <a:p>
            <a:pPr>
              <a:lnSpc>
                <a:spcPct val="90000"/>
              </a:lnSpc>
            </a:pPr>
            <a:r>
              <a:rPr lang="en-US" b="1" dirty="0"/>
              <a:t>Murphy’s Law</a:t>
            </a:r>
            <a:r>
              <a:rPr lang="en-US" dirty="0"/>
              <a:t> states that if something can go wrong, it will</a:t>
            </a:r>
          </a:p>
          <a:p>
            <a:pPr>
              <a:lnSpc>
                <a:spcPct val="90000"/>
              </a:lnSpc>
            </a:pPr>
            <a:r>
              <a:rPr lang="en-US" b="1" dirty="0"/>
              <a:t>Parkinson’s Law</a:t>
            </a:r>
            <a:r>
              <a:rPr lang="en-US" dirty="0"/>
              <a:t> states that work expands to fill the time allowed</a:t>
            </a:r>
          </a:p>
          <a:p>
            <a:pPr>
              <a:lnSpc>
                <a:spcPct val="90000"/>
              </a:lnSpc>
            </a:pPr>
            <a:r>
              <a:rPr lang="en-US" dirty="0"/>
              <a:t>In traditional estimates, people often add a buffer to each task and use it if it’s needed or not</a:t>
            </a:r>
          </a:p>
          <a:p>
            <a:pPr>
              <a:lnSpc>
                <a:spcPct val="90000"/>
              </a:lnSpc>
            </a:pPr>
            <a:r>
              <a:rPr lang="en-US" dirty="0"/>
              <a:t>Critical chain scheduling removes buffers from individual tasks and instead creates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</a:t>
            </a:r>
            <a:r>
              <a:rPr lang="en-US" b="1" dirty="0"/>
              <a:t>project buffer</a:t>
            </a:r>
            <a:r>
              <a:rPr lang="en-US" dirty="0"/>
              <a:t> or additional time added before the project’s due date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feeding buffers </a:t>
            </a:r>
            <a:r>
              <a:rPr lang="en-US" dirty="0"/>
              <a:t>or additional time added before tasks on the critical path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Buffers and Critical Chain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26C9F7-5646-4D06-A4FC-2FAC61732D62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Figure 6-11. Example of Critical Chain Scheduling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7845937F-A7EA-419E-B800-CB4A02B63643}" type="slidenum">
              <a:rPr lang="en-US" smtClean="0"/>
              <a:pPr>
                <a:buFontTx/>
                <a:buNone/>
                <a:defRPr/>
              </a:pPr>
              <a:t>44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51373"/>
            <a:ext cx="7772400" cy="516261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PERT</a:t>
            </a:r>
            <a:r>
              <a:rPr lang="en-US" dirty="0"/>
              <a:t> is a network analysis technique used to estimate project duration when there is a high degree of uncertainty about the individual activity duration estimates</a:t>
            </a:r>
          </a:p>
          <a:p>
            <a:r>
              <a:rPr lang="en-US" dirty="0"/>
              <a:t>PERT uses </a:t>
            </a:r>
            <a:r>
              <a:rPr lang="en-US" b="1" dirty="0"/>
              <a:t>probabilistic time estimates</a:t>
            </a:r>
          </a:p>
          <a:p>
            <a:pPr lvl="1"/>
            <a:r>
              <a:rPr lang="en-US" dirty="0"/>
              <a:t>duration estimates based on using optimistic, most likely, and pessimistic estimates of activity durations, or a three-point estimate</a:t>
            </a: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 Evaluation and Review Technique (PERT)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1ABE37-AD7A-4B3D-8C07-1D411BECE9E1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4582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PERT weighted average</a:t>
            </a:r>
            <a:r>
              <a:rPr lang="en-US" b="1" dirty="0"/>
              <a:t> =</a:t>
            </a:r>
            <a:r>
              <a:rPr lang="en-US" b="1" u="sng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u="sng" dirty="0"/>
              <a:t>optimistic time + 4X most likely time + pessimistic time</a:t>
            </a: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					</a:t>
            </a:r>
            <a:r>
              <a:rPr lang="en-US" sz="2400" dirty="0"/>
              <a:t>6</a:t>
            </a:r>
          </a:p>
          <a:p>
            <a:pPr>
              <a:lnSpc>
                <a:spcPct val="90000"/>
              </a:lnSpc>
            </a:pPr>
            <a:r>
              <a:rPr lang="en-US" dirty="0"/>
              <a:t>Example: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PERT weighted average =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 </a:t>
            </a:r>
            <a:r>
              <a:rPr lang="en-US" sz="2400" u="sng" dirty="0"/>
              <a:t>8 workdays + 4 X 10 workdays + 24 workdays</a:t>
            </a:r>
            <a:r>
              <a:rPr lang="en-US" sz="2400" dirty="0"/>
              <a:t> 	= </a:t>
            </a:r>
            <a:r>
              <a:rPr lang="en-US" sz="2400" b="1" dirty="0"/>
              <a:t>12 days</a:t>
            </a:r>
            <a:r>
              <a:rPr lang="en-US" dirty="0"/>
              <a:t>					</a:t>
            </a:r>
            <a:r>
              <a:rPr lang="en-US" sz="2400" dirty="0"/>
              <a:t>6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where optimistic time= 8 days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most likely time = </a:t>
            </a:r>
            <a:r>
              <a:rPr lang="en-US" sz="2400" b="1" dirty="0"/>
              <a:t>10 days</a:t>
            </a:r>
            <a:r>
              <a:rPr lang="en-US" sz="2400" dirty="0"/>
              <a:t>, and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pessimistic time = 24 days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 Therefore, you’d use </a:t>
            </a:r>
            <a:r>
              <a:rPr lang="en-US" sz="2400" b="1" dirty="0"/>
              <a:t>12 days</a:t>
            </a:r>
            <a:r>
              <a:rPr lang="en-US" sz="2400" dirty="0"/>
              <a:t> on the network diagram instead of 10 when using PERT for the above example</a:t>
            </a: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PERT Formula and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102E75-11F1-4483-A22E-C5BB66735E11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reality checks on schedules</a:t>
            </a:r>
          </a:p>
          <a:p>
            <a:r>
              <a:rPr lang="en-US" dirty="0"/>
              <a:t>Allow for contingencies</a:t>
            </a:r>
          </a:p>
          <a:p>
            <a:r>
              <a:rPr lang="en-US" dirty="0"/>
              <a:t>Don’t plan for everyone to work at 100% capacity all the time</a:t>
            </a:r>
          </a:p>
          <a:p>
            <a:r>
              <a:rPr lang="en-US" dirty="0"/>
              <a:t>Hold progress meetings with stakeholders and be clear and honest in communicating schedule issues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Control Suggestions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C1A858-5023-4926-B9FF-652E1A710FDE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87630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Goals are to know the status of the schedule, influence factors that cause schedule changes, determine that the schedule has changed, and manage changes when they occur</a:t>
            </a:r>
          </a:p>
          <a:p>
            <a:pPr>
              <a:lnSpc>
                <a:spcPct val="90000"/>
              </a:lnSpc>
            </a:pPr>
            <a:r>
              <a:rPr lang="en-US" dirty="0"/>
              <a:t>Tools and techniques include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Progress reports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schedule change control system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Project management software, including schedule comparison charts like the tracking Gantt chart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Variance analysis, such as analyzing float or slack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Performance management, such as earned value (chapter 7)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Controlling the Schedule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240E2E-B66C-4064-B91E-500EEA5DF79B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review the draft schedule or estimated completion date in the project charter</a:t>
            </a:r>
          </a:p>
          <a:p>
            <a:r>
              <a:rPr lang="en-US" dirty="0"/>
              <a:t>Prepare a more detailed schedule with the project team</a:t>
            </a:r>
          </a:p>
          <a:p>
            <a:r>
              <a:rPr lang="en-US" dirty="0"/>
              <a:t>Make sure the schedule is realistic and followed</a:t>
            </a:r>
          </a:p>
          <a:p>
            <a:r>
              <a:rPr lang="en-US" dirty="0"/>
              <a:t>Alert top management well in advance if there are schedule problems</a:t>
            </a: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 Checks on Scheduling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C3512C-5BED-469D-A505-6CEF29DE3E0E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Project time management is often cited as the main source of conflict on projects, and most IT projects exceed time estimates</a:t>
            </a:r>
          </a:p>
          <a:p>
            <a:pPr>
              <a:lnSpc>
                <a:spcPct val="90000"/>
              </a:lnSpc>
            </a:pPr>
            <a:r>
              <a:rPr lang="en-US" dirty="0"/>
              <a:t>Main processes include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Plan </a:t>
            </a:r>
            <a:r>
              <a:rPr lang="en-US"/>
              <a:t>schedule management</a:t>
            </a:r>
          </a:p>
          <a:p>
            <a:pPr lvl="1">
              <a:lnSpc>
                <a:spcPct val="90000"/>
              </a:lnSpc>
            </a:pPr>
            <a:r>
              <a:rPr lang="en-US"/>
              <a:t>Define </a:t>
            </a:r>
            <a:r>
              <a:rPr lang="en-US" dirty="0"/>
              <a:t>activities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Sequence activities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Estimate activity resources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Estimate activity durations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Develop schedule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 schedule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792162"/>
          </a:xfrm>
        </p:spPr>
        <p:txBody>
          <a:bodyPr/>
          <a:lstStyle/>
          <a:p>
            <a:r>
              <a:rPr lang="en-US" dirty="0"/>
              <a:t>Chapter Summary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9144F6-8D6B-43D0-ACD9-CBCF47EB473B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1862</TotalTime>
  <Words>2588</Words>
  <Application>Microsoft Office PowerPoint</Application>
  <PresentationFormat>全屏显示(4:3)</PresentationFormat>
  <Paragraphs>277</Paragraphs>
  <Slides>50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1" baseType="lpstr">
      <vt:lpstr>宋体</vt:lpstr>
      <vt:lpstr>Arial</vt:lpstr>
      <vt:lpstr>Arial Rounded MT Bold</vt:lpstr>
      <vt:lpstr>Calibri</vt:lpstr>
      <vt:lpstr>Lucida Sans Unicode</vt:lpstr>
      <vt:lpstr>Times New Roman</vt:lpstr>
      <vt:lpstr>Verdana</vt:lpstr>
      <vt:lpstr>Wingdings 2</vt:lpstr>
      <vt:lpstr>Wingdings 3</vt:lpstr>
      <vt:lpstr>Custom Design</vt:lpstr>
      <vt:lpstr>Theme1</vt:lpstr>
      <vt:lpstr>Chapter 6: Project Time Management</vt:lpstr>
      <vt:lpstr>Learning Objectives</vt:lpstr>
      <vt:lpstr>Learning Objectives</vt:lpstr>
      <vt:lpstr>Importance of Project Schedules</vt:lpstr>
      <vt:lpstr>Individual Work Styles and Cultural Differences Cause Schedule Conflicts</vt:lpstr>
      <vt:lpstr>PowerPoint 演示文稿</vt:lpstr>
      <vt:lpstr>Project Time Management Processes</vt:lpstr>
      <vt:lpstr>Figure 6-1. Project Time Management Summary</vt:lpstr>
      <vt:lpstr>Planning Schedule Management</vt:lpstr>
      <vt:lpstr>Defining Activities</vt:lpstr>
      <vt:lpstr>Activity Lists and Attributes</vt:lpstr>
      <vt:lpstr>Milestones</vt:lpstr>
      <vt:lpstr>Sequencing Activities</vt:lpstr>
      <vt:lpstr>Three types of Dependencies</vt:lpstr>
      <vt:lpstr>Network Diagrams</vt:lpstr>
      <vt:lpstr>Figure 6-2. Network Diagram for Project X</vt:lpstr>
      <vt:lpstr>Arrow Diagramming Method (ADM)</vt:lpstr>
      <vt:lpstr>Process for Creating AOA Diagrams</vt:lpstr>
      <vt:lpstr>Precedence Diagramming Method (PDM)</vt:lpstr>
      <vt:lpstr>Figure 6-3. Task Dependency Types</vt:lpstr>
      <vt:lpstr>Figure 6-4. Sample PDM Network Diagram</vt:lpstr>
      <vt:lpstr>Estimating Activity Resources</vt:lpstr>
      <vt:lpstr>Activity Duration Estimating</vt:lpstr>
      <vt:lpstr>Three-Point Estimates</vt:lpstr>
      <vt:lpstr>Developing the Schedule</vt:lpstr>
      <vt:lpstr>Gantt Charts</vt:lpstr>
      <vt:lpstr>Figure 6-5. Gantt Chart for Project X</vt:lpstr>
      <vt:lpstr>Figure 6-6. Gantt Chart for Software Launch Project</vt:lpstr>
      <vt:lpstr>Adding Milestones to Gantt Charts</vt:lpstr>
      <vt:lpstr>SMART Criteria</vt:lpstr>
      <vt:lpstr>Best Practice</vt:lpstr>
      <vt:lpstr>Figure 6-7. Sample Tracking Gantt Chart</vt:lpstr>
      <vt:lpstr>Critical Path Method (CPM)</vt:lpstr>
      <vt:lpstr>Calculating the Critical Path</vt:lpstr>
      <vt:lpstr>Figure 6-8.  Determining the Critical Path for Project X</vt:lpstr>
      <vt:lpstr>Using Critical Path Analysis to Make Schedule Trade-offs</vt:lpstr>
      <vt:lpstr>Figure 6-9. Calculating Early and Late Start and Finish Dates</vt:lpstr>
      <vt:lpstr>Table 6-1. Free and Total Float or Slack for Project X</vt:lpstr>
      <vt:lpstr>Using the Critical Path to Shorten a Project Schedule</vt:lpstr>
      <vt:lpstr>Importance of Updating Critical Path Data</vt:lpstr>
      <vt:lpstr>Critical Chain Scheduling</vt:lpstr>
      <vt:lpstr>Figures 6-10.a and b. Multitasking Example</vt:lpstr>
      <vt:lpstr>Buffers and Critical Chain</vt:lpstr>
      <vt:lpstr>Figure 6-11. Example of Critical Chain Scheduling</vt:lpstr>
      <vt:lpstr>Program Evaluation and Review Technique (PERT)</vt:lpstr>
      <vt:lpstr>PERT Formula and Example</vt:lpstr>
      <vt:lpstr>Schedule Control Suggestions</vt:lpstr>
      <vt:lpstr>Controlling the Schedule</vt:lpstr>
      <vt:lpstr>Reality Checks on Scheduling</vt:lpstr>
      <vt:lpstr>Chapter Summary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七七 许</cp:lastModifiedBy>
  <cp:revision>156</cp:revision>
  <dcterms:created xsi:type="dcterms:W3CDTF">2001-07-05T23:10:12Z</dcterms:created>
  <dcterms:modified xsi:type="dcterms:W3CDTF">2025-11-02T07:01:10Z</dcterms:modified>
</cp:coreProperties>
</file>