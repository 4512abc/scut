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61" r:id="rId3"/>
    <p:sldId id="441" r:id="rId4"/>
    <p:sldId id="438" r:id="rId5"/>
    <p:sldId id="618" r:id="rId6"/>
    <p:sldId id="635" r:id="rId7"/>
    <p:sldId id="619" r:id="rId8"/>
    <p:sldId id="620" r:id="rId9"/>
    <p:sldId id="621" r:id="rId10"/>
    <p:sldId id="636" r:id="rId11"/>
    <p:sldId id="622" r:id="rId12"/>
    <p:sldId id="634" r:id="rId13"/>
    <p:sldId id="447" r:id="rId14"/>
    <p:sldId id="449" r:id="rId15"/>
    <p:sldId id="453" r:id="rId16"/>
    <p:sldId id="452" r:id="rId17"/>
    <p:sldId id="451" r:id="rId18"/>
    <p:sldId id="450" r:id="rId19"/>
    <p:sldId id="454" r:id="rId20"/>
    <p:sldId id="455" r:id="rId21"/>
    <p:sldId id="456" r:id="rId22"/>
  </p:sldIdLst>
  <p:sldSz cx="12192000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73">
          <p15:clr>
            <a:srgbClr val="A4A3A4"/>
          </p15:clr>
        </p15:guide>
        <p15:guide id="2" pos="391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99FFCC"/>
    <a:srgbClr val="99FF99"/>
    <a:srgbClr val="17347D"/>
    <a:srgbClr val="161674"/>
    <a:srgbClr val="006464"/>
    <a:srgbClr val="000054"/>
    <a:srgbClr val="FF0000"/>
    <a:srgbClr val="010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028" autoAdjust="0"/>
  </p:normalViewPr>
  <p:slideViewPr>
    <p:cSldViewPr snapToGrid="0">
      <p:cViewPr varScale="1">
        <p:scale>
          <a:sx n="70" d="100"/>
          <a:sy n="70" d="100"/>
        </p:scale>
        <p:origin x="714" y="60"/>
      </p:cViewPr>
      <p:guideLst>
        <p:guide orient="horz" pos="2073"/>
        <p:guide pos="3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1999" cy="71999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0213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3025" y="0"/>
            <a:ext cx="2973388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/>
            </a:lvl1pPr>
          </a:lstStyle>
          <a:p>
            <a:fld id="{C3615A5E-2622-402E-89EA-100D24882FFF}" type="datetime1">
              <a:rPr lang="zh-CN" altLang="en-US"/>
              <a:pPr/>
              <a:t>2016/4/19</a:t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zh-CN"/>
              <a:t>单击此处编辑母版文本样式</a:t>
            </a:r>
          </a:p>
          <a:p>
            <a:pPr>
              <a:buFontTx/>
              <a:buNone/>
            </a:pPr>
            <a:r>
              <a:rPr lang="zh-CN"/>
              <a:t>第二级</a:t>
            </a:r>
          </a:p>
          <a:p>
            <a:pPr>
              <a:buFontTx/>
              <a:buNone/>
            </a:pPr>
            <a:r>
              <a:rPr lang="zh-CN"/>
              <a:t>第三级</a:t>
            </a:r>
          </a:p>
          <a:p>
            <a:pPr>
              <a:buFontTx/>
              <a:buNone/>
            </a:pPr>
            <a:r>
              <a:rPr lang="zh-CN"/>
              <a:t>第四级</a:t>
            </a:r>
          </a:p>
          <a:p>
            <a:pPr>
              <a:buFontTx/>
              <a:buNone/>
            </a:pPr>
            <a:r>
              <a:rPr lang="zh-CN"/>
              <a:t>第五级</a:t>
            </a:r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0213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3025" y="8685213"/>
            <a:ext cx="2973388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/>
            </a:lvl1pPr>
          </a:lstStyle>
          <a:p>
            <a:fld id="{0D4ECAC3-12CC-48CC-AFEA-7BFFE1ABC6DE}" type="slidenum">
              <a:rPr lang="zh-CN" altLang="en-US"/>
              <a:pPr/>
              <a:t>‹#›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914522203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3ABC69C-4018-4675-BAC1-7567BAAF1604}" type="datetime1">
              <a:rPr lang="zh-CN" altLang="en-US"/>
              <a:pPr/>
              <a:t>2016/4/19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F15301-E267-44C1-8421-A2DF58D119D5}" type="slidenum">
              <a:rPr lang="zh-CN" altLang="en-US"/>
              <a:pPr/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96330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3ABC69C-4018-4675-BAC1-7567BAAF1604}" type="datetime1">
              <a:rPr lang="zh-CN" altLang="en-US"/>
              <a:pPr/>
              <a:t>2016/4/19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E951DA-726E-448F-9360-530D8BB76EC7}" type="slidenum">
              <a:rPr lang="zh-CN" altLang="en-US"/>
              <a:pPr/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23912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3ABC69C-4018-4675-BAC1-7567BAAF1604}" type="datetime1">
              <a:rPr lang="zh-CN" altLang="en-US"/>
              <a:pPr/>
              <a:t>2016/4/19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D8CEC3-0F0D-4340-8C4D-19F4AACC6EBB}" type="slidenum">
              <a:rPr lang="zh-CN" altLang="en-US"/>
              <a:pPr/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20977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3ABC69C-4018-4675-BAC1-7567BAAF1604}" type="datetime1">
              <a:rPr lang="zh-CN" altLang="en-US"/>
              <a:pPr/>
              <a:t>2016/4/19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29B419-64C1-43C3-9F82-FA4E44EA5011}" type="slidenum">
              <a:rPr lang="zh-CN" altLang="en-US"/>
              <a:pPr/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53537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3ABC69C-4018-4675-BAC1-7567BAAF1604}" type="datetime1">
              <a:rPr lang="zh-CN" altLang="en-US"/>
              <a:pPr/>
              <a:t>2016/4/19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FABB3B-CADF-4FD5-A6A1-4A106568D247}" type="slidenum">
              <a:rPr lang="zh-CN" altLang="en-US"/>
              <a:pPr/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18450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3ABC69C-4018-4675-BAC1-7567BAAF1604}" type="datetime1">
              <a:rPr lang="zh-CN" altLang="en-US"/>
              <a:pPr/>
              <a:t>2016/4/19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51A373-2CC4-4BEB-A1BF-E42D1F14E45E}" type="slidenum">
              <a:rPr lang="zh-CN" altLang="en-US"/>
              <a:pPr/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5655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3ABC69C-4018-4675-BAC1-7567BAAF1604}" type="datetime1">
              <a:rPr lang="zh-CN" altLang="en-US"/>
              <a:pPr/>
              <a:t>2016/4/19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0053C7-8BD9-494E-8BB0-DFC708476547}" type="slidenum">
              <a:rPr lang="zh-CN" altLang="en-US"/>
              <a:pPr/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48241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3ABC69C-4018-4675-BAC1-7567BAAF1604}" type="datetime1">
              <a:rPr lang="zh-CN" altLang="en-US"/>
              <a:pPr/>
              <a:t>2016/4/19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5AEF08-DBD0-4424-9C22-665BA03F7CD9}" type="slidenum">
              <a:rPr lang="zh-CN" altLang="en-US"/>
              <a:pPr/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51924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3ABC69C-4018-4675-BAC1-7567BAAF1604}" type="datetime1">
              <a:rPr lang="zh-CN" altLang="en-US"/>
              <a:pPr/>
              <a:t>2016/4/19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2853DE-5663-4D84-A121-057B64BCBC90}" type="slidenum">
              <a:rPr lang="zh-CN" altLang="en-US"/>
              <a:pPr/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26617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3ABC69C-4018-4675-BAC1-7567BAAF1604}" type="datetime1">
              <a:rPr lang="zh-CN" altLang="en-US"/>
              <a:pPr/>
              <a:t>2016/4/19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B24875-076A-4D42-9286-2A95155C864E}" type="slidenum">
              <a:rPr lang="zh-CN" altLang="en-US"/>
              <a:pPr/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95555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3ABC69C-4018-4675-BAC1-7567BAAF1604}" type="datetime1">
              <a:rPr lang="zh-CN" altLang="en-US"/>
              <a:pPr/>
              <a:t>2016/4/19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A5AD9F-C2BE-4D87-BE09-C3B61E0169D9}" type="slidenum">
              <a:rPr lang="zh-CN" altLang="en-US"/>
              <a:pPr/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1111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13">
            <a:alphaModFix amt="16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smtClean="0">
                <a:sym typeface="Calibri Light" panose="020F0302020204030204" pitchFamily="34" charset="0"/>
              </a:rPr>
              <a:t>单击此处编辑母版标题样式</a:t>
            </a:r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smtClean="0">
                <a:sym typeface="Calibri" panose="020F0502020204030204" pitchFamily="34" charset="0"/>
              </a:rPr>
              <a:t>单击此处编辑母版文本样式</a:t>
            </a:r>
          </a:p>
          <a:p>
            <a:pPr lvl="1"/>
            <a:r>
              <a:rPr lang="zh-CN" smtClean="0">
                <a:sym typeface="Calibri" panose="020F0502020204030204" pitchFamily="34" charset="0"/>
              </a:rPr>
              <a:t>第二级</a:t>
            </a:r>
          </a:p>
          <a:p>
            <a:pPr lvl="2"/>
            <a:r>
              <a:rPr lang="zh-CN" smtClean="0">
                <a:sym typeface="Calibri" panose="020F0502020204030204" pitchFamily="34" charset="0"/>
              </a:rPr>
              <a:t>第三级</a:t>
            </a:r>
          </a:p>
          <a:p>
            <a:pPr lvl="3"/>
            <a:r>
              <a:rPr lang="zh-CN" smtClean="0">
                <a:sym typeface="Calibri" panose="020F0502020204030204" pitchFamily="34" charset="0"/>
              </a:rPr>
              <a:t>第四级</a:t>
            </a:r>
          </a:p>
          <a:p>
            <a:pPr lvl="4"/>
            <a:r>
              <a:rPr lang="zh-CN" smtClean="0">
                <a:sym typeface="Calibri" panose="020F0502020204030204" pitchFamily="34" charset="0"/>
              </a:rPr>
              <a:t>第五级</a:t>
            </a:r>
          </a:p>
        </p:txBody>
      </p:sp>
      <p:sp>
        <p:nvSpPr>
          <p:cNvPr id="1028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fld id="{B3ABC69C-4018-4675-BAC1-7567BAAF1604}" type="datetime1">
              <a:rPr lang="zh-CN" altLang="en-US"/>
              <a:pPr/>
              <a:t>2016/4/19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102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</a:defRPr>
            </a:lvl1pPr>
          </a:lstStyle>
          <a:p>
            <a:endParaRPr lang="zh-CN" altLang="zh-CN"/>
          </a:p>
        </p:txBody>
      </p:sp>
      <p:sp>
        <p:nvSpPr>
          <p:cNvPr id="103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F515840C-A718-4B9B-A8D8-A07C4B4DFD7E}" type="slidenum">
              <a:rPr lang="zh-CN" altLang="en-US"/>
              <a:pPr/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marL="9144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 Light" panose="020F0302020204030204" pitchFamily="34" charset="0"/>
        </a:defRPr>
      </a:lvl1pPr>
      <a:lvl2pPr marL="9144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2pPr>
      <a:lvl3pPr marL="9144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3pPr>
      <a:lvl4pPr marL="9144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4pPr>
      <a:lvl5pPr marL="9144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5pPr>
      <a:lvl6pPr marL="13716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6pPr>
      <a:lvl7pPr marL="18288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7pPr>
      <a:lvl8pPr marL="22860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8pPr>
      <a:lvl9pPr marL="2743200" indent="-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  <a:sym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 1"/>
          <p:cNvSpPr>
            <a:spLocks noGrp="1" noChangeArrowheads="1"/>
          </p:cNvSpPr>
          <p:nvPr>
            <p:ph type="ctrTitle" idx="4294967295"/>
          </p:nvPr>
        </p:nvSpPr>
        <p:spPr>
          <a:xfrm>
            <a:off x="2133600" y="2219325"/>
            <a:ext cx="7783513" cy="1023938"/>
          </a:xfrm>
          <a:ln/>
        </p:spPr>
        <p:txBody>
          <a:bodyPr anchor="b"/>
          <a:lstStyle/>
          <a:p>
            <a:pPr marL="0" indent="0" algn="ctr">
              <a:lnSpc>
                <a:spcPct val="150000"/>
              </a:lnSpc>
            </a:pPr>
            <a:r>
              <a:rPr lang="zh-CN" sz="4000" b="1">
                <a:latin typeface="方正姚体" panose="02010601030101010101" pitchFamily="2" charset="-122"/>
                <a:ea typeface="方正姚体" panose="02010601030101010101" pitchFamily="2" charset="-122"/>
                <a:sym typeface="方正姚体" panose="02010601030101010101" pitchFamily="2" charset="-122"/>
              </a:rPr>
              <a:t>第七单元 软件项目经济评价方法</a:t>
            </a:r>
          </a:p>
        </p:txBody>
      </p:sp>
      <p:sp>
        <p:nvSpPr>
          <p:cNvPr id="3075" name="副标题 2"/>
          <p:cNvSpPr>
            <a:spLocks noChangeArrowheads="1"/>
          </p:cNvSpPr>
          <p:nvPr/>
        </p:nvSpPr>
        <p:spPr bwMode="auto">
          <a:xfrm>
            <a:off x="1630363" y="1006475"/>
            <a:ext cx="9144000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zh-CN" altLang="en-US" sz="4800" b="1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  <a:sym typeface="楷体" panose="02010609060101010101" pitchFamily="49" charset="-122"/>
              </a:rPr>
              <a:t>软件工程经济学</a:t>
            </a:r>
          </a:p>
        </p:txBody>
      </p:sp>
      <p:sp>
        <p:nvSpPr>
          <p:cNvPr id="3076" name="标题 1"/>
          <p:cNvSpPr>
            <a:spLocks noChangeArrowheads="1"/>
          </p:cNvSpPr>
          <p:nvPr/>
        </p:nvSpPr>
        <p:spPr bwMode="auto">
          <a:xfrm>
            <a:off x="4824413" y="3565525"/>
            <a:ext cx="2754312" cy="1023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ctr">
              <a:lnSpc>
                <a:spcPct val="150000"/>
              </a:lnSpc>
            </a:pPr>
            <a:r>
              <a:rPr lang="zh-CN" altLang="en-US" sz="4000" b="1" smtClean="0">
                <a:latin typeface="方正姚体" panose="02010601030101010101" pitchFamily="2" charset="-122"/>
                <a:ea typeface="方正姚体" panose="02010601030101010101" pitchFamily="2" charset="-122"/>
                <a:sym typeface="方正姚体" panose="02010601030101010101" pitchFamily="2" charset="-122"/>
              </a:rPr>
              <a:t>（六）</a:t>
            </a:r>
            <a:endParaRPr lang="zh-CN" altLang="en-US" sz="4000" b="1">
              <a:latin typeface="方正姚体" panose="02010601030101010101" pitchFamily="2" charset="-122"/>
              <a:ea typeface="方正姚体" panose="02010601030101010101" pitchFamily="2" charset="-122"/>
              <a:sym typeface="方正姚体" panose="02010601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副标题 2"/>
          <p:cNvSpPr>
            <a:spLocks noChangeArrowheads="1"/>
          </p:cNvSpPr>
          <p:nvPr/>
        </p:nvSpPr>
        <p:spPr bwMode="auto">
          <a:xfrm>
            <a:off x="1109785" y="965933"/>
            <a:ext cx="2890838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zh-CN" altLang="en-US" sz="3600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  <a:sym typeface="楷体" panose="02010609060101010101" pitchFamily="49" charset="-122"/>
              </a:rPr>
              <a:t>本单元内容</a:t>
            </a:r>
          </a:p>
        </p:txBody>
      </p:sp>
      <p:sp>
        <p:nvSpPr>
          <p:cNvPr id="4099" name="标题 1"/>
          <p:cNvSpPr>
            <a:spLocks noChangeArrowheads="1"/>
          </p:cNvSpPr>
          <p:nvPr/>
        </p:nvSpPr>
        <p:spPr bwMode="auto">
          <a:xfrm>
            <a:off x="333619" y="1945665"/>
            <a:ext cx="5083175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marL="571500" indent="-571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CN" altLang="en-US" sz="32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楷体" panose="02010609060101010101" pitchFamily="49" charset="-122"/>
              </a:rPr>
              <a:t>软件项目决策方法</a:t>
            </a:r>
          </a:p>
        </p:txBody>
      </p:sp>
      <p:sp>
        <p:nvSpPr>
          <p:cNvPr id="4102" name="标题 1"/>
          <p:cNvSpPr>
            <a:spLocks noChangeArrowheads="1"/>
          </p:cNvSpPr>
          <p:nvPr/>
        </p:nvSpPr>
        <p:spPr bwMode="auto">
          <a:xfrm>
            <a:off x="1109785" y="3215474"/>
            <a:ext cx="3346841" cy="57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marL="571500" indent="-571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sym typeface="楷体" panose="02010609060101010101" pitchFamily="49" charset="-122"/>
              </a:rPr>
              <a:t>动态规划方法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AAF86-C808-4398-B17D-11D0E785DA62}" type="slidenum">
              <a:rPr lang="zh-CN" altLang="en-US"/>
              <a:pPr/>
              <a:t>3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19458" name="标题 1"/>
          <p:cNvSpPr>
            <a:spLocks noGrp="1" noChangeArrowheads="1"/>
          </p:cNvSpPr>
          <p:nvPr>
            <p:ph type="title" idx="4294967295"/>
          </p:nvPr>
        </p:nvSpPr>
        <p:spPr>
          <a:xfrm>
            <a:off x="3013075" y="146050"/>
            <a:ext cx="6376988" cy="701675"/>
          </a:xfrm>
          <a:ln/>
        </p:spPr>
        <p:txBody>
          <a:bodyPr/>
          <a:lstStyle/>
          <a:p>
            <a:pPr marL="0" indent="0"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sz="2800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  <a:sym typeface="楷体" panose="02010609060101010101" pitchFamily="49" charset="-122"/>
              </a:rPr>
              <a:t>软件项目动态规划</a:t>
            </a:r>
            <a:endParaRPr lang="zh-CN" sz="2800" dirty="0"/>
          </a:p>
        </p:txBody>
      </p:sp>
      <p:sp>
        <p:nvSpPr>
          <p:cNvPr id="19460" name="Rectangle 3"/>
          <p:cNvSpPr>
            <a:spLocks noChangeArrowheads="1"/>
          </p:cNvSpPr>
          <p:nvPr/>
        </p:nvSpPr>
        <p:spPr bwMode="auto">
          <a:xfrm>
            <a:off x="498475" y="1054100"/>
            <a:ext cx="11499850" cy="2287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zh-CN" altLang="en-US" sz="2400" dirty="0">
                <a:latin typeface="Calibri" panose="020F0502020204030204" pitchFamily="34" charset="0"/>
                <a:sym typeface="Calibri" panose="020F0502020204030204" pitchFamily="34" charset="0"/>
              </a:rPr>
              <a:t>        </a:t>
            </a:r>
            <a:r>
              <a:rPr lang="zh-CN" altLang="en-US" sz="2800" dirty="0">
                <a:latin typeface="Calibri" panose="020F0502020204030204" pitchFamily="34" charset="0"/>
                <a:sym typeface="Calibri" panose="020F0502020204030204" pitchFamily="34" charset="0"/>
              </a:rPr>
              <a:t>当软件项目的各个方案的评价指标值域为连续（或片段连续）且不同指标间存在复杂非线性映射关系时，或指标随时间变化出现阶段性关联时，可以采用动态规划的方法求解最好方案。</a:t>
            </a:r>
            <a:endParaRPr lang="en-US" sz="2800" dirty="0">
              <a:latin typeface="Calibri" panose="020F0502020204030204" pitchFamily="34" charset="0"/>
              <a:sym typeface="Calibri" panose="020F0502020204030204" pitchFamily="34" charset="0"/>
            </a:endParaRPr>
          </a:p>
        </p:txBody>
      </p:sp>
      <p:sp>
        <p:nvSpPr>
          <p:cNvPr id="19461" name="矩形 2"/>
          <p:cNvSpPr>
            <a:spLocks noChangeArrowheads="1"/>
          </p:cNvSpPr>
          <p:nvPr/>
        </p:nvSpPr>
        <p:spPr bwMode="auto">
          <a:xfrm>
            <a:off x="360362" y="3341688"/>
            <a:ext cx="11161077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rgbClr val="000000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        多阶段决策问题中，一般来说是与时间有关的，决策依赖于当前状态，又随即引起状态的转移，一个决策序列就是在变化的状态中产生出来的，故有“动态”的含义，称这种解决多阶段决策最优化问题的方法为动态规划方法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/>
      <p:bldP spid="1946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图片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5663" y="4292600"/>
            <a:ext cx="3716337" cy="256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483" name="矩形 2"/>
          <p:cNvSpPr>
            <a:spLocks noChangeArrowheads="1"/>
          </p:cNvSpPr>
          <p:nvPr/>
        </p:nvSpPr>
        <p:spPr bwMode="auto">
          <a:xfrm>
            <a:off x="0" y="0"/>
            <a:ext cx="12192000" cy="9429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0484" name="标题 1"/>
          <p:cNvSpPr>
            <a:spLocks noGrp="1" noChangeArrowheads="1"/>
          </p:cNvSpPr>
          <p:nvPr>
            <p:ph type="title" idx="4294967295"/>
          </p:nvPr>
        </p:nvSpPr>
        <p:spPr>
          <a:xfrm>
            <a:off x="2906713" y="85725"/>
            <a:ext cx="6378575" cy="701675"/>
          </a:xfrm>
          <a:ln/>
        </p:spPr>
        <p:txBody>
          <a:bodyPr/>
          <a:lstStyle/>
          <a:p>
            <a:pPr marL="0" indent="0"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sz="2800" b="1" dirty="0">
                <a:solidFill>
                  <a:schemeClr val="accent2"/>
                </a:solidFill>
                <a:latin typeface="楷体" panose="02010609060101010101" pitchFamily="49" charset="-122"/>
                <a:ea typeface="楷体" panose="02010609060101010101" pitchFamily="49" charset="-122"/>
                <a:sym typeface="楷体" panose="02010609060101010101" pitchFamily="49" charset="-122"/>
              </a:rPr>
              <a:t>动态规划</a:t>
            </a:r>
          </a:p>
        </p:txBody>
      </p:sp>
      <p:pic>
        <p:nvPicPr>
          <p:cNvPr id="20485" name="图片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38200"/>
            <a:ext cx="12192000" cy="598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4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4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249238" y="212725"/>
            <a:ext cx="41520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0101FF"/>
                </a:solidFill>
              </a:rPr>
              <a:t>建立动态规划模型的步骤</a:t>
            </a:r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438150" y="936625"/>
            <a:ext cx="190308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accent2"/>
                </a:solidFill>
              </a:rPr>
              <a:t>1、划分阶段</a:t>
            </a:r>
          </a:p>
        </p:txBody>
      </p:sp>
      <p:sp>
        <p:nvSpPr>
          <p:cNvPr id="21509" name="Text Box 5"/>
          <p:cNvSpPr txBox="1">
            <a:spLocks noChangeArrowheads="1"/>
          </p:cNvSpPr>
          <p:nvPr/>
        </p:nvSpPr>
        <p:spPr bwMode="auto">
          <a:xfrm>
            <a:off x="908051" y="1458913"/>
            <a:ext cx="6059678" cy="164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b="1" dirty="0">
                <a:solidFill>
                  <a:srgbClr val="000054"/>
                </a:solidFill>
              </a:rPr>
              <a:t>划分阶段是运用动态规划求解多阶段决策问题的第一步，在确定多阶段特性后</a:t>
            </a:r>
            <a:r>
              <a:rPr lang="zh-CN" altLang="en-US" sz="2000" b="1" dirty="0" smtClean="0">
                <a:solidFill>
                  <a:srgbClr val="000054"/>
                </a:solidFill>
              </a:rPr>
              <a:t>，按时</a:t>
            </a:r>
            <a:r>
              <a:rPr lang="zh-CN" altLang="en-US" sz="2000" b="1" dirty="0">
                <a:solidFill>
                  <a:srgbClr val="000054"/>
                </a:solidFill>
              </a:rPr>
              <a:t>间或空间先后顺序，将过程划分为若干相互联系的阶段。对于静态问题</a:t>
            </a:r>
            <a:r>
              <a:rPr lang="zh-CN" altLang="en-US" sz="2000" b="1" dirty="0" smtClean="0">
                <a:solidFill>
                  <a:srgbClr val="000054"/>
                </a:solidFill>
              </a:rPr>
              <a:t>要人为地</a:t>
            </a:r>
            <a:r>
              <a:rPr lang="zh-CN" altLang="en-US" sz="2000" b="1" dirty="0">
                <a:solidFill>
                  <a:srgbClr val="000054"/>
                </a:solidFill>
              </a:rPr>
              <a:t>赋予“时间”概念，以便划分阶段。</a:t>
            </a:r>
          </a:p>
        </p:txBody>
      </p:sp>
      <p:sp>
        <p:nvSpPr>
          <p:cNvPr id="21510" name="Text Box 6"/>
          <p:cNvSpPr txBox="1">
            <a:spLocks noChangeArrowheads="1"/>
          </p:cNvSpPr>
          <p:nvPr/>
        </p:nvSpPr>
        <p:spPr bwMode="auto">
          <a:xfrm>
            <a:off x="510032" y="3436513"/>
            <a:ext cx="314060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="1" dirty="0">
                <a:solidFill>
                  <a:schemeClr val="accent2"/>
                </a:solidFill>
                <a:sym typeface="Arial" panose="020B0604020202020204" pitchFamily="34" charset="0"/>
              </a:rPr>
              <a:t>2、正确选择状态变量</a:t>
            </a:r>
          </a:p>
        </p:txBody>
      </p:sp>
      <p:sp>
        <p:nvSpPr>
          <p:cNvPr id="21511" name="Text Box 7"/>
          <p:cNvSpPr txBox="1">
            <a:spLocks noChangeArrowheads="1"/>
          </p:cNvSpPr>
          <p:nvPr/>
        </p:nvSpPr>
        <p:spPr bwMode="auto">
          <a:xfrm>
            <a:off x="839217" y="4227378"/>
            <a:ext cx="5927344" cy="1248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000" b="1" dirty="0">
                <a:solidFill>
                  <a:srgbClr val="000054"/>
                </a:solidFill>
                <a:sym typeface="Arial" panose="020B0604020202020204" pitchFamily="34" charset="0"/>
              </a:rPr>
              <a:t>选择变量既要能确切描述过程演变又要满足无后效性，而且各</a:t>
            </a:r>
            <a:r>
              <a:rPr lang="zh-CN" altLang="en-US" sz="2000" b="1" dirty="0" smtClean="0">
                <a:solidFill>
                  <a:srgbClr val="000054"/>
                </a:solidFill>
                <a:sym typeface="Arial" panose="020B0604020202020204" pitchFamily="34" charset="0"/>
              </a:rPr>
              <a:t>阶段</a:t>
            </a:r>
            <a:r>
              <a:rPr lang="zh-CN" altLang="en-US" sz="2000" b="1" dirty="0">
                <a:solidFill>
                  <a:srgbClr val="000054"/>
                </a:solidFill>
                <a:sym typeface="Arial" panose="020B0604020202020204" pitchFamily="34" charset="0"/>
              </a:rPr>
              <a:t>状态变量的取值能够确定、一般地，状态变量的选择是从</a:t>
            </a:r>
            <a:r>
              <a:rPr lang="zh-CN" altLang="en-US" sz="2000" b="1" dirty="0" smtClean="0">
                <a:solidFill>
                  <a:srgbClr val="000054"/>
                </a:solidFill>
                <a:sym typeface="Arial" panose="020B0604020202020204" pitchFamily="34" charset="0"/>
              </a:rPr>
              <a:t>过程演变</a:t>
            </a:r>
            <a:r>
              <a:rPr lang="zh-CN" altLang="en-US" sz="2000" b="1" dirty="0">
                <a:solidFill>
                  <a:srgbClr val="000054"/>
                </a:solidFill>
                <a:sym typeface="Arial" panose="020B0604020202020204" pitchFamily="34" charset="0"/>
              </a:rPr>
              <a:t>的特点中寻找。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5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5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5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/>
      <p:bldP spid="21508" grpId="0"/>
      <p:bldP spid="21509" grpId="0"/>
      <p:bldP spid="21510" grpId="0"/>
      <p:bldP spid="215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826330" y="754253"/>
            <a:ext cx="46875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="1" dirty="0">
                <a:solidFill>
                  <a:schemeClr val="accent2"/>
                </a:solidFill>
                <a:sym typeface="Arial" panose="020B0604020202020204" pitchFamily="34" charset="0"/>
              </a:rPr>
              <a:t>3、确定决策变量及允许决策集合</a:t>
            </a:r>
          </a:p>
        </p:txBody>
      </p:sp>
      <p:sp>
        <p:nvSpPr>
          <p:cNvPr id="6" name="Text Box 9"/>
          <p:cNvSpPr txBox="1">
            <a:spLocks noChangeArrowheads="1"/>
          </p:cNvSpPr>
          <p:nvPr/>
        </p:nvSpPr>
        <p:spPr bwMode="auto">
          <a:xfrm>
            <a:off x="1050229" y="1558290"/>
            <a:ext cx="4239704" cy="169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000" b="1" dirty="0">
                <a:solidFill>
                  <a:srgbClr val="000054"/>
                </a:solidFill>
                <a:sym typeface="Arial" panose="020B0604020202020204" pitchFamily="34" charset="0"/>
              </a:rPr>
              <a:t>通常选择所求解问题的关键变量作为决策变量，同时要给出决策</a:t>
            </a:r>
          </a:p>
          <a:p>
            <a:pPr>
              <a:lnSpc>
                <a:spcPct val="130000"/>
              </a:lnSpc>
            </a:pPr>
            <a:r>
              <a:rPr lang="zh-CN" altLang="en-US" sz="2000" b="1" dirty="0">
                <a:solidFill>
                  <a:srgbClr val="000054"/>
                </a:solidFill>
                <a:sym typeface="Arial" panose="020B0604020202020204" pitchFamily="34" charset="0"/>
              </a:rPr>
              <a:t>变量的取值范围。即确定允许决策集合。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721106" y="3593433"/>
            <a:ext cx="314060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accent2"/>
                </a:solidFill>
              </a:rPr>
              <a:t>4、确定状态转移方程</a:t>
            </a: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981139" y="4335914"/>
            <a:ext cx="4125914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b="1" dirty="0">
                <a:solidFill>
                  <a:srgbClr val="000054"/>
                </a:solidFill>
              </a:rPr>
              <a:t>根据k阶段状态变量和决策变量，写出k+1阶段状态变量，状态转移方程应当具有递推关系。</a:t>
            </a:r>
          </a:p>
        </p:txBody>
      </p:sp>
    </p:spTree>
    <p:extLst>
      <p:ext uri="{BB962C8B-B14F-4D97-AF65-F5344CB8AC3E}">
        <p14:creationId xmlns:p14="http://schemas.microsoft.com/office/powerpoint/2010/main" val="2580042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Text Box 4"/>
          <p:cNvSpPr txBox="1">
            <a:spLocks noChangeArrowheads="1"/>
          </p:cNvSpPr>
          <p:nvPr/>
        </p:nvSpPr>
        <p:spPr bwMode="auto">
          <a:xfrm>
            <a:off x="569913" y="791517"/>
            <a:ext cx="6022911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accent2"/>
                </a:solidFill>
              </a:rPr>
              <a:t>5、确定阶段指标函数和最优指标函数，建立动态规划基本方程</a:t>
            </a:r>
          </a:p>
        </p:txBody>
      </p:sp>
      <p:sp>
        <p:nvSpPr>
          <p:cNvPr id="22534" name="Text Box 6"/>
          <p:cNvSpPr txBox="1">
            <a:spLocks noChangeArrowheads="1"/>
          </p:cNvSpPr>
          <p:nvPr/>
        </p:nvSpPr>
        <p:spPr bwMode="auto">
          <a:xfrm>
            <a:off x="879349" y="1763022"/>
            <a:ext cx="5585459" cy="1248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b="1" dirty="0">
                <a:solidFill>
                  <a:srgbClr val="000054"/>
                </a:solidFill>
              </a:rPr>
              <a:t>阶段指标函数是指第k阶段的收益，最优指标函数是指从第k阶段状态出发到第n阶段末所获得</a:t>
            </a:r>
            <a:r>
              <a:rPr lang="zh-CN" altLang="en-US" sz="2000" b="1" dirty="0" smtClean="0">
                <a:solidFill>
                  <a:srgbClr val="000054"/>
                </a:solidFill>
              </a:rPr>
              <a:t>收益的</a:t>
            </a:r>
            <a:r>
              <a:rPr lang="zh-CN" altLang="en-US" sz="2000" b="1" dirty="0">
                <a:solidFill>
                  <a:srgbClr val="000054"/>
                </a:solidFill>
              </a:rPr>
              <a:t>最优值，最后写出动态规划基本方程。</a:t>
            </a:r>
          </a:p>
        </p:txBody>
      </p:sp>
      <p:sp>
        <p:nvSpPr>
          <p:cNvPr id="22535" name="Text Box 7"/>
          <p:cNvSpPr txBox="1">
            <a:spLocks noChangeArrowheads="1"/>
          </p:cNvSpPr>
          <p:nvPr/>
        </p:nvSpPr>
        <p:spPr bwMode="auto">
          <a:xfrm>
            <a:off x="569913" y="3565525"/>
            <a:ext cx="5958903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b="1" dirty="0" smtClean="0">
                <a:solidFill>
                  <a:srgbClr val="C00000"/>
                </a:solidFill>
              </a:rPr>
              <a:t>    以上</a:t>
            </a:r>
            <a:r>
              <a:rPr lang="zh-CN" altLang="en-US" sz="2000" b="1" dirty="0">
                <a:solidFill>
                  <a:srgbClr val="C00000"/>
                </a:solidFill>
              </a:rPr>
              <a:t>五步是建立动态规划数学模型的一般步骤。由于动态规划模型</a:t>
            </a:r>
            <a:r>
              <a:rPr lang="zh-CN" altLang="en-US" sz="2000" b="1" dirty="0" smtClean="0">
                <a:solidFill>
                  <a:srgbClr val="C00000"/>
                </a:solidFill>
              </a:rPr>
              <a:t>与</a:t>
            </a:r>
            <a:r>
              <a:rPr lang="zh-CN" altLang="en-US" sz="2000" b="1" dirty="0" smtClean="0">
                <a:solidFill>
                  <a:srgbClr val="C00000"/>
                </a:solidFill>
                <a:sym typeface="Arial" panose="020B0604020202020204" pitchFamily="34" charset="0"/>
              </a:rPr>
              <a:t>线性规划</a:t>
            </a:r>
            <a:r>
              <a:rPr lang="zh-CN" altLang="en-US" sz="2000" b="1" dirty="0">
                <a:solidFill>
                  <a:srgbClr val="C00000"/>
                </a:solidFill>
                <a:sym typeface="Arial" panose="020B0604020202020204" pitchFamily="34" charset="0"/>
              </a:rPr>
              <a:t>模型不同，动态规划模型没有统一的模式，建模时必须</a:t>
            </a:r>
            <a:r>
              <a:rPr lang="zh-CN" altLang="en-US" sz="2000" b="1" dirty="0" smtClean="0">
                <a:solidFill>
                  <a:srgbClr val="C00000"/>
                </a:solidFill>
                <a:sym typeface="Arial" panose="020B0604020202020204" pitchFamily="34" charset="0"/>
              </a:rPr>
              <a:t>根据具体</a:t>
            </a:r>
            <a:r>
              <a:rPr lang="zh-CN" altLang="en-US" sz="2000" b="1" dirty="0">
                <a:solidFill>
                  <a:srgbClr val="C00000"/>
                </a:solidFill>
                <a:sym typeface="Arial" panose="020B0604020202020204" pitchFamily="34" charset="0"/>
              </a:rPr>
              <a:t>问题具体分析，只有通过不断实践总结，才能较好掌握建模</a:t>
            </a:r>
            <a:r>
              <a:rPr lang="zh-CN" altLang="en-US" sz="2000" b="1" dirty="0" smtClean="0">
                <a:solidFill>
                  <a:srgbClr val="C00000"/>
                </a:solidFill>
                <a:sym typeface="Arial" panose="020B0604020202020204" pitchFamily="34" charset="0"/>
              </a:rPr>
              <a:t>方法与技巧。</a:t>
            </a:r>
            <a:endParaRPr lang="zh-CN" altLang="en-US" sz="2000" b="1" dirty="0">
              <a:solidFill>
                <a:srgbClr val="C00000"/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25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25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4" grpId="0"/>
      <p:bldP spid="2253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1699015" y="254328"/>
            <a:ext cx="234872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accent2"/>
                </a:solidFill>
              </a:rPr>
              <a:t>资源分配问题</a:t>
            </a:r>
          </a:p>
        </p:txBody>
      </p:sp>
      <p:sp>
        <p:nvSpPr>
          <p:cNvPr id="23556" name="Text Box 4"/>
          <p:cNvSpPr txBox="1">
            <a:spLocks noChangeArrowheads="1"/>
          </p:cNvSpPr>
          <p:nvPr/>
        </p:nvSpPr>
        <p:spPr bwMode="auto">
          <a:xfrm>
            <a:off x="849694" y="788661"/>
            <a:ext cx="5641594" cy="2633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70000"/>
              </a:lnSpc>
            </a:pPr>
            <a:r>
              <a:rPr lang="zh-CN" altLang="en-US" sz="2000" b="1" dirty="0" smtClean="0">
                <a:solidFill>
                  <a:srgbClr val="161674"/>
                </a:solidFill>
              </a:rPr>
              <a:t>        现有</a:t>
            </a:r>
            <a:r>
              <a:rPr lang="zh-CN" altLang="en-US" sz="2000" b="1" dirty="0">
                <a:solidFill>
                  <a:srgbClr val="161674"/>
                </a:solidFill>
              </a:rPr>
              <a:t>数量</a:t>
            </a:r>
            <a:r>
              <a:rPr lang="zh-CN" altLang="en-US" sz="2000" b="1" dirty="0">
                <a:solidFill>
                  <a:srgbClr val="161674"/>
                </a:solidFill>
                <a:sym typeface="Arial" panose="020B0604020202020204" pitchFamily="34" charset="0"/>
              </a:rPr>
              <a:t>α（万元）的资金，计划分配给n个工厂，用于扩大再生产</a:t>
            </a:r>
            <a:r>
              <a:rPr lang="zh-CN" altLang="en-US" sz="2000" b="1" dirty="0" smtClean="0">
                <a:solidFill>
                  <a:srgbClr val="161674"/>
                </a:solidFill>
                <a:sym typeface="Arial" panose="020B0604020202020204" pitchFamily="34" charset="0"/>
              </a:rPr>
              <a:t>。假设</a:t>
            </a:r>
            <a:r>
              <a:rPr lang="zh-CN" altLang="en-US" sz="2000" b="1" dirty="0">
                <a:solidFill>
                  <a:srgbClr val="161674"/>
                </a:solidFill>
                <a:sym typeface="Arial" panose="020B0604020202020204" pitchFamily="34" charset="0"/>
              </a:rPr>
              <a:t>：χ</a:t>
            </a:r>
            <a:r>
              <a:rPr lang="zh-CN" altLang="en-US" sz="2000" b="1" baseline="-25000" dirty="0">
                <a:solidFill>
                  <a:srgbClr val="161674"/>
                </a:solidFill>
                <a:sym typeface="Arial" panose="020B0604020202020204" pitchFamily="34" charset="0"/>
              </a:rPr>
              <a:t>i</a:t>
            </a:r>
            <a:r>
              <a:rPr lang="zh-CN" altLang="en-US" sz="2000" b="1" dirty="0">
                <a:solidFill>
                  <a:srgbClr val="161674"/>
                </a:solidFill>
                <a:sym typeface="Arial" panose="020B0604020202020204" pitchFamily="34" charset="0"/>
              </a:rPr>
              <a:t>为分配给第i个工厂的资金数量（万元）；g</a:t>
            </a:r>
            <a:r>
              <a:rPr lang="zh-CN" altLang="en-US" sz="2000" b="1" baseline="-25000" dirty="0">
                <a:solidFill>
                  <a:srgbClr val="161674"/>
                </a:solidFill>
                <a:sym typeface="Arial" panose="020B0604020202020204" pitchFamily="34" charset="0"/>
              </a:rPr>
              <a:t>i</a:t>
            </a:r>
            <a:r>
              <a:rPr lang="zh-CN" altLang="en-US" sz="2000" b="1" dirty="0">
                <a:solidFill>
                  <a:srgbClr val="161674"/>
                </a:solidFill>
                <a:sym typeface="Arial" panose="020B0604020202020204" pitchFamily="34" charset="0"/>
              </a:rPr>
              <a:t>（x</a:t>
            </a:r>
            <a:r>
              <a:rPr lang="zh-CN" altLang="en-US" sz="2000" b="1" baseline="-25000" dirty="0">
                <a:solidFill>
                  <a:srgbClr val="161674"/>
                </a:solidFill>
                <a:sym typeface="Arial" panose="020B0604020202020204" pitchFamily="34" charset="0"/>
              </a:rPr>
              <a:t>i</a:t>
            </a:r>
            <a:r>
              <a:rPr lang="zh-CN" altLang="en-US" sz="2000" b="1" dirty="0">
                <a:solidFill>
                  <a:srgbClr val="161674"/>
                </a:solidFill>
                <a:sym typeface="Arial" panose="020B0604020202020204" pitchFamily="34" charset="0"/>
              </a:rPr>
              <a:t>）为第i个</a:t>
            </a:r>
            <a:r>
              <a:rPr lang="zh-CN" altLang="en-US" sz="2000" b="1" dirty="0" smtClean="0">
                <a:solidFill>
                  <a:srgbClr val="161674"/>
                </a:solidFill>
                <a:sym typeface="Arial" panose="020B0604020202020204" pitchFamily="34" charset="0"/>
              </a:rPr>
              <a:t>工厂</a:t>
            </a:r>
            <a:r>
              <a:rPr lang="zh-CN" altLang="en-US" sz="2000" b="1" dirty="0">
                <a:solidFill>
                  <a:srgbClr val="161674"/>
                </a:solidFill>
                <a:sym typeface="Arial" panose="020B0604020202020204" pitchFamily="34" charset="0"/>
              </a:rPr>
              <a:t>得到资金后提供的利润值（万元）</a:t>
            </a:r>
            <a:r>
              <a:rPr lang="zh-CN" altLang="en-US" sz="2000" b="1" dirty="0" smtClean="0">
                <a:solidFill>
                  <a:srgbClr val="161674"/>
                </a:solidFill>
                <a:sym typeface="Arial" panose="020B0604020202020204" pitchFamily="34" charset="0"/>
              </a:rPr>
              <a:t>。问题</a:t>
            </a:r>
            <a:r>
              <a:rPr lang="zh-CN" altLang="en-US" sz="2000" b="1" dirty="0">
                <a:solidFill>
                  <a:srgbClr val="161674"/>
                </a:solidFill>
                <a:sym typeface="Arial" panose="020B0604020202020204" pitchFamily="34" charset="0"/>
              </a:rPr>
              <a:t>是如何确定个工厂的资金数，使得总的利润为最大。</a:t>
            </a:r>
          </a:p>
        </p:txBody>
      </p:sp>
      <p:sp>
        <p:nvSpPr>
          <p:cNvPr id="23557" name="Text Box 5"/>
          <p:cNvSpPr txBox="1">
            <a:spLocks noChangeArrowheads="1"/>
          </p:cNvSpPr>
          <p:nvPr/>
        </p:nvSpPr>
        <p:spPr bwMode="auto">
          <a:xfrm>
            <a:off x="971940" y="3757733"/>
            <a:ext cx="1454150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161674"/>
                </a:solidFill>
                <a:sym typeface="Arial" panose="020B0604020202020204" pitchFamily="34" charset="0"/>
              </a:rPr>
              <a:t>据此，有：</a:t>
            </a:r>
          </a:p>
          <a:p>
            <a:r>
              <a:rPr lang="zh-CN" altLang="en-US" dirty="0"/>
              <a:t>                 </a:t>
            </a:r>
            <a:r>
              <a:rPr lang="zh-CN" altLang="en-US" b="1" dirty="0"/>
              <a:t> </a:t>
            </a:r>
            <a:r>
              <a:rPr lang="zh-CN" altLang="en-US" dirty="0"/>
              <a:t> </a:t>
            </a:r>
          </a:p>
        </p:txBody>
      </p:sp>
      <p:graphicFrame>
        <p:nvGraphicFramePr>
          <p:cNvPr id="23558" name="Objec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79932369"/>
              </p:ext>
            </p:extLst>
          </p:nvPr>
        </p:nvGraphicFramePr>
        <p:xfrm>
          <a:off x="2426090" y="3421946"/>
          <a:ext cx="2895790" cy="11014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6" r:id="rId3" imgW="800867" imgH="432297" progId="Equation.3">
                  <p:embed/>
                </p:oleObj>
              </mc:Choice>
              <mc:Fallback>
                <p:oleObj r:id="rId3" imgW="800867" imgH="432297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6090" y="3421946"/>
                        <a:ext cx="2895790" cy="11014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9" name="Objec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23734140"/>
              </p:ext>
            </p:extLst>
          </p:nvPr>
        </p:nvGraphicFramePr>
        <p:xfrm>
          <a:off x="2233295" y="4763446"/>
          <a:ext cx="3280537" cy="18071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7" r:id="rId5" imgW="877247" imgH="610277" progId="Equation.3">
                  <p:embed/>
                </p:oleObj>
              </mc:Choice>
              <mc:Fallback>
                <p:oleObj r:id="rId5" imgW="877247" imgH="610277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3295" y="4763446"/>
                        <a:ext cx="3280537" cy="18071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35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35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35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35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6" grpId="0"/>
      <p:bldP spid="2355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图片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5663" y="4292600"/>
            <a:ext cx="3716337" cy="256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627045" y="968613"/>
            <a:ext cx="6176091" cy="332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210000"/>
              </a:lnSpc>
            </a:pPr>
            <a:r>
              <a:rPr lang="zh-CN" altLang="en-US" sz="2400" b="1" dirty="0">
                <a:solidFill>
                  <a:srgbClr val="161674"/>
                </a:solidFill>
                <a:sym typeface="Arial" panose="020B0604020202020204" pitchFamily="34" charset="0"/>
              </a:rPr>
              <a:t>令：</a:t>
            </a:r>
            <a:r>
              <a:rPr lang="zh-CN" altLang="en-US" sz="2400" dirty="0">
                <a:solidFill>
                  <a:schemeClr val="accent2"/>
                </a:solidFill>
                <a:sym typeface="Arial" panose="020B0604020202020204" pitchFamily="34" charset="0"/>
              </a:rPr>
              <a:t>f</a:t>
            </a:r>
            <a:r>
              <a:rPr lang="zh-CN" altLang="en-US" sz="2400" baseline="-25000" dirty="0">
                <a:solidFill>
                  <a:schemeClr val="accent2"/>
                </a:solidFill>
                <a:sym typeface="Arial" panose="020B0604020202020204" pitchFamily="34" charset="0"/>
              </a:rPr>
              <a:t>k</a:t>
            </a:r>
            <a:r>
              <a:rPr lang="zh-CN" altLang="en-US" sz="2400" dirty="0">
                <a:solidFill>
                  <a:schemeClr val="accent2"/>
                </a:solidFill>
                <a:sym typeface="Arial" panose="020B0604020202020204" pitchFamily="34" charset="0"/>
              </a:rPr>
              <a:t>(x)</a:t>
            </a:r>
            <a:r>
              <a:rPr lang="zh-CN" altLang="en-US" sz="2400" dirty="0">
                <a:solidFill>
                  <a:schemeClr val="accent2"/>
                </a:solidFill>
              </a:rPr>
              <a:t>=</a:t>
            </a:r>
            <a:r>
              <a:rPr lang="zh-CN" altLang="en-US" sz="2400" b="1" dirty="0">
                <a:solidFill>
                  <a:schemeClr val="accent2"/>
                </a:solidFill>
              </a:rPr>
              <a:t>以数量为</a:t>
            </a:r>
            <a:r>
              <a:rPr lang="zh-CN" altLang="en-US" sz="2400" dirty="0">
                <a:solidFill>
                  <a:schemeClr val="accent2"/>
                </a:solidFill>
                <a:sym typeface="Arial" panose="020B0604020202020204" pitchFamily="34" charset="0"/>
              </a:rPr>
              <a:t>x</a:t>
            </a:r>
            <a:r>
              <a:rPr lang="zh-CN" altLang="en-US" sz="2400" b="1" dirty="0">
                <a:solidFill>
                  <a:schemeClr val="accent2"/>
                </a:solidFill>
              </a:rPr>
              <a:t>的资金分配给前k个工厂所得到的最大利润值。</a:t>
            </a:r>
          </a:p>
          <a:p>
            <a:pPr>
              <a:lnSpc>
                <a:spcPct val="210000"/>
              </a:lnSpc>
            </a:pPr>
            <a:r>
              <a:rPr lang="zh-CN" altLang="en-US" sz="2400" b="1" dirty="0">
                <a:solidFill>
                  <a:srgbClr val="161674"/>
                </a:solidFill>
                <a:sym typeface="Arial" panose="020B0604020202020204" pitchFamily="34" charset="0"/>
              </a:rPr>
              <a:t>用动态规划求解，就是就</a:t>
            </a:r>
            <a:r>
              <a:rPr lang="zh-CN" altLang="en-US" sz="2400" dirty="0">
                <a:solidFill>
                  <a:srgbClr val="161674"/>
                </a:solidFill>
                <a:sym typeface="Arial" panose="020B0604020202020204" pitchFamily="34" charset="0"/>
              </a:rPr>
              <a:t>f</a:t>
            </a:r>
            <a:r>
              <a:rPr lang="zh-CN" altLang="en-US" sz="2400" baseline="-25000" dirty="0">
                <a:solidFill>
                  <a:srgbClr val="161674"/>
                </a:solidFill>
                <a:sym typeface="Arial" panose="020B0604020202020204" pitchFamily="34" charset="0"/>
              </a:rPr>
              <a:t>n</a:t>
            </a:r>
            <a:r>
              <a:rPr lang="zh-CN" altLang="en-US" sz="2400" dirty="0">
                <a:solidFill>
                  <a:srgbClr val="161674"/>
                </a:solidFill>
                <a:sym typeface="Arial" panose="020B0604020202020204" pitchFamily="34" charset="0"/>
              </a:rPr>
              <a:t>(α)</a:t>
            </a:r>
            <a:r>
              <a:rPr lang="zh-CN" altLang="en-US" sz="2400" b="1" dirty="0">
                <a:solidFill>
                  <a:srgbClr val="161674"/>
                </a:solidFill>
                <a:sym typeface="Arial" panose="020B0604020202020204" pitchFamily="34" charset="0"/>
              </a:rPr>
              <a:t>的问题。</a:t>
            </a:r>
          </a:p>
          <a:p>
            <a:pPr>
              <a:lnSpc>
                <a:spcPct val="210000"/>
              </a:lnSpc>
            </a:pPr>
            <a:r>
              <a:rPr lang="zh-CN" altLang="en-US" sz="2400" b="1" dirty="0">
                <a:solidFill>
                  <a:schemeClr val="accent2"/>
                </a:solidFill>
                <a:sym typeface="Arial" panose="020B0604020202020204" pitchFamily="34" charset="0"/>
              </a:rPr>
              <a:t>当</a:t>
            </a:r>
            <a:r>
              <a:rPr lang="zh-CN" altLang="en-US" sz="2400" dirty="0">
                <a:solidFill>
                  <a:schemeClr val="accent2"/>
                </a:solidFill>
                <a:sym typeface="Arial" panose="020B0604020202020204" pitchFamily="34" charset="0"/>
              </a:rPr>
              <a:t>k=</a:t>
            </a:r>
            <a:r>
              <a:rPr lang="zh-CN" altLang="en-US" sz="2400" dirty="0" smtClean="0">
                <a:solidFill>
                  <a:schemeClr val="accent2"/>
                </a:solidFill>
                <a:sym typeface="Arial" panose="020B0604020202020204" pitchFamily="34" charset="0"/>
              </a:rPr>
              <a:t>1</a:t>
            </a:r>
            <a:r>
              <a:rPr lang="zh-CN" altLang="en-US" sz="2400" b="1" dirty="0" smtClean="0">
                <a:solidFill>
                  <a:schemeClr val="accent2"/>
                </a:solidFill>
                <a:sym typeface="Arial" panose="020B0604020202020204" pitchFamily="34" charset="0"/>
              </a:rPr>
              <a:t>时</a:t>
            </a:r>
            <a:r>
              <a:rPr lang="en-US" altLang="zh-CN" sz="2400" b="1" dirty="0" smtClean="0">
                <a:solidFill>
                  <a:schemeClr val="accent2"/>
                </a:solidFill>
                <a:sym typeface="Arial" panose="020B0604020202020204" pitchFamily="34" charset="0"/>
              </a:rPr>
              <a:t>:</a:t>
            </a:r>
            <a:r>
              <a:rPr lang="zh-CN" altLang="en-US" sz="2800" dirty="0" smtClean="0">
                <a:solidFill>
                  <a:srgbClr val="161674"/>
                </a:solidFill>
                <a:sym typeface="Arial" panose="020B0604020202020204" pitchFamily="34" charset="0"/>
              </a:rPr>
              <a:t> </a:t>
            </a:r>
            <a:r>
              <a:rPr lang="zh-CN" altLang="en-US" sz="2400" dirty="0">
                <a:solidFill>
                  <a:srgbClr val="161674"/>
                </a:solidFill>
                <a:sym typeface="Arial" panose="020B0604020202020204" pitchFamily="34" charset="0"/>
              </a:rPr>
              <a:t>f</a:t>
            </a:r>
            <a:r>
              <a:rPr lang="zh-CN" altLang="en-US" sz="2400" baseline="-25000" dirty="0">
                <a:solidFill>
                  <a:srgbClr val="161674"/>
                </a:solidFill>
                <a:sym typeface="Arial" panose="020B0604020202020204" pitchFamily="34" charset="0"/>
              </a:rPr>
              <a:t>1</a:t>
            </a:r>
            <a:r>
              <a:rPr lang="zh-CN" altLang="en-US" sz="2400" dirty="0">
                <a:solidFill>
                  <a:srgbClr val="161674"/>
                </a:solidFill>
                <a:sym typeface="Arial" panose="020B0604020202020204" pitchFamily="34" charset="0"/>
              </a:rPr>
              <a:t>(x)=g</a:t>
            </a:r>
            <a:r>
              <a:rPr lang="zh-CN" altLang="en-US" sz="2400" baseline="-25000" dirty="0">
                <a:solidFill>
                  <a:srgbClr val="161674"/>
                </a:solidFill>
                <a:sym typeface="Arial" panose="020B0604020202020204" pitchFamily="34" charset="0"/>
              </a:rPr>
              <a:t>1</a:t>
            </a:r>
            <a:r>
              <a:rPr lang="zh-CN" altLang="en-US" sz="2400" dirty="0">
                <a:solidFill>
                  <a:srgbClr val="161674"/>
                </a:solidFill>
                <a:sym typeface="Arial" panose="020B0604020202020204" pitchFamily="34" charset="0"/>
              </a:rPr>
              <a:t>(x) </a:t>
            </a:r>
            <a:r>
              <a:rPr lang="zh-CN" altLang="en-US" sz="2400" b="1" dirty="0">
                <a:solidFill>
                  <a:srgbClr val="161674"/>
                </a:solidFill>
                <a:sym typeface="Arial" panose="020B0604020202020204" pitchFamily="34" charset="0"/>
              </a:rPr>
              <a:t>     </a:t>
            </a:r>
            <a:r>
              <a:rPr lang="zh-CN" altLang="en-US" sz="2400" b="1" dirty="0" smtClean="0">
                <a:solidFill>
                  <a:srgbClr val="161674"/>
                </a:solidFill>
                <a:sym typeface="Arial" panose="020B0604020202020204" pitchFamily="34" charset="0"/>
              </a:rPr>
              <a:t>（</a:t>
            </a:r>
            <a:r>
              <a:rPr lang="zh-CN" altLang="en-US" sz="2400" b="1" dirty="0">
                <a:solidFill>
                  <a:srgbClr val="161674"/>
                </a:solidFill>
                <a:sym typeface="Arial" panose="020B0604020202020204" pitchFamily="34" charset="0"/>
              </a:rPr>
              <a:t>因为只给一个工厂</a:t>
            </a:r>
            <a:r>
              <a:rPr lang="zh-CN" altLang="en-US" sz="2400" b="1" dirty="0" smtClean="0">
                <a:solidFill>
                  <a:srgbClr val="161674"/>
                </a:solidFill>
                <a:sym typeface="Arial" panose="020B0604020202020204" pitchFamily="34" charset="0"/>
              </a:rPr>
              <a:t>）</a:t>
            </a:r>
            <a:endParaRPr lang="zh-CN" altLang="en-US" sz="2400" b="1" dirty="0">
              <a:solidFill>
                <a:srgbClr val="161674"/>
              </a:solidFill>
              <a:sym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45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45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3608" y="646048"/>
            <a:ext cx="6376416" cy="5544439"/>
          </a:xfrm>
        </p:spPr>
        <p:txBody>
          <a:bodyPr/>
          <a:lstStyle/>
          <a:p>
            <a:pPr marL="0" indent="0">
              <a:lnSpc>
                <a:spcPct val="210000"/>
              </a:lnSpc>
              <a:buNone/>
            </a:pPr>
            <a:r>
              <a:rPr lang="zh-CN" altLang="en-US" sz="2400" b="1" dirty="0">
                <a:solidFill>
                  <a:schemeClr val="accent2"/>
                </a:solidFill>
                <a:sym typeface="Arial" panose="020B0604020202020204" pitchFamily="34" charset="0"/>
              </a:rPr>
              <a:t>当</a:t>
            </a:r>
            <a:r>
              <a:rPr lang="zh-CN" altLang="en-US" sz="2400" dirty="0">
                <a:solidFill>
                  <a:schemeClr val="accent2"/>
                </a:solidFill>
                <a:sym typeface="Arial" panose="020B0604020202020204" pitchFamily="34" charset="0"/>
              </a:rPr>
              <a:t>1&lt;k ≤n</a:t>
            </a:r>
            <a:r>
              <a:rPr lang="zh-CN" altLang="en-US" sz="2400" b="1" dirty="0">
                <a:solidFill>
                  <a:schemeClr val="accent2"/>
                </a:solidFill>
                <a:sym typeface="Arial" panose="020B0604020202020204" pitchFamily="34" charset="0"/>
              </a:rPr>
              <a:t>时</a:t>
            </a:r>
            <a:r>
              <a:rPr lang="en-US" altLang="zh-CN" sz="2400" b="1" dirty="0">
                <a:solidFill>
                  <a:schemeClr val="accent2"/>
                </a:solidFill>
                <a:sym typeface="Arial" panose="020B0604020202020204" pitchFamily="34" charset="0"/>
              </a:rPr>
              <a:t>:</a:t>
            </a:r>
            <a:r>
              <a:rPr lang="zh-CN" altLang="en-US" sz="2400" dirty="0"/>
              <a:t>  </a:t>
            </a:r>
            <a:r>
              <a:rPr lang="zh-CN" altLang="en-US" sz="2400" b="1" dirty="0">
                <a:solidFill>
                  <a:srgbClr val="161674"/>
                </a:solidFill>
                <a:sym typeface="Arial" panose="020B0604020202020204" pitchFamily="34" charset="0"/>
              </a:rPr>
              <a:t>其递推关系如下：</a:t>
            </a:r>
          </a:p>
          <a:p>
            <a:pPr marL="0" indent="0">
              <a:lnSpc>
                <a:spcPct val="210000"/>
              </a:lnSpc>
              <a:buNone/>
            </a:pPr>
            <a:r>
              <a:rPr lang="zh-CN" altLang="en-US" sz="2400" b="1" dirty="0">
                <a:solidFill>
                  <a:srgbClr val="161674"/>
                </a:solidFill>
              </a:rPr>
              <a:t>设：y为分给第k个工厂的资金（其中0≤y≤x），此时还剩x-y（万元</a:t>
            </a:r>
            <a:r>
              <a:rPr lang="zh-CN" altLang="en-US" sz="2400" b="1" dirty="0" smtClean="0">
                <a:solidFill>
                  <a:srgbClr val="161674"/>
                </a:solidFill>
              </a:rPr>
              <a:t>）的</a:t>
            </a:r>
            <a:r>
              <a:rPr lang="zh-CN" altLang="en-US" sz="2400" b="1" dirty="0">
                <a:solidFill>
                  <a:srgbClr val="161674"/>
                </a:solidFill>
              </a:rPr>
              <a:t>资金需要分配给前k-1个工厂，如果采取最优策略，则得到的最大利润为</a:t>
            </a:r>
            <a:r>
              <a:rPr lang="zh-CN" altLang="en-US" sz="2400" dirty="0">
                <a:solidFill>
                  <a:srgbClr val="161674"/>
                </a:solidFill>
              </a:rPr>
              <a:t>f</a:t>
            </a:r>
            <a:r>
              <a:rPr lang="zh-CN" altLang="en-US" sz="2400" baseline="-25000" dirty="0">
                <a:solidFill>
                  <a:srgbClr val="161674"/>
                </a:solidFill>
              </a:rPr>
              <a:t>k-1</a:t>
            </a:r>
            <a:r>
              <a:rPr lang="zh-CN" altLang="en-US" sz="2400" dirty="0">
                <a:solidFill>
                  <a:srgbClr val="161674"/>
                </a:solidFill>
              </a:rPr>
              <a:t>(x-y)</a:t>
            </a:r>
            <a:r>
              <a:rPr lang="zh-CN" altLang="en-US" sz="2400" b="1" dirty="0">
                <a:solidFill>
                  <a:srgbClr val="161674"/>
                </a:solidFill>
              </a:rPr>
              <a:t>，因此总的利润为:</a:t>
            </a:r>
          </a:p>
          <a:p>
            <a:pPr marL="0" indent="0">
              <a:lnSpc>
                <a:spcPct val="210000"/>
              </a:lnSpc>
              <a:buNone/>
            </a:pPr>
            <a:r>
              <a:rPr lang="zh-CN" altLang="en-US" sz="2400" dirty="0" smtClean="0"/>
              <a:t>                 </a:t>
            </a:r>
            <a:r>
              <a:rPr lang="zh-CN" altLang="en-US" sz="2400" b="1" dirty="0" smtClean="0">
                <a:solidFill>
                  <a:srgbClr val="FF0000"/>
                </a:solidFill>
                <a:sym typeface="Arial" panose="020B0604020202020204" pitchFamily="34" charset="0"/>
              </a:rPr>
              <a:t>    </a:t>
            </a:r>
            <a:r>
              <a:rPr lang="zh-CN" altLang="en-US" sz="2400" dirty="0">
                <a:solidFill>
                  <a:srgbClr val="FF0000"/>
                </a:solidFill>
                <a:sym typeface="Arial" panose="020B0604020202020204" pitchFamily="34" charset="0"/>
              </a:rPr>
              <a:t>g</a:t>
            </a:r>
            <a:r>
              <a:rPr lang="zh-CN" altLang="en-US" sz="2400" baseline="-25000" dirty="0">
                <a:solidFill>
                  <a:srgbClr val="FF0000"/>
                </a:solidFill>
                <a:sym typeface="Arial" panose="020B0604020202020204" pitchFamily="34" charset="0"/>
              </a:rPr>
              <a:t>k</a:t>
            </a:r>
            <a:r>
              <a:rPr lang="zh-CN" altLang="en-US" sz="2400" dirty="0">
                <a:solidFill>
                  <a:srgbClr val="FF0000"/>
                </a:solidFill>
                <a:sym typeface="Arial" panose="020B0604020202020204" pitchFamily="34" charset="0"/>
              </a:rPr>
              <a:t>(y)+f</a:t>
            </a:r>
            <a:r>
              <a:rPr lang="zh-CN" altLang="en-US" sz="2400" baseline="-25000" dirty="0">
                <a:solidFill>
                  <a:srgbClr val="FF0000"/>
                </a:solidFill>
                <a:sym typeface="Arial" panose="020B0604020202020204" pitchFamily="34" charset="0"/>
              </a:rPr>
              <a:t>k-1</a:t>
            </a:r>
            <a:r>
              <a:rPr lang="zh-CN" altLang="en-US" sz="2400" dirty="0">
                <a:solidFill>
                  <a:srgbClr val="FF0000"/>
                </a:solidFill>
                <a:sym typeface="Arial" panose="020B0604020202020204" pitchFamily="34" charset="0"/>
              </a:rPr>
              <a:t>(x-y)</a:t>
            </a:r>
            <a:endParaRPr lang="zh-CN" altLang="en-US" sz="2400" dirty="0"/>
          </a:p>
          <a:p>
            <a:pPr marL="0" indent="0">
              <a:buNone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896329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433261" y="598170"/>
            <a:ext cx="62785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161674"/>
                </a:solidFill>
              </a:rPr>
              <a:t>所以，根据动态规划的最优化原理，有下式：</a:t>
            </a:r>
          </a:p>
        </p:txBody>
      </p:sp>
      <p:graphicFrame>
        <p:nvGraphicFramePr>
          <p:cNvPr id="25604" name="Object 4">
            <a:hlinkClick r:id="" action="ppaction://ole?verb=1"/>
          </p:cNvPr>
          <p:cNvGraphicFramePr>
            <a:graphicFrameLocks noChangeAspect="1"/>
          </p:cNvGraphicFramePr>
          <p:nvPr/>
        </p:nvGraphicFramePr>
        <p:xfrm>
          <a:off x="5638800" y="3346450"/>
          <a:ext cx="914400" cy="165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1" r:id="rId3" imgW="915438" imgH="165327" progId="Equation.3">
                  <p:embed/>
                </p:oleObj>
              </mc:Choice>
              <mc:Fallback>
                <p:oleObj r:id="rId3" imgW="915438" imgH="165327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3346450"/>
                        <a:ext cx="914400" cy="165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560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023" y="1531778"/>
            <a:ext cx="5518150" cy="109220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0"/>
                  <a:lumOff val="100000"/>
                </a:schemeClr>
              </a:gs>
              <a:gs pos="35000">
                <a:schemeClr val="accent5">
                  <a:lumMod val="0"/>
                  <a:lumOff val="100000"/>
                </a:schemeClr>
              </a:gs>
              <a:gs pos="100000">
                <a:schemeClr val="accent5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noFill/>
          </a:ln>
          <a:effectLst/>
        </p:spPr>
      </p:pic>
      <p:pic>
        <p:nvPicPr>
          <p:cNvPr id="25606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999" y="4646213"/>
            <a:ext cx="5480210" cy="703814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</p:pic>
      <p:sp>
        <p:nvSpPr>
          <p:cNvPr id="25607" name="Text Box 7"/>
          <p:cNvSpPr txBox="1">
            <a:spLocks noChangeArrowheads="1"/>
          </p:cNvSpPr>
          <p:nvPr/>
        </p:nvSpPr>
        <p:spPr bwMode="auto">
          <a:xfrm>
            <a:off x="655415" y="3121114"/>
            <a:ext cx="523234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="1" dirty="0">
                <a:solidFill>
                  <a:srgbClr val="161674"/>
                </a:solidFill>
                <a:sym typeface="Arial" panose="020B0604020202020204" pitchFamily="34" charset="0"/>
              </a:rPr>
              <a:t>如果是α是以万元资金分配单位，则式中的y只去非负整数0,1,2,...,x。</a:t>
            </a:r>
          </a:p>
          <a:p>
            <a:r>
              <a:rPr lang="zh-CN" altLang="en-US" sz="2400" b="1" dirty="0">
                <a:solidFill>
                  <a:srgbClr val="161674"/>
                </a:solidFill>
                <a:sym typeface="Arial" panose="020B0604020202020204" pitchFamily="34" charset="0"/>
              </a:rPr>
              <a:t>上式可变为：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56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56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/>
      <p:bldP spid="2560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图片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5663" y="4292600"/>
            <a:ext cx="3716337" cy="256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627" name="标题 1"/>
          <p:cNvSpPr>
            <a:spLocks noGrp="1" noChangeArrowheads="1"/>
          </p:cNvSpPr>
          <p:nvPr>
            <p:ph type="title" idx="4294967295"/>
          </p:nvPr>
        </p:nvSpPr>
        <p:spPr>
          <a:ln/>
        </p:spPr>
        <p:txBody>
          <a:bodyPr/>
          <a:lstStyle/>
          <a:p>
            <a:pPr marL="0" indent="0"/>
            <a:endParaRPr lang="zh-CN" altLang="zh-CN"/>
          </a:p>
        </p:txBody>
      </p:sp>
      <p:pic>
        <p:nvPicPr>
          <p:cNvPr id="26628" name="图片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68368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9" name="矩形 2"/>
          <p:cNvSpPr>
            <a:spLocks noChangeArrowheads="1"/>
          </p:cNvSpPr>
          <p:nvPr/>
        </p:nvSpPr>
        <p:spPr bwMode="auto">
          <a:xfrm>
            <a:off x="1676400" y="590550"/>
            <a:ext cx="387350" cy="8731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66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6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图片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5663" y="4292600"/>
            <a:ext cx="3716337" cy="256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651" name="标题 1"/>
          <p:cNvSpPr>
            <a:spLocks noGrp="1" noChangeArrowheads="1"/>
          </p:cNvSpPr>
          <p:nvPr>
            <p:ph type="title" idx="4294967295"/>
          </p:nvPr>
        </p:nvSpPr>
        <p:spPr>
          <a:ln/>
        </p:spPr>
        <p:txBody>
          <a:bodyPr/>
          <a:lstStyle/>
          <a:p>
            <a:pPr marL="0" indent="0"/>
            <a:endParaRPr lang="zh-CN" altLang="zh-CN" dirty="0"/>
          </a:p>
        </p:txBody>
      </p:sp>
      <p:sp>
        <p:nvSpPr>
          <p:cNvPr id="27652" name="矩形 2"/>
          <p:cNvSpPr>
            <a:spLocks noChangeArrowheads="1"/>
          </p:cNvSpPr>
          <p:nvPr/>
        </p:nvSpPr>
        <p:spPr bwMode="auto">
          <a:xfrm>
            <a:off x="0" y="0"/>
            <a:ext cx="4821238" cy="8731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27653" name="图片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3975" y="0"/>
            <a:ext cx="1224597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76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6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图片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5663" y="4292600"/>
            <a:ext cx="3716337" cy="256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5" name="标题 1"/>
          <p:cNvSpPr>
            <a:spLocks noGrp="1" noChangeArrowheads="1"/>
          </p:cNvSpPr>
          <p:nvPr>
            <p:ph type="title" idx="4294967295"/>
          </p:nvPr>
        </p:nvSpPr>
        <p:spPr>
          <a:ln/>
        </p:spPr>
        <p:txBody>
          <a:bodyPr/>
          <a:lstStyle/>
          <a:p>
            <a:pPr marL="0" indent="0"/>
            <a:endParaRPr lang="zh-CN" altLang="zh-CN"/>
          </a:p>
        </p:txBody>
      </p:sp>
      <p:sp>
        <p:nvSpPr>
          <p:cNvPr id="28676" name="矩形 2"/>
          <p:cNvSpPr>
            <a:spLocks noChangeArrowheads="1"/>
          </p:cNvSpPr>
          <p:nvPr/>
        </p:nvSpPr>
        <p:spPr bwMode="auto">
          <a:xfrm>
            <a:off x="0" y="0"/>
            <a:ext cx="4821238" cy="8731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8677" name="图片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86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6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矩形 2"/>
          <p:cNvSpPr>
            <a:spLocks noChangeArrowheads="1"/>
          </p:cNvSpPr>
          <p:nvPr/>
        </p:nvSpPr>
        <p:spPr bwMode="auto">
          <a:xfrm>
            <a:off x="-838200" y="0"/>
            <a:ext cx="4821238" cy="8731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29701" name="图片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97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7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图片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5663" y="4292600"/>
            <a:ext cx="3716337" cy="256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3" name="标题 1"/>
          <p:cNvSpPr>
            <a:spLocks noGrp="1" noChangeArrowheads="1"/>
          </p:cNvSpPr>
          <p:nvPr>
            <p:ph type="title" idx="4294967295"/>
          </p:nvPr>
        </p:nvSpPr>
        <p:spPr>
          <a:ln/>
        </p:spPr>
        <p:txBody>
          <a:bodyPr/>
          <a:lstStyle/>
          <a:p>
            <a:pPr marL="0" indent="0"/>
            <a:endParaRPr lang="zh-CN" altLang="zh-CN"/>
          </a:p>
        </p:txBody>
      </p:sp>
      <p:sp>
        <p:nvSpPr>
          <p:cNvPr id="30724" name="矩形 2"/>
          <p:cNvSpPr>
            <a:spLocks noChangeArrowheads="1"/>
          </p:cNvSpPr>
          <p:nvPr/>
        </p:nvSpPr>
        <p:spPr bwMode="auto">
          <a:xfrm>
            <a:off x="0" y="0"/>
            <a:ext cx="4821238" cy="8731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30725" name="图片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350" y="0"/>
            <a:ext cx="121983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07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7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图片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5663" y="4292600"/>
            <a:ext cx="3716337" cy="256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7" name="标题 1"/>
          <p:cNvSpPr>
            <a:spLocks noGrp="1" noChangeArrowheads="1"/>
          </p:cNvSpPr>
          <p:nvPr>
            <p:ph type="title" idx="4294967295"/>
          </p:nvPr>
        </p:nvSpPr>
        <p:spPr>
          <a:ln/>
        </p:spPr>
        <p:txBody>
          <a:bodyPr/>
          <a:lstStyle/>
          <a:p>
            <a:pPr marL="0" indent="0"/>
            <a:endParaRPr lang="zh-CN" altLang="zh-CN"/>
          </a:p>
        </p:txBody>
      </p:sp>
      <p:sp>
        <p:nvSpPr>
          <p:cNvPr id="31748" name="矩形 2"/>
          <p:cNvSpPr>
            <a:spLocks noChangeArrowheads="1"/>
          </p:cNvSpPr>
          <p:nvPr/>
        </p:nvSpPr>
        <p:spPr bwMode="auto">
          <a:xfrm>
            <a:off x="0" y="0"/>
            <a:ext cx="4821238" cy="8731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31749" name="图片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17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7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图片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5663" y="4292600"/>
            <a:ext cx="3716337" cy="256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1" name="标题 1"/>
          <p:cNvSpPr>
            <a:spLocks noGrp="1" noChangeArrowheads="1"/>
          </p:cNvSpPr>
          <p:nvPr>
            <p:ph type="title" idx="4294967295"/>
          </p:nvPr>
        </p:nvSpPr>
        <p:spPr>
          <a:ln/>
        </p:spPr>
        <p:txBody>
          <a:bodyPr/>
          <a:lstStyle/>
          <a:p>
            <a:pPr marL="0" indent="0"/>
            <a:endParaRPr lang="zh-CN" altLang="zh-CN"/>
          </a:p>
        </p:txBody>
      </p:sp>
      <p:sp>
        <p:nvSpPr>
          <p:cNvPr id="32772" name="矩形 2"/>
          <p:cNvSpPr>
            <a:spLocks noChangeArrowheads="1"/>
          </p:cNvSpPr>
          <p:nvPr/>
        </p:nvSpPr>
        <p:spPr bwMode="auto">
          <a:xfrm>
            <a:off x="0" y="0"/>
            <a:ext cx="4821238" cy="8731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32773" name="图片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27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27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2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图片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5663" y="4292600"/>
            <a:ext cx="3716337" cy="256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5" name="标题 1"/>
          <p:cNvSpPr>
            <a:spLocks noGrp="1" noChangeArrowheads="1"/>
          </p:cNvSpPr>
          <p:nvPr>
            <p:ph type="title" idx="4294967295"/>
          </p:nvPr>
        </p:nvSpPr>
        <p:spPr>
          <a:ln/>
        </p:spPr>
        <p:txBody>
          <a:bodyPr/>
          <a:lstStyle/>
          <a:p>
            <a:pPr marL="0" indent="0"/>
            <a:endParaRPr lang="zh-CN" altLang="zh-CN"/>
          </a:p>
        </p:txBody>
      </p:sp>
      <p:sp>
        <p:nvSpPr>
          <p:cNvPr id="33796" name="矩形 2"/>
          <p:cNvSpPr>
            <a:spLocks noChangeArrowheads="1"/>
          </p:cNvSpPr>
          <p:nvPr/>
        </p:nvSpPr>
        <p:spPr bwMode="auto">
          <a:xfrm>
            <a:off x="0" y="0"/>
            <a:ext cx="4821238" cy="8731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33797" name="图片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37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7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图片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5663" y="4292600"/>
            <a:ext cx="3716337" cy="256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19" name="标题 1"/>
          <p:cNvSpPr>
            <a:spLocks noGrp="1" noChangeArrowheads="1"/>
          </p:cNvSpPr>
          <p:nvPr>
            <p:ph type="title" idx="4294967295"/>
          </p:nvPr>
        </p:nvSpPr>
        <p:spPr>
          <a:ln/>
        </p:spPr>
        <p:txBody>
          <a:bodyPr/>
          <a:lstStyle/>
          <a:p>
            <a:pPr marL="0" indent="0"/>
            <a:endParaRPr lang="zh-CN" altLang="zh-CN"/>
          </a:p>
        </p:txBody>
      </p:sp>
      <p:sp>
        <p:nvSpPr>
          <p:cNvPr id="34820" name="矩形 2"/>
          <p:cNvSpPr>
            <a:spLocks noChangeArrowheads="1"/>
          </p:cNvSpPr>
          <p:nvPr/>
        </p:nvSpPr>
        <p:spPr bwMode="auto">
          <a:xfrm>
            <a:off x="0" y="0"/>
            <a:ext cx="4821238" cy="8731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-111124" y="0"/>
            <a:ext cx="12303124" cy="692785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34821" name="图片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442" y="365125"/>
            <a:ext cx="11365992" cy="64001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副标题 2"/>
          <p:cNvSpPr>
            <a:spLocks noChangeArrowheads="1"/>
          </p:cNvSpPr>
          <p:nvPr/>
        </p:nvSpPr>
        <p:spPr bwMode="auto">
          <a:xfrm>
            <a:off x="2389188" y="2184400"/>
            <a:ext cx="6564312" cy="140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zh-CN" altLang="en-US" sz="3600" b="1" dirty="0">
                <a:solidFill>
                  <a:schemeClr val="accent2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本单元结束，谢谢大家！！！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/>
    </p:bldLst>
  </p:timing>
</p:sld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</TotalTime>
  <Pages>0</Pages>
  <Words>693</Words>
  <Characters>0</Characters>
  <Application>Microsoft Office PowerPoint</Application>
  <DocSecurity>0</DocSecurity>
  <PresentationFormat>宽屏</PresentationFormat>
  <Lines>0</Lines>
  <Paragraphs>38</Paragraphs>
  <Slides>21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0" baseType="lpstr">
      <vt:lpstr>方正姚体</vt:lpstr>
      <vt:lpstr>楷体</vt:lpstr>
      <vt:lpstr>宋体</vt:lpstr>
      <vt:lpstr>Arial</vt:lpstr>
      <vt:lpstr>Calibri</vt:lpstr>
      <vt:lpstr>Calibri Light</vt:lpstr>
      <vt:lpstr>Wingdings</vt:lpstr>
      <vt:lpstr>Office 主题</vt:lpstr>
      <vt:lpstr>Microsoft 公式 3.0</vt:lpstr>
      <vt:lpstr>第七单元 软件项目经济评价方法</vt:lpstr>
      <vt:lpstr>PowerPoint 演示文稿</vt:lpstr>
      <vt:lpstr>软件项目动态规划</vt:lpstr>
      <vt:lpstr>动态规划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CharactersWithSpaces>0</CharactersWithSpaces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软件工程经济学</dc:title>
  <dc:subject/>
  <dc:creator>zuobaohe</dc:creator>
  <cp:keywords/>
  <dc:description/>
  <cp:lastModifiedBy>admin</cp:lastModifiedBy>
  <cp:revision>250</cp:revision>
  <dcterms:created xsi:type="dcterms:W3CDTF">2015-03-15T03:31:00Z</dcterms:created>
  <dcterms:modified xsi:type="dcterms:W3CDTF">2016-04-19T03:22:50Z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2052-9.1.0.5108</vt:lpwstr>
  </property>
</Properties>
</file>