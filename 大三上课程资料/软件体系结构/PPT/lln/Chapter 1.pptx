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9" r:id="rId2"/>
    <p:sldId id="258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2" r:id="rId12"/>
    <p:sldId id="273" r:id="rId13"/>
    <p:sldId id="274" r:id="rId14"/>
    <p:sldId id="275" r:id="rId15"/>
    <p:sldId id="276" r:id="rId16"/>
    <p:sldId id="293" r:id="rId17"/>
    <p:sldId id="277" r:id="rId18"/>
    <p:sldId id="290" r:id="rId19"/>
    <p:sldId id="291" r:id="rId20"/>
    <p:sldId id="292" r:id="rId21"/>
    <p:sldId id="278" r:id="rId22"/>
    <p:sldId id="279" r:id="rId23"/>
    <p:sldId id="294" r:id="rId24"/>
    <p:sldId id="280" r:id="rId25"/>
    <p:sldId id="281" r:id="rId26"/>
    <p:sldId id="282" r:id="rId27"/>
    <p:sldId id="295" r:id="rId28"/>
    <p:sldId id="296" r:id="rId29"/>
    <p:sldId id="286" r:id="rId30"/>
    <p:sldId id="287" r:id="rId31"/>
    <p:sldId id="288" r:id="rId32"/>
    <p:sldId id="284" r:id="rId33"/>
    <p:sldId id="285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99" autoAdjust="0"/>
    <p:restoredTop sz="86446" autoAdjust="0"/>
  </p:normalViewPr>
  <p:slideViewPr>
    <p:cSldViewPr>
      <p:cViewPr varScale="1">
        <p:scale>
          <a:sx n="53" d="100"/>
          <a:sy n="53" d="100"/>
        </p:scale>
        <p:origin x="36" y="6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9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1" d="100"/>
        <a:sy n="141" d="100"/>
      </p:scale>
      <p:origin x="0" y="1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B1F14-2969-4234-94C2-84FB01E3AC7A}" type="datetimeFigureOut">
              <a:rPr lang="en-AU" smtClean="0"/>
              <a:t>3/11/2025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5789E-32BF-4BCD-9509-3BAE69BCF0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235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2000" dirty="0"/>
              <a:t>The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should</a:t>
            </a:r>
            <a:r>
              <a:rPr lang="pl-PL" sz="2000" dirty="0"/>
              <a:t> be the </a:t>
            </a:r>
            <a:r>
              <a:rPr lang="pl-PL" sz="2000" dirty="0" err="1"/>
              <a:t>product</a:t>
            </a:r>
            <a:r>
              <a:rPr lang="pl-PL" sz="2000" dirty="0"/>
              <a:t> of a single </a:t>
            </a:r>
            <a:r>
              <a:rPr lang="pl-PL" sz="2000" dirty="0" err="1"/>
              <a:t>architect</a:t>
            </a:r>
            <a:r>
              <a:rPr lang="pl-PL" sz="2000" dirty="0"/>
              <a:t> </a:t>
            </a:r>
            <a:r>
              <a:rPr lang="pl-PL" sz="2000" dirty="0" err="1"/>
              <a:t>or</a:t>
            </a:r>
            <a:r>
              <a:rPr lang="pl-PL" sz="2000" dirty="0"/>
              <a:t> a small </a:t>
            </a:r>
            <a:r>
              <a:rPr lang="pl-PL" sz="2000" dirty="0" err="1"/>
              <a:t>group</a:t>
            </a:r>
            <a:r>
              <a:rPr lang="pl-PL" sz="2000" dirty="0"/>
              <a:t> of </a:t>
            </a:r>
            <a:r>
              <a:rPr lang="pl-PL" sz="2000" dirty="0" err="1"/>
              <a:t>architects</a:t>
            </a:r>
            <a:r>
              <a:rPr lang="pl-PL" sz="2000" dirty="0"/>
              <a:t> with </a:t>
            </a:r>
            <a:r>
              <a:rPr lang="pl-PL" sz="2000" dirty="0" err="1"/>
              <a:t>an</a:t>
            </a:r>
            <a:r>
              <a:rPr lang="pl-PL" sz="2000" dirty="0"/>
              <a:t> </a:t>
            </a:r>
            <a:r>
              <a:rPr lang="pl-PL" sz="2000" dirty="0" err="1"/>
              <a:t>identified</a:t>
            </a:r>
            <a:r>
              <a:rPr lang="pl-PL" sz="2000" dirty="0"/>
              <a:t> </a:t>
            </a:r>
            <a:r>
              <a:rPr lang="pl-PL" sz="2000" dirty="0" err="1"/>
              <a:t>technical</a:t>
            </a:r>
            <a:r>
              <a:rPr lang="pl-PL" sz="2000" dirty="0"/>
              <a:t> leader. </a:t>
            </a:r>
          </a:p>
          <a:p>
            <a:pPr lvl="1"/>
            <a:r>
              <a:rPr lang="pl-PL" sz="1600" dirty="0" err="1"/>
              <a:t>This</a:t>
            </a:r>
            <a:r>
              <a:rPr lang="pl-PL" sz="1600" dirty="0"/>
              <a:t> </a:t>
            </a:r>
            <a:r>
              <a:rPr lang="pl-PL" sz="1600" dirty="0" err="1"/>
              <a:t>approach</a:t>
            </a:r>
            <a:r>
              <a:rPr lang="pl-PL" sz="1600" dirty="0"/>
              <a:t> </a:t>
            </a:r>
            <a:r>
              <a:rPr lang="pl-PL" sz="1600" dirty="0" err="1"/>
              <a:t>gives</a:t>
            </a:r>
            <a:r>
              <a:rPr lang="pl-PL" sz="1600" dirty="0"/>
              <a:t> the </a:t>
            </a:r>
            <a:r>
              <a:rPr lang="pl-PL" sz="1600" dirty="0" err="1"/>
              <a:t>architecture</a:t>
            </a:r>
            <a:r>
              <a:rPr lang="pl-PL" sz="1600" dirty="0"/>
              <a:t> </a:t>
            </a:r>
            <a:r>
              <a:rPr lang="pl-PL" sz="1600" dirty="0" err="1"/>
              <a:t>its</a:t>
            </a:r>
            <a:r>
              <a:rPr lang="pl-PL" sz="1600" dirty="0"/>
              <a:t> </a:t>
            </a:r>
            <a:r>
              <a:rPr lang="pl-PL" sz="1600" dirty="0" err="1"/>
              <a:t>conceptual</a:t>
            </a:r>
            <a:r>
              <a:rPr lang="pl-PL" sz="1600" dirty="0"/>
              <a:t> </a:t>
            </a:r>
            <a:r>
              <a:rPr lang="pl-PL" sz="1600" dirty="0" err="1"/>
              <a:t>integrity</a:t>
            </a:r>
            <a:r>
              <a:rPr lang="pl-PL" sz="1600" dirty="0"/>
              <a:t> and </a:t>
            </a:r>
            <a:r>
              <a:rPr lang="pl-PL" sz="1600" dirty="0" err="1"/>
              <a:t>technical</a:t>
            </a:r>
            <a:r>
              <a:rPr lang="pl-PL" sz="1600" dirty="0"/>
              <a:t> </a:t>
            </a:r>
            <a:r>
              <a:rPr lang="pl-PL" sz="1600" dirty="0" err="1"/>
              <a:t>consistency</a:t>
            </a:r>
            <a:r>
              <a:rPr lang="pl-PL" sz="1600" dirty="0"/>
              <a:t>. </a:t>
            </a:r>
            <a:r>
              <a:rPr lang="pl-PL" sz="1600" dirty="0" err="1"/>
              <a:t>This</a:t>
            </a:r>
            <a:r>
              <a:rPr lang="pl-PL" sz="1600" dirty="0"/>
              <a:t> </a:t>
            </a:r>
            <a:r>
              <a:rPr lang="pl-PL" sz="1600" dirty="0" err="1"/>
              <a:t>recommendation</a:t>
            </a:r>
            <a:r>
              <a:rPr lang="pl-PL" sz="1600" dirty="0"/>
              <a:t> </a:t>
            </a:r>
            <a:r>
              <a:rPr lang="pl-PL" sz="1600" dirty="0" err="1"/>
              <a:t>holds</a:t>
            </a:r>
            <a:r>
              <a:rPr lang="pl-PL" sz="1600" dirty="0"/>
              <a:t> for Agile and open </a:t>
            </a:r>
            <a:r>
              <a:rPr lang="pl-PL" sz="1600" dirty="0" err="1"/>
              <a:t>source</a:t>
            </a:r>
            <a:r>
              <a:rPr lang="pl-PL" sz="1600" dirty="0"/>
              <a:t> </a:t>
            </a:r>
            <a:r>
              <a:rPr lang="pl-PL" sz="1600" dirty="0" err="1"/>
              <a:t>projects</a:t>
            </a:r>
            <a:r>
              <a:rPr lang="pl-PL" sz="1600" dirty="0"/>
              <a:t> as </a:t>
            </a:r>
            <a:r>
              <a:rPr lang="pl-PL" sz="1600" dirty="0" err="1"/>
              <a:t>well</a:t>
            </a:r>
            <a:r>
              <a:rPr lang="pl-PL" sz="1600" dirty="0"/>
              <a:t> as “</a:t>
            </a:r>
            <a:r>
              <a:rPr lang="pl-PL" sz="1600" dirty="0" err="1"/>
              <a:t>traditional</a:t>
            </a:r>
            <a:r>
              <a:rPr lang="pl-PL" sz="1600" dirty="0"/>
              <a:t>” </a:t>
            </a:r>
            <a:r>
              <a:rPr lang="pl-PL" sz="1600" dirty="0" err="1"/>
              <a:t>ones</a:t>
            </a:r>
            <a:r>
              <a:rPr lang="pl-PL" sz="1600" dirty="0"/>
              <a:t>. </a:t>
            </a:r>
          </a:p>
          <a:p>
            <a:pPr lvl="1"/>
            <a:r>
              <a:rPr lang="pl-PL" sz="1600" dirty="0" err="1"/>
              <a:t>There</a:t>
            </a:r>
            <a:r>
              <a:rPr lang="pl-PL" sz="1600" dirty="0"/>
              <a:t> </a:t>
            </a:r>
            <a:r>
              <a:rPr lang="pl-PL" sz="1600" dirty="0" err="1"/>
              <a:t>should</a:t>
            </a:r>
            <a:r>
              <a:rPr lang="pl-PL" sz="1600" dirty="0"/>
              <a:t> be a </a:t>
            </a:r>
            <a:r>
              <a:rPr lang="pl-PL" sz="1600" dirty="0" err="1"/>
              <a:t>strong</a:t>
            </a:r>
            <a:r>
              <a:rPr lang="pl-PL" sz="1600" dirty="0"/>
              <a:t> </a:t>
            </a:r>
            <a:r>
              <a:rPr lang="pl-PL" sz="1600" dirty="0" err="1"/>
              <a:t>connection</a:t>
            </a:r>
            <a:r>
              <a:rPr lang="pl-PL" sz="1600" dirty="0"/>
              <a:t> </a:t>
            </a:r>
            <a:r>
              <a:rPr lang="pl-PL" sz="1600" dirty="0" err="1"/>
              <a:t>between</a:t>
            </a:r>
            <a:r>
              <a:rPr lang="pl-PL" sz="1600" dirty="0"/>
              <a:t> the </a:t>
            </a:r>
            <a:r>
              <a:rPr lang="pl-PL" sz="1600" dirty="0" err="1"/>
              <a:t>architect</a:t>
            </a:r>
            <a:r>
              <a:rPr lang="pl-PL" sz="1600" dirty="0"/>
              <a:t>(s) and the development team.</a:t>
            </a:r>
          </a:p>
          <a:p>
            <a:r>
              <a:rPr lang="pl-PL" sz="2000" dirty="0"/>
              <a:t>The </a:t>
            </a:r>
            <a:r>
              <a:rPr lang="pl-PL" sz="2000" dirty="0" err="1"/>
              <a:t>architect</a:t>
            </a:r>
            <a:r>
              <a:rPr lang="pl-PL" sz="2000" dirty="0"/>
              <a:t> (</a:t>
            </a:r>
            <a:r>
              <a:rPr lang="pl-PL" sz="2000" dirty="0" err="1"/>
              <a:t>or</a:t>
            </a:r>
            <a:r>
              <a:rPr lang="pl-PL" sz="2000" dirty="0"/>
              <a:t> </a:t>
            </a:r>
            <a:r>
              <a:rPr lang="pl-PL" sz="2000" dirty="0" err="1"/>
              <a:t>architecture</a:t>
            </a:r>
            <a:r>
              <a:rPr lang="pl-PL" sz="2000" dirty="0"/>
              <a:t> team) </a:t>
            </a:r>
            <a:r>
              <a:rPr lang="pl-PL" sz="2000" dirty="0" err="1"/>
              <a:t>should</a:t>
            </a:r>
            <a:r>
              <a:rPr lang="pl-PL" sz="2000" dirty="0"/>
              <a:t> </a:t>
            </a:r>
            <a:r>
              <a:rPr lang="pl-PL" sz="2000" dirty="0" err="1"/>
              <a:t>base</a:t>
            </a:r>
            <a:r>
              <a:rPr lang="pl-PL" sz="2000" dirty="0"/>
              <a:t> the </a:t>
            </a:r>
            <a:r>
              <a:rPr lang="pl-PL" sz="2000" dirty="0" err="1"/>
              <a:t>architecture</a:t>
            </a:r>
            <a:r>
              <a:rPr lang="pl-PL" sz="2000" dirty="0"/>
              <a:t> on a </a:t>
            </a:r>
            <a:r>
              <a:rPr lang="pl-PL" sz="2000" dirty="0" err="1"/>
              <a:t>prioritized</a:t>
            </a:r>
            <a:r>
              <a:rPr lang="pl-PL" sz="2000" dirty="0"/>
              <a:t> list of </a:t>
            </a:r>
            <a:r>
              <a:rPr lang="pl-PL" sz="2000" dirty="0" err="1"/>
              <a:t>well-specified</a:t>
            </a:r>
            <a:r>
              <a:rPr lang="pl-PL" sz="2000" dirty="0"/>
              <a:t> </a:t>
            </a:r>
            <a:r>
              <a:rPr lang="pl-PL" sz="2000" dirty="0" err="1"/>
              <a:t>quality</a:t>
            </a:r>
            <a:r>
              <a:rPr lang="pl-PL" sz="2000" dirty="0"/>
              <a:t> </a:t>
            </a:r>
            <a:r>
              <a:rPr lang="pl-PL" sz="2000" dirty="0" err="1"/>
              <a:t>attribute</a:t>
            </a:r>
            <a:r>
              <a:rPr lang="pl-PL" sz="2000" dirty="0"/>
              <a:t> </a:t>
            </a:r>
            <a:r>
              <a:rPr lang="pl-PL" sz="2000" dirty="0" err="1"/>
              <a:t>requirements</a:t>
            </a:r>
            <a:r>
              <a:rPr lang="pl-PL" sz="2000" dirty="0"/>
              <a:t>. </a:t>
            </a:r>
          </a:p>
          <a:p>
            <a:pPr lvl="1"/>
            <a:r>
              <a:rPr lang="pl-PL" sz="1600" dirty="0" err="1"/>
              <a:t>These</a:t>
            </a:r>
            <a:r>
              <a:rPr lang="pl-PL" sz="1600" dirty="0"/>
              <a:t> </a:t>
            </a:r>
            <a:r>
              <a:rPr lang="pl-PL" sz="1600" dirty="0" err="1"/>
              <a:t>will</a:t>
            </a:r>
            <a:r>
              <a:rPr lang="pl-PL" sz="1600" dirty="0"/>
              <a:t> </a:t>
            </a:r>
            <a:r>
              <a:rPr lang="pl-PL" sz="1600" dirty="0" err="1"/>
              <a:t>inform</a:t>
            </a:r>
            <a:r>
              <a:rPr lang="pl-PL" sz="1600" dirty="0"/>
              <a:t> the </a:t>
            </a:r>
            <a:r>
              <a:rPr lang="pl-PL" sz="1600" dirty="0" err="1"/>
              <a:t>tradeoffs</a:t>
            </a:r>
            <a:r>
              <a:rPr lang="pl-PL" sz="1600" dirty="0"/>
              <a:t> </a:t>
            </a:r>
            <a:r>
              <a:rPr lang="pl-PL" sz="1600" dirty="0" err="1"/>
              <a:t>that</a:t>
            </a:r>
            <a:r>
              <a:rPr lang="pl-PL" sz="1600" dirty="0"/>
              <a:t> </a:t>
            </a:r>
            <a:r>
              <a:rPr lang="pl-PL" sz="1600" dirty="0" err="1"/>
              <a:t>always</a:t>
            </a:r>
            <a:r>
              <a:rPr lang="pl-PL" sz="1600" dirty="0"/>
              <a:t> </a:t>
            </a:r>
            <a:r>
              <a:rPr lang="pl-PL" sz="1600" dirty="0" err="1"/>
              <a:t>occur</a:t>
            </a:r>
            <a:r>
              <a:rPr lang="pl-PL" sz="1600" dirty="0"/>
              <a:t>. </a:t>
            </a:r>
          </a:p>
          <a:p>
            <a:pPr lvl="1"/>
            <a:r>
              <a:rPr lang="pl-PL" sz="1600" dirty="0" err="1"/>
              <a:t>Functionality</a:t>
            </a:r>
            <a:r>
              <a:rPr lang="pl-PL" sz="1600" dirty="0"/>
              <a:t> </a:t>
            </a:r>
            <a:r>
              <a:rPr lang="pl-PL" sz="1600" dirty="0" err="1"/>
              <a:t>matters</a:t>
            </a:r>
            <a:r>
              <a:rPr lang="pl-PL" sz="1600" dirty="0"/>
              <a:t> less.</a:t>
            </a:r>
          </a:p>
          <a:p>
            <a:r>
              <a:rPr lang="pl-PL" sz="2000" dirty="0"/>
              <a:t>The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should</a:t>
            </a:r>
            <a:r>
              <a:rPr lang="pl-PL" sz="2000" dirty="0"/>
              <a:t> be </a:t>
            </a:r>
            <a:r>
              <a:rPr lang="pl-PL" sz="2000" dirty="0" err="1"/>
              <a:t>documented</a:t>
            </a:r>
            <a:r>
              <a:rPr lang="pl-PL" sz="2000" dirty="0"/>
              <a:t> </a:t>
            </a:r>
            <a:r>
              <a:rPr lang="pl-PL" sz="2000" dirty="0" err="1"/>
              <a:t>using</a:t>
            </a:r>
            <a:r>
              <a:rPr lang="pl-PL" sz="2000" dirty="0"/>
              <a:t> </a:t>
            </a:r>
            <a:r>
              <a:rPr lang="pl-PL" sz="2000" dirty="0" err="1"/>
              <a:t>views</a:t>
            </a:r>
            <a:r>
              <a:rPr lang="pl-PL" sz="2000" dirty="0"/>
              <a:t>. The </a:t>
            </a:r>
            <a:r>
              <a:rPr lang="pl-PL" sz="2000" dirty="0" err="1"/>
              <a:t>views</a:t>
            </a:r>
            <a:r>
              <a:rPr lang="pl-PL" sz="2000" dirty="0"/>
              <a:t> </a:t>
            </a:r>
            <a:r>
              <a:rPr lang="pl-PL" sz="2000" dirty="0" err="1"/>
              <a:t>should</a:t>
            </a:r>
            <a:r>
              <a:rPr lang="pl-PL" sz="2000" dirty="0"/>
              <a:t> </a:t>
            </a:r>
            <a:r>
              <a:rPr lang="pl-PL" sz="2000" dirty="0" err="1"/>
              <a:t>address</a:t>
            </a:r>
            <a:r>
              <a:rPr lang="pl-PL" sz="2000" dirty="0"/>
              <a:t> the </a:t>
            </a:r>
            <a:r>
              <a:rPr lang="pl-PL" sz="2000" dirty="0" err="1"/>
              <a:t>concerns</a:t>
            </a:r>
            <a:r>
              <a:rPr lang="pl-PL" sz="2000" dirty="0"/>
              <a:t> of the most </a:t>
            </a:r>
            <a:r>
              <a:rPr lang="pl-PL" sz="2000" dirty="0" err="1"/>
              <a:t>important</a:t>
            </a:r>
            <a:r>
              <a:rPr lang="pl-PL" sz="2000" dirty="0"/>
              <a:t> </a:t>
            </a:r>
            <a:r>
              <a:rPr lang="pl-PL" sz="2000" dirty="0" err="1"/>
              <a:t>stakeholders</a:t>
            </a:r>
            <a:r>
              <a:rPr lang="pl-PL" sz="2000" dirty="0"/>
              <a:t> in </a:t>
            </a:r>
            <a:r>
              <a:rPr lang="pl-PL" sz="2000" dirty="0" err="1"/>
              <a:t>support</a:t>
            </a:r>
            <a:r>
              <a:rPr lang="pl-PL" sz="2000" dirty="0"/>
              <a:t> of the </a:t>
            </a:r>
            <a:r>
              <a:rPr lang="pl-PL" sz="2000" dirty="0" err="1"/>
              <a:t>project</a:t>
            </a:r>
            <a:r>
              <a:rPr lang="pl-PL" sz="2000" dirty="0"/>
              <a:t> </a:t>
            </a:r>
            <a:r>
              <a:rPr lang="pl-PL" sz="2000" dirty="0" err="1"/>
              <a:t>timeline</a:t>
            </a:r>
            <a:r>
              <a:rPr lang="pl-PL" sz="2000" dirty="0"/>
              <a:t>. </a:t>
            </a:r>
          </a:p>
          <a:p>
            <a:r>
              <a:rPr lang="pl-PL" sz="2000" dirty="0"/>
              <a:t>The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should</a:t>
            </a:r>
            <a:r>
              <a:rPr lang="pl-PL" sz="2000" dirty="0"/>
              <a:t> be </a:t>
            </a:r>
            <a:r>
              <a:rPr lang="pl-PL" sz="2000" dirty="0" err="1"/>
              <a:t>evaluated</a:t>
            </a:r>
            <a:r>
              <a:rPr lang="pl-PL" sz="2000" dirty="0"/>
              <a:t> for </a:t>
            </a:r>
            <a:r>
              <a:rPr lang="pl-PL" sz="2000" dirty="0" err="1"/>
              <a:t>its</a:t>
            </a:r>
            <a:r>
              <a:rPr lang="pl-PL" sz="2000" dirty="0"/>
              <a:t> </a:t>
            </a:r>
            <a:r>
              <a:rPr lang="pl-PL" sz="2000" dirty="0" err="1"/>
              <a:t>ability</a:t>
            </a:r>
            <a:r>
              <a:rPr lang="pl-PL" sz="2000" dirty="0"/>
              <a:t> to </a:t>
            </a:r>
            <a:r>
              <a:rPr lang="pl-PL" sz="2000" dirty="0" err="1"/>
              <a:t>deliver</a:t>
            </a:r>
            <a:r>
              <a:rPr lang="pl-PL" sz="2000" dirty="0"/>
              <a:t> the </a:t>
            </a:r>
            <a:r>
              <a:rPr lang="pl-PL" sz="2000" dirty="0" err="1"/>
              <a:t>system’s</a:t>
            </a:r>
            <a:r>
              <a:rPr lang="pl-PL" sz="2000" dirty="0"/>
              <a:t> </a:t>
            </a:r>
            <a:r>
              <a:rPr lang="pl-PL" sz="2000" dirty="0" err="1"/>
              <a:t>important</a:t>
            </a:r>
            <a:r>
              <a:rPr lang="pl-PL" sz="2000" dirty="0"/>
              <a:t> </a:t>
            </a:r>
            <a:r>
              <a:rPr lang="pl-PL" sz="2000" dirty="0" err="1"/>
              <a:t>quality</a:t>
            </a:r>
            <a:r>
              <a:rPr lang="pl-PL" sz="2000" dirty="0"/>
              <a:t> </a:t>
            </a:r>
            <a:r>
              <a:rPr lang="pl-PL" sz="2000" dirty="0" err="1"/>
              <a:t>attributes</a:t>
            </a:r>
            <a:r>
              <a:rPr lang="pl-PL" sz="2000" dirty="0"/>
              <a:t>. </a:t>
            </a:r>
          </a:p>
          <a:p>
            <a:pPr lvl="1"/>
            <a:r>
              <a:rPr lang="pl-PL" sz="1600" dirty="0" err="1"/>
              <a:t>This</a:t>
            </a:r>
            <a:r>
              <a:rPr lang="pl-PL" sz="1600" dirty="0"/>
              <a:t> </a:t>
            </a:r>
            <a:r>
              <a:rPr lang="pl-PL" sz="1600" dirty="0" err="1"/>
              <a:t>should</a:t>
            </a:r>
            <a:r>
              <a:rPr lang="pl-PL" sz="1600" dirty="0"/>
              <a:t> </a:t>
            </a:r>
            <a:r>
              <a:rPr lang="pl-PL" sz="1600" dirty="0" err="1"/>
              <a:t>occur</a:t>
            </a:r>
            <a:r>
              <a:rPr lang="pl-PL" sz="1600" dirty="0"/>
              <a:t> </a:t>
            </a:r>
            <a:r>
              <a:rPr lang="pl-PL" sz="1600" dirty="0" err="1"/>
              <a:t>early</a:t>
            </a:r>
            <a:r>
              <a:rPr lang="pl-PL" sz="1600" dirty="0"/>
              <a:t> in the life </a:t>
            </a:r>
            <a:r>
              <a:rPr lang="pl-PL" sz="1600" dirty="0" err="1"/>
              <a:t>cycle</a:t>
            </a:r>
            <a:r>
              <a:rPr lang="pl-PL" sz="1600" dirty="0"/>
              <a:t>, </a:t>
            </a:r>
            <a:r>
              <a:rPr lang="pl-PL" sz="1600" dirty="0" err="1"/>
              <a:t>when</a:t>
            </a:r>
            <a:r>
              <a:rPr lang="pl-PL" sz="1600" dirty="0"/>
              <a:t> </a:t>
            </a:r>
            <a:r>
              <a:rPr lang="pl-PL" sz="1600" dirty="0" err="1"/>
              <a:t>it</a:t>
            </a:r>
            <a:r>
              <a:rPr lang="pl-PL" sz="1600" dirty="0"/>
              <a:t> </a:t>
            </a:r>
            <a:r>
              <a:rPr lang="pl-PL" sz="1600" dirty="0" err="1"/>
              <a:t>returns</a:t>
            </a:r>
            <a:r>
              <a:rPr lang="pl-PL" sz="1600" dirty="0"/>
              <a:t> the most benefit, and </a:t>
            </a:r>
            <a:r>
              <a:rPr lang="pl-PL" sz="1600" dirty="0" err="1"/>
              <a:t>repeated</a:t>
            </a:r>
            <a:r>
              <a:rPr lang="pl-PL" sz="1600" dirty="0"/>
              <a:t> as </a:t>
            </a:r>
            <a:r>
              <a:rPr lang="pl-PL" sz="1600" dirty="0" err="1"/>
              <a:t>appropriate</a:t>
            </a:r>
            <a:r>
              <a:rPr lang="pl-PL" sz="1600" dirty="0"/>
              <a:t>.</a:t>
            </a:r>
          </a:p>
          <a:p>
            <a:r>
              <a:rPr lang="pl-PL" sz="2000" dirty="0"/>
              <a:t>The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should</a:t>
            </a:r>
            <a:r>
              <a:rPr lang="pl-PL" sz="2000" dirty="0"/>
              <a:t> </a:t>
            </a:r>
            <a:r>
              <a:rPr lang="pl-PL" sz="2000" dirty="0" err="1"/>
              <a:t>lend</a:t>
            </a:r>
            <a:r>
              <a:rPr lang="pl-PL" sz="2000" dirty="0"/>
              <a:t> </a:t>
            </a:r>
            <a:r>
              <a:rPr lang="pl-PL" sz="2000" dirty="0" err="1"/>
              <a:t>itself</a:t>
            </a:r>
            <a:r>
              <a:rPr lang="pl-PL" sz="2000" dirty="0"/>
              <a:t> to </a:t>
            </a:r>
            <a:r>
              <a:rPr lang="pl-PL" sz="2000" dirty="0" err="1"/>
              <a:t>incremental</a:t>
            </a:r>
            <a:r>
              <a:rPr lang="pl-PL" sz="2000" dirty="0"/>
              <a:t> </a:t>
            </a:r>
            <a:r>
              <a:rPr lang="pl-PL" sz="2000" dirty="0" err="1"/>
              <a:t>implementation</a:t>
            </a:r>
            <a:r>
              <a:rPr lang="pl-PL" sz="2000" dirty="0"/>
              <a:t>, </a:t>
            </a:r>
          </a:p>
          <a:p>
            <a:pPr lvl="1"/>
            <a:r>
              <a:rPr lang="pl-PL" sz="1600" dirty="0" err="1"/>
              <a:t>Create</a:t>
            </a:r>
            <a:r>
              <a:rPr lang="pl-PL" sz="1600" dirty="0"/>
              <a:t> a “</a:t>
            </a:r>
            <a:r>
              <a:rPr lang="pl-PL" sz="1600" dirty="0" err="1"/>
              <a:t>skeletal</a:t>
            </a:r>
            <a:r>
              <a:rPr lang="pl-PL" sz="1600" dirty="0"/>
              <a:t>” system in </a:t>
            </a:r>
            <a:r>
              <a:rPr lang="pl-PL" sz="1600" dirty="0" err="1"/>
              <a:t>which</a:t>
            </a:r>
            <a:r>
              <a:rPr lang="pl-PL" sz="1600" dirty="0"/>
              <a:t> the </a:t>
            </a:r>
            <a:r>
              <a:rPr lang="pl-PL" sz="1600" dirty="0" err="1"/>
              <a:t>communication</a:t>
            </a:r>
            <a:r>
              <a:rPr lang="pl-PL" sz="1600" dirty="0"/>
              <a:t> </a:t>
            </a:r>
            <a:r>
              <a:rPr lang="pl-PL" sz="1600" dirty="0" err="1"/>
              <a:t>paths</a:t>
            </a:r>
            <a:r>
              <a:rPr lang="pl-PL" sz="1600" dirty="0"/>
              <a:t> </a:t>
            </a:r>
            <a:r>
              <a:rPr lang="pl-PL" sz="1600" dirty="0" err="1"/>
              <a:t>are</a:t>
            </a:r>
            <a:r>
              <a:rPr lang="pl-PL" sz="1600" dirty="0"/>
              <a:t> </a:t>
            </a:r>
            <a:r>
              <a:rPr lang="pl-PL" sz="1600" dirty="0" err="1"/>
              <a:t>exercised</a:t>
            </a:r>
            <a:r>
              <a:rPr lang="pl-PL" sz="1600" dirty="0"/>
              <a:t> but </a:t>
            </a:r>
            <a:r>
              <a:rPr lang="pl-PL" sz="1600" dirty="0" err="1"/>
              <a:t>which</a:t>
            </a:r>
            <a:r>
              <a:rPr lang="pl-PL" sz="1600" dirty="0"/>
              <a:t> </a:t>
            </a:r>
            <a:r>
              <a:rPr lang="pl-PL" sz="1600" dirty="0" err="1"/>
              <a:t>at</a:t>
            </a:r>
            <a:r>
              <a:rPr lang="pl-PL" sz="1600" dirty="0"/>
              <a:t> </a:t>
            </a:r>
            <a:r>
              <a:rPr lang="pl-PL" sz="1600" dirty="0" err="1"/>
              <a:t>first</a:t>
            </a:r>
            <a:r>
              <a:rPr lang="pl-PL" sz="1600" dirty="0"/>
              <a:t> </a:t>
            </a:r>
            <a:r>
              <a:rPr lang="pl-PL" sz="1600" dirty="0" err="1"/>
              <a:t>has</a:t>
            </a:r>
            <a:r>
              <a:rPr lang="pl-PL" sz="1600" dirty="0"/>
              <a:t> </a:t>
            </a:r>
            <a:r>
              <a:rPr lang="pl-PL" sz="1600" dirty="0" err="1"/>
              <a:t>minimal</a:t>
            </a:r>
            <a:r>
              <a:rPr lang="pl-PL" sz="1600" dirty="0"/>
              <a:t> </a:t>
            </a:r>
            <a:r>
              <a:rPr lang="pl-PL" sz="1600" dirty="0" err="1"/>
              <a:t>functionality</a:t>
            </a:r>
            <a:r>
              <a:rPr lang="pl-PL" sz="16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1501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DB67-B98A-4AC5-929D-81BD9B8E0ED5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Kazman,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72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02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</p:spTree>
    <p:extLst>
      <p:ext uri="{BB962C8B-B14F-4D97-AF65-F5344CB8AC3E}">
        <p14:creationId xmlns:p14="http://schemas.microsoft.com/office/powerpoint/2010/main" val="317183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9AFD-92D5-4F38-81E5-3FBC268DED4A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30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DA7F1-F5F6-4965-B98A-1EF216FC21E9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56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951D-1B64-4AD7-951D-395C8B37DA62}" type="datetime1">
              <a:rPr lang="en-AU" smtClean="0"/>
              <a:t>3/11/2025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10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45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D5B1-B0B7-4FEE-A636-82BBB8DC2F24}" type="datetime1">
              <a:rPr lang="en-AU" smtClean="0"/>
              <a:t>3/11/2025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9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E332-3D0B-4932-A3B1-41A6E16690E0}" type="datetime1">
              <a:rPr lang="en-AU" smtClean="0"/>
              <a:t>3/11/2025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75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B9C4-EF48-4255-A3A3-972222EC13E9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074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94F8-BF1B-412F-A811-124AF48AB6BD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4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8C8F9-EC1D-4BA9-A60E-999AFF963F40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11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916B-826A-4DC1-AF36-AFE8D11DE3BA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17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3DB84-98FB-4B92-9E59-12D7CC27F3EE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dirty="0"/>
              <a:t>© Len Bass</a:t>
            </a:r>
            <a:r>
              <a:rPr lang="en-AU"/>
              <a:t>, Paul </a:t>
            </a:r>
            <a:r>
              <a:rPr lang="en-AU" dirty="0"/>
              <a:t>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17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Chapter 1:  </a:t>
            </a:r>
            <a:br>
              <a:rPr lang="en-AU" dirty="0"/>
            </a:br>
            <a:r>
              <a:rPr lang="en-AU" dirty="0"/>
              <a:t>What is Software Architecture?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353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Chapter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Software Architecture Is and What It </a:t>
            </a:r>
            <a:r>
              <a:rPr lang="tr-TR" dirty="0" err="1"/>
              <a:t>Isn’t</a:t>
            </a:r>
            <a:r>
              <a:rPr lang="tr-TR" dirty="0"/>
              <a:t> </a:t>
            </a:r>
          </a:p>
          <a:p>
            <a:r>
              <a:rPr lang="tr-TR" dirty="0" err="1"/>
              <a:t>Architectural</a:t>
            </a:r>
            <a:r>
              <a:rPr lang="tr-TR" dirty="0"/>
              <a:t> </a:t>
            </a:r>
            <a:r>
              <a:rPr lang="tr-TR" dirty="0" err="1"/>
              <a:t>Structures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Views</a:t>
            </a:r>
            <a:endParaRPr lang="tr-TR" dirty="0"/>
          </a:p>
          <a:p>
            <a:r>
              <a:rPr lang="tr-TR" dirty="0" err="1"/>
              <a:t>Architectural</a:t>
            </a:r>
            <a:r>
              <a:rPr lang="tr-TR" dirty="0"/>
              <a:t> </a:t>
            </a:r>
            <a:r>
              <a:rPr lang="tr-TR" dirty="0" err="1"/>
              <a:t>Patterns</a:t>
            </a:r>
            <a:endParaRPr lang="tr-TR" dirty="0"/>
          </a:p>
          <a:p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Makes</a:t>
            </a:r>
            <a:r>
              <a:rPr lang="tr-TR" dirty="0"/>
              <a:t> a “</a:t>
            </a:r>
            <a:r>
              <a:rPr lang="tr-TR" dirty="0" err="1"/>
              <a:t>Good</a:t>
            </a:r>
            <a:r>
              <a:rPr lang="tr-TR" dirty="0"/>
              <a:t>” Architecture?</a:t>
            </a:r>
          </a:p>
          <a:p>
            <a:r>
              <a:rPr lang="tr-TR" dirty="0" err="1"/>
              <a:t>Summary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394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The software architecture of a system is the set of structures needed to reason about the system, which comprise software elements, relations among them, and properties of both.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3041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Is a Set of Software Structures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structure is a set of elements held together by a relation. </a:t>
            </a:r>
          </a:p>
          <a:p>
            <a:r>
              <a:rPr lang="en-US" dirty="0"/>
              <a:t>Software systems are composed of many structures, and no single structure holds claim to being the  architecture.</a:t>
            </a:r>
          </a:p>
          <a:p>
            <a:r>
              <a:rPr lang="en-US" dirty="0"/>
              <a:t>There are three important categories of architectural structures.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Module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Component and Connector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Allocation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265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structures partition systems into implementation units, which we call modules. </a:t>
            </a:r>
          </a:p>
          <a:p>
            <a:r>
              <a:rPr lang="en-US" dirty="0"/>
              <a:t>Modules are assigned specific computational responsibilities, and are the basis of work assignments for programming teams. </a:t>
            </a:r>
          </a:p>
          <a:p>
            <a:r>
              <a:rPr lang="en-US" dirty="0"/>
              <a:t>In large projects, these elements (modules) are subdivided for assignment to sub-teams.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9379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Component-and-connector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Other structures focus on the way the elements interact with each other at runtime to carry out the system’s functions.</a:t>
            </a:r>
          </a:p>
          <a:p>
            <a:r>
              <a:rPr lang="en-US" dirty="0"/>
              <a:t>We call runtime structures </a:t>
            </a:r>
            <a:r>
              <a:rPr lang="en-US" i="1" dirty="0"/>
              <a:t>component-and-connector (C&amp;C) structures</a:t>
            </a:r>
            <a:r>
              <a:rPr lang="en-US" dirty="0"/>
              <a:t>.</a:t>
            </a:r>
          </a:p>
          <a:p>
            <a:r>
              <a:rPr lang="en-US" dirty="0"/>
              <a:t>In our use, a component is always a runtime entity.</a:t>
            </a:r>
          </a:p>
          <a:p>
            <a:pPr lvl="1"/>
            <a:r>
              <a:rPr lang="en-US" dirty="0"/>
              <a:t>Suppose the system is to be built as a set of services. </a:t>
            </a:r>
          </a:p>
          <a:p>
            <a:pPr lvl="1"/>
            <a:r>
              <a:rPr lang="en-US" dirty="0"/>
              <a:t>The services, the infrastructure they interact with, and the synchronization and interaction relations among them form another kind of structure often used to describe a system. </a:t>
            </a:r>
          </a:p>
          <a:p>
            <a:pPr lvl="1"/>
            <a:r>
              <a:rPr lang="en-US" dirty="0"/>
              <a:t>These services are made up of (compiled from) the programs in the various implementation units – modules.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173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Allocation structures describe the mapping from software structures to the system’s environments</a:t>
            </a:r>
          </a:p>
          <a:p>
            <a:pPr lvl="1"/>
            <a:r>
              <a:rPr lang="en-US" dirty="0"/>
              <a:t>organizational</a:t>
            </a:r>
          </a:p>
          <a:p>
            <a:pPr lvl="1"/>
            <a:r>
              <a:rPr lang="en-US" dirty="0"/>
              <a:t>developmental</a:t>
            </a:r>
          </a:p>
          <a:p>
            <a:pPr lvl="1"/>
            <a:r>
              <a:rPr lang="en-US" dirty="0"/>
              <a:t>installation</a:t>
            </a:r>
          </a:p>
          <a:p>
            <a:pPr lvl="1"/>
            <a:r>
              <a:rPr lang="en-US" dirty="0"/>
              <a:t>Execution</a:t>
            </a:r>
          </a:p>
          <a:p>
            <a:r>
              <a:rPr lang="en-US" dirty="0"/>
              <a:t>For example</a:t>
            </a:r>
          </a:p>
          <a:p>
            <a:pPr lvl="1"/>
            <a:r>
              <a:rPr lang="en-US" dirty="0"/>
              <a:t>Modules are assigned to teams to develop, and assigned to places in a file structure for implementation, integration, and testing. </a:t>
            </a:r>
          </a:p>
          <a:p>
            <a:pPr lvl="1"/>
            <a:r>
              <a:rPr lang="en-US" dirty="0"/>
              <a:t>Components are deployed onto hardware in order to execute.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1362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Structures are Architectural?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structure is architectural if it supports reasoning about the system and the system’s properties. </a:t>
            </a:r>
          </a:p>
          <a:p>
            <a:r>
              <a:rPr lang="en-US" dirty="0"/>
              <a:t>The reasoning should be about an attribute of the system that is important to some stakeholder. </a:t>
            </a:r>
          </a:p>
          <a:p>
            <a:r>
              <a:rPr lang="en-US" dirty="0"/>
              <a:t>These include </a:t>
            </a:r>
          </a:p>
          <a:p>
            <a:pPr lvl="1"/>
            <a:r>
              <a:rPr lang="en-US" dirty="0"/>
              <a:t>functionality achieved by the system</a:t>
            </a:r>
          </a:p>
          <a:p>
            <a:pPr lvl="1"/>
            <a:r>
              <a:rPr lang="en-US" dirty="0"/>
              <a:t>the availability of the system in the face of faults</a:t>
            </a:r>
          </a:p>
          <a:p>
            <a:pPr lvl="1"/>
            <a:r>
              <a:rPr lang="en-US" dirty="0"/>
              <a:t>the difficulty of making specific changes to the system</a:t>
            </a:r>
          </a:p>
          <a:p>
            <a:pPr lvl="1"/>
            <a:r>
              <a:rPr lang="en-US" dirty="0"/>
              <a:t>the responsiveness of the system to user requests, </a:t>
            </a:r>
          </a:p>
          <a:p>
            <a:pPr lvl="1"/>
            <a:r>
              <a:rPr lang="en-US" dirty="0"/>
              <a:t>many others.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085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is an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An architecture comprises software elements and </a:t>
            </a:r>
            <a:r>
              <a:rPr lang="pl-PL" sz="2400" dirty="0" err="1"/>
              <a:t>how</a:t>
            </a:r>
            <a:r>
              <a:rPr lang="pl-PL" sz="2400" dirty="0"/>
              <a:t> the </a:t>
            </a:r>
            <a:r>
              <a:rPr lang="pl-PL" sz="2400" dirty="0" err="1"/>
              <a:t>elements</a:t>
            </a:r>
            <a:r>
              <a:rPr lang="pl-PL" sz="2400" dirty="0"/>
              <a:t> </a:t>
            </a:r>
            <a:r>
              <a:rPr lang="pl-PL" sz="2400" dirty="0" err="1"/>
              <a:t>relate</a:t>
            </a:r>
            <a:r>
              <a:rPr lang="pl-PL" sz="2400" dirty="0"/>
              <a:t> to </a:t>
            </a:r>
            <a:r>
              <a:rPr lang="pl-PL" sz="2400" dirty="0" err="1"/>
              <a:t>each</a:t>
            </a:r>
            <a:r>
              <a:rPr lang="pl-PL" sz="2400" dirty="0"/>
              <a:t> </a:t>
            </a:r>
            <a:r>
              <a:rPr lang="pl-PL" sz="2400" dirty="0" err="1"/>
              <a:t>other</a:t>
            </a:r>
            <a:r>
              <a:rPr lang="pl-PL" sz="2400" dirty="0"/>
              <a:t>. </a:t>
            </a:r>
          </a:p>
          <a:p>
            <a:pPr lvl="1"/>
            <a:r>
              <a:rPr lang="pl-PL" sz="2000" dirty="0" err="1"/>
              <a:t>An</a:t>
            </a:r>
            <a:r>
              <a:rPr lang="pl-PL" sz="2000" dirty="0"/>
              <a:t>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specifically</a:t>
            </a:r>
            <a:r>
              <a:rPr lang="pl-PL" sz="2000" dirty="0"/>
              <a:t> </a:t>
            </a:r>
            <a:r>
              <a:rPr lang="pl-PL" sz="2000" dirty="0" err="1"/>
              <a:t>omits</a:t>
            </a:r>
            <a:r>
              <a:rPr lang="pl-PL" sz="2000" dirty="0"/>
              <a:t> </a:t>
            </a:r>
            <a:r>
              <a:rPr lang="pl-PL" sz="2000" dirty="0" err="1"/>
              <a:t>certain</a:t>
            </a:r>
            <a:r>
              <a:rPr lang="pl-PL" sz="2000" dirty="0"/>
              <a:t> </a:t>
            </a:r>
            <a:r>
              <a:rPr lang="pl-PL" sz="2000" dirty="0" err="1"/>
              <a:t>information</a:t>
            </a:r>
            <a:r>
              <a:rPr lang="pl-PL" sz="2000" dirty="0"/>
              <a:t> </a:t>
            </a:r>
            <a:r>
              <a:rPr lang="pl-PL" sz="2000" dirty="0" err="1"/>
              <a:t>about</a:t>
            </a:r>
            <a:r>
              <a:rPr lang="pl-PL" sz="2000" dirty="0"/>
              <a:t> </a:t>
            </a:r>
            <a:r>
              <a:rPr lang="pl-PL" sz="2000" dirty="0" err="1"/>
              <a:t>elements</a:t>
            </a:r>
            <a:r>
              <a:rPr lang="pl-PL" sz="2000" dirty="0"/>
              <a:t> </a:t>
            </a:r>
            <a:r>
              <a:rPr lang="pl-PL" sz="2000" dirty="0" err="1"/>
              <a:t>that</a:t>
            </a:r>
            <a:r>
              <a:rPr lang="pl-PL" sz="2000" dirty="0"/>
              <a:t> </a:t>
            </a:r>
            <a:r>
              <a:rPr lang="pl-PL" sz="2000" dirty="0" err="1"/>
              <a:t>is</a:t>
            </a:r>
            <a:r>
              <a:rPr lang="pl-PL" sz="2000" dirty="0"/>
              <a:t> not </a:t>
            </a:r>
            <a:r>
              <a:rPr lang="pl-PL" sz="2000" dirty="0" err="1"/>
              <a:t>useful</a:t>
            </a:r>
            <a:r>
              <a:rPr lang="pl-PL" sz="2000" dirty="0"/>
              <a:t> for </a:t>
            </a:r>
            <a:r>
              <a:rPr lang="pl-PL" sz="2000" dirty="0" err="1"/>
              <a:t>reasoning</a:t>
            </a:r>
            <a:r>
              <a:rPr lang="pl-PL" sz="2000" dirty="0"/>
              <a:t> </a:t>
            </a:r>
            <a:r>
              <a:rPr lang="pl-PL" sz="2000" dirty="0" err="1"/>
              <a:t>about</a:t>
            </a:r>
            <a:r>
              <a:rPr lang="pl-PL" sz="2000" dirty="0"/>
              <a:t> the system.</a:t>
            </a:r>
          </a:p>
          <a:p>
            <a:pPr lvl="1"/>
            <a:r>
              <a:rPr lang="pl-PL" sz="2000" dirty="0"/>
              <a:t>It </a:t>
            </a:r>
            <a:r>
              <a:rPr lang="pl-PL" sz="2000" dirty="0" err="1"/>
              <a:t>omits</a:t>
            </a:r>
            <a:r>
              <a:rPr lang="pl-PL" sz="2000" dirty="0"/>
              <a:t> </a:t>
            </a:r>
            <a:r>
              <a:rPr lang="pl-PL" sz="2000" dirty="0" err="1"/>
              <a:t>information</a:t>
            </a:r>
            <a:r>
              <a:rPr lang="pl-PL" sz="2000" dirty="0"/>
              <a:t> </a:t>
            </a:r>
            <a:r>
              <a:rPr lang="pl-PL" sz="2000" dirty="0" err="1"/>
              <a:t>that</a:t>
            </a:r>
            <a:r>
              <a:rPr lang="pl-PL" sz="2000" dirty="0"/>
              <a:t> </a:t>
            </a:r>
            <a:r>
              <a:rPr lang="pl-PL" sz="2000" dirty="0" err="1"/>
              <a:t>has</a:t>
            </a:r>
            <a:r>
              <a:rPr lang="pl-PL" sz="2000" dirty="0"/>
              <a:t> no </a:t>
            </a:r>
            <a:r>
              <a:rPr lang="pl-PL" sz="2000" dirty="0" err="1"/>
              <a:t>ramifications</a:t>
            </a:r>
            <a:r>
              <a:rPr lang="pl-PL" sz="2000" dirty="0"/>
              <a:t> </a:t>
            </a:r>
            <a:r>
              <a:rPr lang="pl-PL" sz="2000" dirty="0" err="1"/>
              <a:t>outside</a:t>
            </a:r>
            <a:r>
              <a:rPr lang="pl-PL" sz="2000" dirty="0"/>
              <a:t> of a single element. </a:t>
            </a:r>
          </a:p>
          <a:p>
            <a:pPr lvl="1"/>
            <a:r>
              <a:rPr lang="pl-PL" sz="2000" dirty="0" err="1"/>
              <a:t>An</a:t>
            </a:r>
            <a:r>
              <a:rPr lang="pl-PL" sz="2000" dirty="0"/>
              <a:t>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selects</a:t>
            </a:r>
            <a:r>
              <a:rPr lang="pl-PL" sz="2000" dirty="0"/>
              <a:t> </a:t>
            </a:r>
            <a:r>
              <a:rPr lang="pl-PL" sz="2000" dirty="0" err="1"/>
              <a:t>certain</a:t>
            </a:r>
            <a:r>
              <a:rPr lang="pl-PL" sz="2000" dirty="0"/>
              <a:t> </a:t>
            </a:r>
            <a:r>
              <a:rPr lang="pl-PL" sz="2000" dirty="0" err="1"/>
              <a:t>details</a:t>
            </a:r>
            <a:r>
              <a:rPr lang="pl-PL" sz="2000" dirty="0"/>
              <a:t> and </a:t>
            </a:r>
            <a:r>
              <a:rPr lang="pl-PL" sz="2000" dirty="0" err="1"/>
              <a:t>suppresses</a:t>
            </a:r>
            <a:r>
              <a:rPr lang="pl-PL" sz="2000" dirty="0"/>
              <a:t> </a:t>
            </a:r>
            <a:r>
              <a:rPr lang="pl-PL" sz="2000" dirty="0" err="1"/>
              <a:t>others</a:t>
            </a:r>
            <a:r>
              <a:rPr lang="pl-PL" sz="2000" dirty="0"/>
              <a:t>. </a:t>
            </a:r>
          </a:p>
          <a:p>
            <a:pPr lvl="1"/>
            <a:r>
              <a:rPr lang="pl-PL" sz="2000" dirty="0" err="1"/>
              <a:t>Private</a:t>
            </a:r>
            <a:r>
              <a:rPr lang="pl-PL" sz="2000" dirty="0"/>
              <a:t> </a:t>
            </a:r>
            <a:r>
              <a:rPr lang="pl-PL" sz="2000" dirty="0" err="1"/>
              <a:t>details</a:t>
            </a:r>
            <a:r>
              <a:rPr lang="pl-PL" sz="2000" dirty="0"/>
              <a:t> of </a:t>
            </a:r>
            <a:r>
              <a:rPr lang="pl-PL" sz="2000" dirty="0" err="1"/>
              <a:t>elements</a:t>
            </a:r>
            <a:r>
              <a:rPr lang="pl-PL" sz="2000" dirty="0"/>
              <a:t>—</a:t>
            </a:r>
            <a:r>
              <a:rPr lang="pl-PL" sz="2000" dirty="0" err="1"/>
              <a:t>details</a:t>
            </a:r>
            <a:r>
              <a:rPr lang="pl-PL" sz="2000" dirty="0"/>
              <a:t> </a:t>
            </a:r>
            <a:r>
              <a:rPr lang="pl-PL" sz="2000" dirty="0" err="1"/>
              <a:t>having</a:t>
            </a:r>
            <a:r>
              <a:rPr lang="pl-PL" sz="2000" dirty="0"/>
              <a:t> to do </a:t>
            </a:r>
            <a:r>
              <a:rPr lang="pl-PL" sz="2000" dirty="0" err="1"/>
              <a:t>solely</a:t>
            </a:r>
            <a:r>
              <a:rPr lang="pl-PL" sz="2000" dirty="0"/>
              <a:t> with </a:t>
            </a:r>
            <a:r>
              <a:rPr lang="pl-PL" sz="2000" dirty="0" err="1"/>
              <a:t>internal</a:t>
            </a:r>
            <a:r>
              <a:rPr lang="pl-PL" sz="2000" dirty="0"/>
              <a:t> </a:t>
            </a:r>
            <a:r>
              <a:rPr lang="pl-PL" sz="2000" dirty="0" err="1"/>
              <a:t>implementation</a:t>
            </a:r>
            <a:r>
              <a:rPr lang="pl-PL" sz="2000" dirty="0"/>
              <a:t>—</a:t>
            </a:r>
            <a:r>
              <a:rPr lang="pl-PL" sz="2000" dirty="0" err="1"/>
              <a:t>are</a:t>
            </a:r>
            <a:r>
              <a:rPr lang="pl-PL" sz="2000" dirty="0"/>
              <a:t> not </a:t>
            </a:r>
            <a:r>
              <a:rPr lang="pl-PL" sz="2000" dirty="0" err="1"/>
              <a:t>architectural</a:t>
            </a:r>
            <a:r>
              <a:rPr lang="pl-PL" sz="2000" dirty="0"/>
              <a:t>. </a:t>
            </a:r>
          </a:p>
          <a:p>
            <a:r>
              <a:rPr lang="pl-PL" sz="2400" dirty="0"/>
              <a:t>The </a:t>
            </a:r>
            <a:r>
              <a:rPr lang="pl-PL" sz="2400" dirty="0" err="1"/>
              <a:t>architectural</a:t>
            </a:r>
            <a:r>
              <a:rPr lang="pl-PL" sz="2400" dirty="0"/>
              <a:t> </a:t>
            </a:r>
            <a:r>
              <a:rPr lang="pl-PL" sz="2400" dirty="0" err="1"/>
              <a:t>abstraction</a:t>
            </a:r>
            <a:r>
              <a:rPr lang="pl-PL" sz="2400" dirty="0"/>
              <a:t> </a:t>
            </a:r>
            <a:r>
              <a:rPr lang="pl-PL" sz="2400" dirty="0" err="1"/>
              <a:t>lets</a:t>
            </a:r>
            <a:r>
              <a:rPr lang="pl-PL" sz="2400" dirty="0"/>
              <a:t> </a:t>
            </a:r>
            <a:r>
              <a:rPr lang="pl-PL" sz="2400" dirty="0" err="1"/>
              <a:t>us</a:t>
            </a:r>
            <a:r>
              <a:rPr lang="pl-PL" sz="2400" dirty="0"/>
              <a:t> </a:t>
            </a:r>
            <a:r>
              <a:rPr lang="pl-PL" sz="2400" dirty="0" err="1"/>
              <a:t>look</a:t>
            </a:r>
            <a:r>
              <a:rPr lang="pl-PL" sz="2400" dirty="0"/>
              <a:t> </a:t>
            </a:r>
            <a:r>
              <a:rPr lang="pl-PL" sz="2400" dirty="0" err="1"/>
              <a:t>at</a:t>
            </a:r>
            <a:r>
              <a:rPr lang="pl-PL" sz="2400" dirty="0"/>
              <a:t> the system in </a:t>
            </a:r>
            <a:r>
              <a:rPr lang="pl-PL" sz="2400" dirty="0" err="1"/>
              <a:t>terms</a:t>
            </a:r>
            <a:r>
              <a:rPr lang="pl-PL" sz="2400" dirty="0"/>
              <a:t> of </a:t>
            </a:r>
            <a:r>
              <a:rPr lang="pl-PL" sz="2400" dirty="0" err="1"/>
              <a:t>its</a:t>
            </a:r>
            <a:r>
              <a:rPr lang="pl-PL" sz="2400" dirty="0"/>
              <a:t> </a:t>
            </a:r>
            <a:r>
              <a:rPr lang="pl-PL" sz="2400" dirty="0" err="1"/>
              <a:t>elements</a:t>
            </a:r>
            <a:r>
              <a:rPr lang="pl-PL" sz="2400" dirty="0"/>
              <a:t>, </a:t>
            </a:r>
            <a:r>
              <a:rPr lang="pl-PL" sz="2400" dirty="0" err="1"/>
              <a:t>how</a:t>
            </a:r>
            <a:r>
              <a:rPr lang="pl-PL" sz="2400" dirty="0"/>
              <a:t> </a:t>
            </a:r>
            <a:r>
              <a:rPr lang="pl-PL" sz="2400" dirty="0" err="1"/>
              <a:t>they</a:t>
            </a:r>
            <a:r>
              <a:rPr lang="pl-PL" sz="2400" dirty="0"/>
              <a:t> </a:t>
            </a:r>
            <a:r>
              <a:rPr lang="pl-PL" sz="2400" dirty="0" err="1"/>
              <a:t>are</a:t>
            </a:r>
            <a:r>
              <a:rPr lang="pl-PL" sz="2400" dirty="0"/>
              <a:t> </a:t>
            </a:r>
            <a:r>
              <a:rPr lang="pl-PL" sz="2400" dirty="0" err="1"/>
              <a:t>arranged</a:t>
            </a:r>
            <a:r>
              <a:rPr lang="pl-PL" sz="2400" dirty="0"/>
              <a:t>, </a:t>
            </a:r>
            <a:r>
              <a:rPr lang="pl-PL" sz="2400" dirty="0" err="1"/>
              <a:t>how</a:t>
            </a:r>
            <a:r>
              <a:rPr lang="pl-PL" sz="2400" dirty="0"/>
              <a:t> </a:t>
            </a:r>
            <a:r>
              <a:rPr lang="pl-PL" sz="2400" dirty="0" err="1"/>
              <a:t>they</a:t>
            </a:r>
            <a:r>
              <a:rPr lang="pl-PL" sz="2400" dirty="0"/>
              <a:t> </a:t>
            </a:r>
            <a:r>
              <a:rPr lang="pl-PL" sz="2400" dirty="0" err="1"/>
              <a:t>interact</a:t>
            </a:r>
            <a:r>
              <a:rPr lang="pl-PL" sz="2400" dirty="0"/>
              <a:t>, </a:t>
            </a:r>
            <a:r>
              <a:rPr lang="pl-PL" sz="2400" dirty="0" err="1"/>
              <a:t>how</a:t>
            </a:r>
            <a:r>
              <a:rPr lang="pl-PL" sz="2400" dirty="0"/>
              <a:t> </a:t>
            </a:r>
            <a:r>
              <a:rPr lang="pl-PL" sz="2400" dirty="0" err="1"/>
              <a:t>they</a:t>
            </a:r>
            <a:r>
              <a:rPr lang="pl-PL" sz="2400" dirty="0"/>
              <a:t> </a:t>
            </a:r>
            <a:r>
              <a:rPr lang="pl-PL" sz="2400" dirty="0" err="1"/>
              <a:t>are</a:t>
            </a:r>
            <a:r>
              <a:rPr lang="pl-PL" sz="2400" dirty="0"/>
              <a:t> </a:t>
            </a:r>
            <a:r>
              <a:rPr lang="pl-PL" sz="2400" dirty="0" err="1"/>
              <a:t>composed</a:t>
            </a:r>
            <a:r>
              <a:rPr lang="pl-PL" sz="2400" dirty="0"/>
              <a:t>, </a:t>
            </a:r>
            <a:r>
              <a:rPr lang="pl-PL" sz="2400" dirty="0" err="1"/>
              <a:t>what</a:t>
            </a:r>
            <a:r>
              <a:rPr lang="pl-PL" sz="2400" dirty="0"/>
              <a:t> </a:t>
            </a:r>
            <a:r>
              <a:rPr lang="pl-PL" sz="2400" dirty="0" err="1"/>
              <a:t>their</a:t>
            </a:r>
            <a:r>
              <a:rPr lang="pl-PL" sz="2400" dirty="0"/>
              <a:t> </a:t>
            </a:r>
            <a:r>
              <a:rPr lang="pl-PL" sz="2400" dirty="0" err="1"/>
              <a:t>properties</a:t>
            </a:r>
            <a:r>
              <a:rPr lang="pl-PL" sz="2400" dirty="0"/>
              <a:t> </a:t>
            </a:r>
            <a:r>
              <a:rPr lang="pl-PL" sz="2400" dirty="0" err="1"/>
              <a:t>are</a:t>
            </a:r>
            <a:r>
              <a:rPr lang="pl-PL" sz="2400" dirty="0"/>
              <a:t> </a:t>
            </a:r>
            <a:r>
              <a:rPr lang="pl-PL" sz="2400" dirty="0" err="1"/>
              <a:t>that</a:t>
            </a:r>
            <a:r>
              <a:rPr lang="pl-PL" sz="2400" dirty="0"/>
              <a:t> </a:t>
            </a:r>
            <a:r>
              <a:rPr lang="pl-PL" sz="2400" dirty="0" err="1"/>
              <a:t>support</a:t>
            </a:r>
            <a:r>
              <a:rPr lang="pl-PL" sz="2400" dirty="0"/>
              <a:t> </a:t>
            </a:r>
            <a:r>
              <a:rPr lang="pl-PL" sz="2400" dirty="0" err="1"/>
              <a:t>our</a:t>
            </a:r>
            <a:r>
              <a:rPr lang="pl-PL" sz="2400" dirty="0"/>
              <a:t> system </a:t>
            </a:r>
            <a:r>
              <a:rPr lang="pl-PL" sz="2400" dirty="0" err="1"/>
              <a:t>reasoning</a:t>
            </a:r>
            <a:r>
              <a:rPr lang="pl-PL" sz="2400" dirty="0"/>
              <a:t>, and </a:t>
            </a:r>
            <a:r>
              <a:rPr lang="pl-PL" sz="2400" dirty="0" err="1"/>
              <a:t>so</a:t>
            </a:r>
            <a:r>
              <a:rPr lang="pl-PL" sz="2400" dirty="0"/>
              <a:t> </a:t>
            </a:r>
            <a:r>
              <a:rPr lang="pl-PL" sz="2400" dirty="0" err="1"/>
              <a:t>forth</a:t>
            </a:r>
            <a:r>
              <a:rPr lang="pl-PL" sz="2400" dirty="0"/>
              <a:t>. </a:t>
            </a:r>
          </a:p>
          <a:p>
            <a:r>
              <a:rPr lang="pl-PL" sz="2400" dirty="0" err="1"/>
              <a:t>This</a:t>
            </a:r>
            <a:r>
              <a:rPr lang="pl-PL" sz="2400" dirty="0"/>
              <a:t> </a:t>
            </a:r>
            <a:r>
              <a:rPr lang="pl-PL" sz="2400" dirty="0" err="1"/>
              <a:t>abstraction</a:t>
            </a:r>
            <a:r>
              <a:rPr lang="pl-PL" sz="2400" dirty="0"/>
              <a:t> </a:t>
            </a:r>
            <a:r>
              <a:rPr lang="pl-PL" sz="2400" dirty="0" err="1"/>
              <a:t>is</a:t>
            </a:r>
            <a:r>
              <a:rPr lang="pl-PL" sz="2400" dirty="0"/>
              <a:t> </a:t>
            </a:r>
            <a:r>
              <a:rPr lang="pl-PL" sz="2400" dirty="0" err="1"/>
              <a:t>essential</a:t>
            </a:r>
            <a:r>
              <a:rPr lang="pl-PL" sz="2400" dirty="0"/>
              <a:t> to </a:t>
            </a:r>
            <a:r>
              <a:rPr lang="pl-PL" sz="2400" dirty="0" err="1"/>
              <a:t>taming</a:t>
            </a:r>
            <a:r>
              <a:rPr lang="pl-PL" sz="2400" dirty="0"/>
              <a:t> the </a:t>
            </a:r>
            <a:r>
              <a:rPr lang="pl-PL" sz="2400" dirty="0" err="1"/>
              <a:t>complexity</a:t>
            </a:r>
            <a:r>
              <a:rPr lang="pl-PL" sz="2400" dirty="0"/>
              <a:t> of </a:t>
            </a:r>
            <a:r>
              <a:rPr lang="pl-PL" sz="2400" dirty="0" err="1"/>
              <a:t>an</a:t>
            </a:r>
            <a:r>
              <a:rPr lang="pl-PL" sz="2400" dirty="0"/>
              <a:t> </a:t>
            </a:r>
            <a:r>
              <a:rPr lang="pl-PL" sz="2400" dirty="0" err="1"/>
              <a:t>architecture</a:t>
            </a:r>
            <a:r>
              <a:rPr lang="pl-PL" sz="2400" dirty="0"/>
              <a:t>.</a:t>
            </a:r>
          </a:p>
          <a:p>
            <a:r>
              <a:rPr lang="pl-PL" sz="2400" dirty="0"/>
              <a:t>We </a:t>
            </a:r>
            <a:r>
              <a:rPr lang="pl-PL" sz="2400" dirty="0" err="1"/>
              <a:t>simply</a:t>
            </a:r>
            <a:r>
              <a:rPr lang="pl-PL" sz="2400" dirty="0"/>
              <a:t> </a:t>
            </a:r>
            <a:r>
              <a:rPr lang="pl-PL" sz="2400" dirty="0" err="1"/>
              <a:t>cannot</a:t>
            </a:r>
            <a:r>
              <a:rPr lang="pl-PL" sz="2400" dirty="0"/>
              <a:t>, and do not want to, </a:t>
            </a:r>
            <a:r>
              <a:rPr lang="pl-PL" sz="2400" dirty="0" err="1"/>
              <a:t>deal</a:t>
            </a:r>
            <a:r>
              <a:rPr lang="pl-PL" sz="2400" dirty="0"/>
              <a:t> with </a:t>
            </a:r>
            <a:r>
              <a:rPr lang="pl-PL" sz="2400" dirty="0" err="1"/>
              <a:t>all</a:t>
            </a:r>
            <a:r>
              <a:rPr lang="pl-PL" sz="2400" dirty="0"/>
              <a:t> of the </a:t>
            </a:r>
            <a:r>
              <a:rPr lang="pl-PL" sz="2400" dirty="0" err="1"/>
              <a:t>complexity</a:t>
            </a:r>
            <a:r>
              <a:rPr lang="pl-PL" sz="2400" dirty="0"/>
              <a:t> </a:t>
            </a:r>
            <a:r>
              <a:rPr lang="pl-PL" sz="2400" dirty="0" err="1"/>
              <a:t>all</a:t>
            </a:r>
            <a:r>
              <a:rPr lang="pl-PL" sz="2400" dirty="0"/>
              <a:t> of the </a:t>
            </a:r>
            <a:r>
              <a:rPr lang="pl-PL" sz="2400" dirty="0" err="1"/>
              <a:t>time</a:t>
            </a:r>
            <a:r>
              <a:rPr lang="pl-PL" sz="2400" dirty="0"/>
              <a:t>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180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Includes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The behavior of each element is part of the architecture insofar as that behavior can be used to reason about the system. </a:t>
            </a:r>
          </a:p>
          <a:p>
            <a:r>
              <a:rPr lang="en-US" dirty="0"/>
              <a:t>This behavior embodies how elements interact with each other, which is clearly part of the definition of architecture.</a:t>
            </a:r>
          </a:p>
          <a:p>
            <a:r>
              <a:rPr lang="en-US" dirty="0"/>
              <a:t>Box-and-line drawings that are passed off as architectures are not architectures at all. </a:t>
            </a:r>
          </a:p>
          <a:p>
            <a:pPr lvl="1"/>
            <a:r>
              <a:rPr lang="en-US" dirty="0"/>
              <a:t>When looking at the names of the a reader may well imagine the functionality and behavior of the corresponding elements. </a:t>
            </a:r>
          </a:p>
          <a:p>
            <a:pPr lvl="1"/>
            <a:r>
              <a:rPr lang="en-US" dirty="0"/>
              <a:t>But it relies on information that is not present – and could be wrong!</a:t>
            </a:r>
          </a:p>
          <a:p>
            <a:r>
              <a:rPr lang="en-US" dirty="0"/>
              <a:t>This does not mean that the exact behavior and performance of every element must be documented in all circumstances.</a:t>
            </a:r>
          </a:p>
          <a:p>
            <a:pPr lvl="1"/>
            <a:r>
              <a:rPr lang="en-US" dirty="0"/>
              <a:t>Some aspects of behavior are fine-grained and below the </a:t>
            </a:r>
            <a:r>
              <a:rPr lang="pl-PL" dirty="0" err="1"/>
              <a:t>architect’s</a:t>
            </a:r>
            <a:r>
              <a:rPr lang="pl-PL" dirty="0"/>
              <a:t> </a:t>
            </a:r>
            <a:r>
              <a:rPr lang="pl-PL" dirty="0" err="1"/>
              <a:t>level</a:t>
            </a:r>
            <a:r>
              <a:rPr lang="pl-PL" dirty="0"/>
              <a:t> of </a:t>
            </a:r>
            <a:r>
              <a:rPr lang="pl-PL" dirty="0" err="1"/>
              <a:t>concern</a:t>
            </a:r>
            <a:r>
              <a:rPr lang="pl-PL" dirty="0"/>
              <a:t>. </a:t>
            </a:r>
          </a:p>
          <a:p>
            <a:r>
              <a:rPr lang="pl-PL" dirty="0"/>
              <a:t>To the </a:t>
            </a:r>
            <a:r>
              <a:rPr lang="pl-PL" dirty="0" err="1"/>
              <a:t>extent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pl-PL" dirty="0"/>
              <a:t> </a:t>
            </a:r>
            <a:r>
              <a:rPr lang="pl-PL" dirty="0" err="1"/>
              <a:t>element’s</a:t>
            </a:r>
            <a:r>
              <a:rPr lang="pl-PL" dirty="0"/>
              <a:t> </a:t>
            </a:r>
            <a:r>
              <a:rPr lang="pl-PL" dirty="0" err="1"/>
              <a:t>behavior</a:t>
            </a:r>
            <a:r>
              <a:rPr lang="pl-PL" dirty="0"/>
              <a:t> </a:t>
            </a:r>
            <a:r>
              <a:rPr lang="pl-PL" dirty="0" err="1"/>
              <a:t>influences</a:t>
            </a:r>
            <a:r>
              <a:rPr lang="pl-PL" dirty="0"/>
              <a:t> </a:t>
            </a:r>
            <a:r>
              <a:rPr lang="pl-PL" dirty="0" err="1"/>
              <a:t>another</a:t>
            </a:r>
            <a:r>
              <a:rPr lang="pl-PL" dirty="0"/>
              <a:t> element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influences</a:t>
            </a:r>
            <a:r>
              <a:rPr lang="pl-PL" dirty="0"/>
              <a:t> the </a:t>
            </a:r>
            <a:r>
              <a:rPr lang="pl-PL" dirty="0" err="1"/>
              <a:t>acceptability</a:t>
            </a:r>
            <a:r>
              <a:rPr lang="pl-PL" dirty="0"/>
              <a:t> of the system as a </a:t>
            </a:r>
            <a:r>
              <a:rPr lang="pl-PL" dirty="0" err="1"/>
              <a:t>whole</a:t>
            </a:r>
            <a:r>
              <a:rPr lang="pl-PL" dirty="0"/>
              <a:t>,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behavior</a:t>
            </a:r>
            <a:r>
              <a:rPr lang="pl-PL" dirty="0"/>
              <a:t> </a:t>
            </a:r>
            <a:r>
              <a:rPr lang="pl-PL" dirty="0" err="1"/>
              <a:t>must</a:t>
            </a:r>
            <a:r>
              <a:rPr lang="pl-PL" dirty="0"/>
              <a:t> be </a:t>
            </a:r>
            <a:r>
              <a:rPr lang="pl-PL" dirty="0" err="1"/>
              <a:t>considered</a:t>
            </a:r>
            <a:r>
              <a:rPr lang="pl-PL" dirty="0"/>
              <a:t>, and </a:t>
            </a:r>
            <a:r>
              <a:rPr lang="pl-PL" dirty="0" err="1"/>
              <a:t>should</a:t>
            </a:r>
            <a:r>
              <a:rPr lang="pl-PL" dirty="0"/>
              <a:t> be </a:t>
            </a:r>
            <a:r>
              <a:rPr lang="pl-PL" dirty="0" err="1"/>
              <a:t>documented</a:t>
            </a:r>
            <a:r>
              <a:rPr lang="pl-PL" dirty="0"/>
              <a:t>, as part of the software </a:t>
            </a:r>
            <a:r>
              <a:rPr lang="pl-PL" dirty="0" err="1"/>
              <a:t>architecture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5152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and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view</a:t>
            </a:r>
            <a:r>
              <a:rPr lang="en-US" dirty="0"/>
              <a:t> is a representation of a coherent set of architectural elements, as written by and read by system stakeholders. </a:t>
            </a:r>
          </a:p>
          <a:p>
            <a:pPr lvl="1"/>
            <a:r>
              <a:rPr lang="en-US" dirty="0"/>
              <a:t>A view consists of a representation of a set of elements and the relations among them.</a:t>
            </a:r>
          </a:p>
          <a:p>
            <a:r>
              <a:rPr lang="en-US" dirty="0"/>
              <a:t>A </a:t>
            </a:r>
            <a:r>
              <a:rPr lang="en-US" i="1" dirty="0"/>
              <a:t>structure</a:t>
            </a:r>
            <a:r>
              <a:rPr lang="en-US" dirty="0"/>
              <a:t> is the set of elements itself, as they exist in software or hardware.</a:t>
            </a:r>
          </a:p>
          <a:p>
            <a:r>
              <a:rPr lang="en-US" dirty="0"/>
              <a:t>In short, a view is a representation of a structure. </a:t>
            </a:r>
          </a:p>
          <a:p>
            <a:pPr lvl="1"/>
            <a:r>
              <a:rPr lang="en-US" dirty="0"/>
              <a:t>For example, a module </a:t>
            </a:r>
            <a:r>
              <a:rPr lang="en-US" i="1" dirty="0"/>
              <a:t>structure</a:t>
            </a:r>
            <a:r>
              <a:rPr lang="en-US" dirty="0"/>
              <a:t> is the set of the system’s modules and their organization. </a:t>
            </a:r>
          </a:p>
          <a:p>
            <a:pPr lvl="1"/>
            <a:r>
              <a:rPr lang="en-US" dirty="0"/>
              <a:t>A module </a:t>
            </a:r>
            <a:r>
              <a:rPr lang="en-US" i="1" dirty="0"/>
              <a:t>view</a:t>
            </a:r>
            <a:r>
              <a:rPr lang="en-US" dirty="0"/>
              <a:t> is the representation of that structure, documented according to a template in a chosen notation, and used by some system stakeholders.</a:t>
            </a:r>
          </a:p>
          <a:p>
            <a:r>
              <a:rPr lang="en-US" dirty="0"/>
              <a:t>Architects design structures. They document views of those structures.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7166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Module structures embody decisions as to how the system is to be structured as a set of code or data units that have to be constructed or procured. </a:t>
            </a:r>
          </a:p>
          <a:p>
            <a:r>
              <a:rPr lang="en-US" dirty="0"/>
              <a:t>In any module structure, the elements are modules of some kind (perhaps classes, or layers, or merely divisions of functionality, all of which are units of implementation). </a:t>
            </a:r>
          </a:p>
          <a:p>
            <a:r>
              <a:rPr lang="en-US" dirty="0"/>
              <a:t>Modules are assigned areas of functional responsibility; there is less emphasis in these structures on how the software manifests at runtime. </a:t>
            </a:r>
          </a:p>
          <a:p>
            <a:r>
              <a:rPr lang="en-US" dirty="0"/>
              <a:t>Module structures allow us to answer questions such as these:</a:t>
            </a:r>
          </a:p>
          <a:p>
            <a:pPr lvl="1"/>
            <a:r>
              <a:rPr lang="en-US" dirty="0"/>
              <a:t>What is the primary functional responsibility assigned to each module?</a:t>
            </a:r>
          </a:p>
          <a:p>
            <a:pPr lvl="1"/>
            <a:r>
              <a:rPr lang="en-US" dirty="0"/>
              <a:t>What other software elements is a module allowed to use?</a:t>
            </a:r>
          </a:p>
          <a:p>
            <a:pPr lvl="1"/>
            <a:r>
              <a:rPr lang="en-US" dirty="0"/>
              <a:t>What other software does it actually use and depend on?</a:t>
            </a:r>
          </a:p>
          <a:p>
            <a:pPr lvl="1"/>
            <a:r>
              <a:rPr lang="en-US" dirty="0"/>
              <a:t>What modules are related to other modules by generalization or specialization (i.e., inheritance) relationships?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4075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Component-and-connector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Component-and-connector structures embody decisions as to how the system is to be structured as a set of elements that have runtime behavior (components) and interactions (connectors). </a:t>
            </a:r>
          </a:p>
          <a:p>
            <a:r>
              <a:rPr lang="pl-PL" sz="2000" dirty="0" err="1"/>
              <a:t>Elements</a:t>
            </a:r>
            <a:r>
              <a:rPr lang="pl-PL" sz="2000" dirty="0"/>
              <a:t> </a:t>
            </a:r>
            <a:r>
              <a:rPr lang="pl-PL" sz="2000" dirty="0" err="1"/>
              <a:t>are</a:t>
            </a:r>
            <a:r>
              <a:rPr lang="pl-PL" sz="2000" dirty="0"/>
              <a:t> </a:t>
            </a:r>
            <a:r>
              <a:rPr lang="pl-PL" sz="2000" dirty="0" err="1"/>
              <a:t>runtime</a:t>
            </a:r>
            <a:r>
              <a:rPr lang="pl-PL" sz="2000" dirty="0"/>
              <a:t> </a:t>
            </a:r>
            <a:r>
              <a:rPr lang="pl-PL" sz="2000" dirty="0" err="1"/>
              <a:t>comopnents</a:t>
            </a:r>
            <a:r>
              <a:rPr lang="pl-PL" sz="2000" dirty="0"/>
              <a:t> </a:t>
            </a:r>
            <a:r>
              <a:rPr lang="pl-PL" sz="2000" dirty="0" err="1"/>
              <a:t>such</a:t>
            </a:r>
            <a:r>
              <a:rPr lang="pl-PL" sz="2000" dirty="0"/>
              <a:t> as services, </a:t>
            </a:r>
            <a:r>
              <a:rPr lang="pl-PL" sz="2000" dirty="0" err="1"/>
              <a:t>peers</a:t>
            </a:r>
            <a:r>
              <a:rPr lang="pl-PL" sz="2000" dirty="0"/>
              <a:t>, </a:t>
            </a:r>
            <a:r>
              <a:rPr lang="pl-PL" sz="2000" dirty="0" err="1"/>
              <a:t>clients</a:t>
            </a:r>
            <a:r>
              <a:rPr lang="pl-PL" sz="2000" dirty="0"/>
              <a:t>, </a:t>
            </a:r>
            <a:r>
              <a:rPr lang="pl-PL" sz="2000" dirty="0" err="1"/>
              <a:t>servers</a:t>
            </a:r>
            <a:r>
              <a:rPr lang="pl-PL" sz="2000" dirty="0"/>
              <a:t>, </a:t>
            </a:r>
            <a:r>
              <a:rPr lang="pl-PL" sz="2000" dirty="0" err="1"/>
              <a:t>filters</a:t>
            </a:r>
            <a:r>
              <a:rPr lang="pl-PL" sz="2000" dirty="0"/>
              <a:t>, </a:t>
            </a:r>
            <a:r>
              <a:rPr lang="pl-PL" sz="2000" dirty="0" err="1"/>
              <a:t>or</a:t>
            </a:r>
            <a:r>
              <a:rPr lang="pl-PL" sz="2000" dirty="0"/>
              <a:t> </a:t>
            </a:r>
            <a:r>
              <a:rPr lang="pl-PL" sz="2000" dirty="0" err="1"/>
              <a:t>many</a:t>
            </a:r>
            <a:r>
              <a:rPr lang="pl-PL" sz="2000" dirty="0"/>
              <a:t> </a:t>
            </a:r>
            <a:r>
              <a:rPr lang="pl-PL" sz="2000" dirty="0" err="1"/>
              <a:t>other</a:t>
            </a:r>
            <a:r>
              <a:rPr lang="pl-PL" sz="2000" dirty="0"/>
              <a:t> </a:t>
            </a:r>
            <a:r>
              <a:rPr lang="pl-PL" sz="2000" dirty="0" err="1"/>
              <a:t>types</a:t>
            </a:r>
            <a:r>
              <a:rPr lang="pl-PL" sz="2000" dirty="0"/>
              <a:t> of </a:t>
            </a:r>
            <a:r>
              <a:rPr lang="pl-PL" sz="2000" dirty="0" err="1"/>
              <a:t>runtime</a:t>
            </a:r>
            <a:r>
              <a:rPr lang="pl-PL" sz="2000" dirty="0"/>
              <a:t> element) </a:t>
            </a:r>
          </a:p>
          <a:p>
            <a:r>
              <a:rPr lang="pl-PL" sz="2000" dirty="0" err="1"/>
              <a:t>Connectors</a:t>
            </a:r>
            <a:r>
              <a:rPr lang="pl-PL" sz="2000" dirty="0"/>
              <a:t> </a:t>
            </a:r>
            <a:r>
              <a:rPr lang="pl-PL" sz="2000" dirty="0" err="1"/>
              <a:t>are</a:t>
            </a:r>
            <a:r>
              <a:rPr lang="pl-PL" sz="2000" dirty="0"/>
              <a:t> the </a:t>
            </a:r>
            <a:r>
              <a:rPr lang="pl-PL" sz="2000" dirty="0" err="1"/>
              <a:t>communication</a:t>
            </a:r>
            <a:r>
              <a:rPr lang="pl-PL" sz="2000" dirty="0"/>
              <a:t> </a:t>
            </a:r>
            <a:r>
              <a:rPr lang="pl-PL" sz="2000" dirty="0" err="1"/>
              <a:t>vehicles</a:t>
            </a:r>
            <a:r>
              <a:rPr lang="pl-PL" sz="2000" dirty="0"/>
              <a:t> </a:t>
            </a:r>
            <a:r>
              <a:rPr lang="pl-PL" sz="2000" dirty="0" err="1"/>
              <a:t>among</a:t>
            </a:r>
            <a:r>
              <a:rPr lang="pl-PL" sz="2000" dirty="0"/>
              <a:t> </a:t>
            </a:r>
            <a:r>
              <a:rPr lang="pl-PL" sz="2000" dirty="0" err="1"/>
              <a:t>components</a:t>
            </a:r>
            <a:r>
              <a:rPr lang="pl-PL" sz="2000" dirty="0"/>
              <a:t>, </a:t>
            </a:r>
            <a:r>
              <a:rPr lang="pl-PL" sz="2000" dirty="0" err="1"/>
              <a:t>such</a:t>
            </a:r>
            <a:r>
              <a:rPr lang="pl-PL" sz="2000" dirty="0"/>
              <a:t> as </a:t>
            </a:r>
            <a:r>
              <a:rPr lang="pl-PL" sz="2000" dirty="0" err="1"/>
              <a:t>call</a:t>
            </a:r>
            <a:r>
              <a:rPr lang="pl-PL" sz="2000" dirty="0"/>
              <a:t>-return, </a:t>
            </a:r>
            <a:r>
              <a:rPr lang="pl-PL" sz="2000" dirty="0" err="1"/>
              <a:t>process</a:t>
            </a:r>
            <a:r>
              <a:rPr lang="pl-PL" sz="2000" dirty="0"/>
              <a:t> </a:t>
            </a:r>
            <a:r>
              <a:rPr lang="pl-PL" sz="2000" dirty="0" err="1"/>
              <a:t>synchronization</a:t>
            </a:r>
            <a:r>
              <a:rPr lang="pl-PL" sz="2000" dirty="0"/>
              <a:t> </a:t>
            </a:r>
            <a:r>
              <a:rPr lang="pl-PL" sz="2000" dirty="0" err="1"/>
              <a:t>operators</a:t>
            </a:r>
            <a:r>
              <a:rPr lang="pl-PL" sz="2000" dirty="0"/>
              <a:t>, </a:t>
            </a:r>
            <a:r>
              <a:rPr lang="pl-PL" sz="2000" dirty="0" err="1"/>
              <a:t>pipes</a:t>
            </a:r>
            <a:r>
              <a:rPr lang="pl-PL" sz="2000" dirty="0"/>
              <a:t>, </a:t>
            </a:r>
            <a:r>
              <a:rPr lang="pl-PL" sz="2000" dirty="0" err="1"/>
              <a:t>or</a:t>
            </a:r>
            <a:r>
              <a:rPr lang="pl-PL" sz="2000" dirty="0"/>
              <a:t> </a:t>
            </a:r>
            <a:r>
              <a:rPr lang="pl-PL" sz="2000" dirty="0" err="1"/>
              <a:t>others</a:t>
            </a:r>
            <a:r>
              <a:rPr lang="pl-PL" sz="2000" dirty="0"/>
              <a:t>. </a:t>
            </a:r>
          </a:p>
          <a:p>
            <a:r>
              <a:rPr lang="pl-PL" sz="2000" dirty="0"/>
              <a:t>Component-and-</a:t>
            </a:r>
            <a:r>
              <a:rPr lang="pl-PL" sz="2000" dirty="0" err="1"/>
              <a:t>connector</a:t>
            </a:r>
            <a:r>
              <a:rPr lang="pl-PL" sz="2000" dirty="0"/>
              <a:t> </a:t>
            </a:r>
            <a:r>
              <a:rPr lang="pl-PL" sz="2000" dirty="0" err="1"/>
              <a:t>views</a:t>
            </a:r>
            <a:r>
              <a:rPr lang="pl-PL" sz="2000" dirty="0"/>
              <a:t> </a:t>
            </a:r>
            <a:r>
              <a:rPr lang="pl-PL" sz="2000" dirty="0" err="1"/>
              <a:t>help</a:t>
            </a:r>
            <a:r>
              <a:rPr lang="pl-PL" sz="2000" dirty="0"/>
              <a:t> </a:t>
            </a:r>
            <a:r>
              <a:rPr lang="pl-PL" sz="2000" dirty="0" err="1"/>
              <a:t>us</a:t>
            </a:r>
            <a:r>
              <a:rPr lang="pl-PL" sz="2000" dirty="0"/>
              <a:t> </a:t>
            </a:r>
            <a:r>
              <a:rPr lang="pl-PL" sz="2000" dirty="0" err="1"/>
              <a:t>answer</a:t>
            </a:r>
            <a:r>
              <a:rPr lang="pl-PL" sz="2000" dirty="0"/>
              <a:t> </a:t>
            </a:r>
            <a:r>
              <a:rPr lang="pl-PL" sz="2000" dirty="0" err="1"/>
              <a:t>questions</a:t>
            </a:r>
            <a:r>
              <a:rPr lang="pl-PL" sz="2000" dirty="0"/>
              <a:t> </a:t>
            </a:r>
            <a:r>
              <a:rPr lang="pl-PL" sz="2000" dirty="0" err="1"/>
              <a:t>such</a:t>
            </a:r>
            <a:r>
              <a:rPr lang="pl-PL" sz="2000" dirty="0"/>
              <a:t> as </a:t>
            </a:r>
            <a:r>
              <a:rPr lang="pl-PL" sz="2000" dirty="0" err="1"/>
              <a:t>these</a:t>
            </a:r>
            <a:r>
              <a:rPr lang="pl-PL" sz="2000" dirty="0"/>
              <a:t>:</a:t>
            </a:r>
          </a:p>
          <a:p>
            <a:pPr lvl="1"/>
            <a:r>
              <a:rPr lang="pl-PL" sz="1600" dirty="0" err="1"/>
              <a:t>What</a:t>
            </a:r>
            <a:r>
              <a:rPr lang="pl-PL" sz="1600" dirty="0"/>
              <a:t> </a:t>
            </a:r>
            <a:r>
              <a:rPr lang="pl-PL" sz="1600" dirty="0" err="1"/>
              <a:t>are</a:t>
            </a:r>
            <a:r>
              <a:rPr lang="pl-PL" sz="1600" dirty="0"/>
              <a:t> the major </a:t>
            </a:r>
            <a:r>
              <a:rPr lang="pl-PL" sz="1600" dirty="0" err="1"/>
              <a:t>executing</a:t>
            </a:r>
            <a:r>
              <a:rPr lang="pl-PL" sz="1600" dirty="0"/>
              <a:t> </a:t>
            </a:r>
            <a:r>
              <a:rPr lang="pl-PL" sz="1600" dirty="0" err="1"/>
              <a:t>components</a:t>
            </a:r>
            <a:r>
              <a:rPr lang="pl-PL" sz="1600" dirty="0"/>
              <a:t> and </a:t>
            </a:r>
            <a:r>
              <a:rPr lang="pl-PL" sz="1600" dirty="0" err="1"/>
              <a:t>how</a:t>
            </a:r>
            <a:r>
              <a:rPr lang="pl-PL" sz="1600" dirty="0"/>
              <a:t> do </a:t>
            </a:r>
            <a:r>
              <a:rPr lang="pl-PL" sz="1600" dirty="0" err="1"/>
              <a:t>they</a:t>
            </a:r>
            <a:r>
              <a:rPr lang="pl-PL" sz="1600" dirty="0"/>
              <a:t> </a:t>
            </a:r>
            <a:r>
              <a:rPr lang="pl-PL" sz="1600" dirty="0" err="1"/>
              <a:t>interact</a:t>
            </a:r>
            <a:r>
              <a:rPr lang="pl-PL" sz="1600" dirty="0"/>
              <a:t> </a:t>
            </a:r>
            <a:r>
              <a:rPr lang="pl-PL" sz="1600" dirty="0" err="1"/>
              <a:t>at</a:t>
            </a:r>
            <a:r>
              <a:rPr lang="pl-PL" sz="1600" dirty="0"/>
              <a:t> </a:t>
            </a:r>
            <a:r>
              <a:rPr lang="pl-PL" sz="1600" dirty="0" err="1"/>
              <a:t>runtime</a:t>
            </a:r>
            <a:r>
              <a:rPr lang="pl-PL" sz="1600" dirty="0"/>
              <a:t>?</a:t>
            </a:r>
          </a:p>
          <a:p>
            <a:pPr lvl="1"/>
            <a:r>
              <a:rPr lang="pl-PL" sz="1600" dirty="0" err="1"/>
              <a:t>What</a:t>
            </a:r>
            <a:r>
              <a:rPr lang="pl-PL" sz="1600" dirty="0"/>
              <a:t> </a:t>
            </a:r>
            <a:r>
              <a:rPr lang="pl-PL" sz="1600" dirty="0" err="1"/>
              <a:t>are</a:t>
            </a:r>
            <a:r>
              <a:rPr lang="pl-PL" sz="1600" dirty="0"/>
              <a:t> the major </a:t>
            </a:r>
            <a:r>
              <a:rPr lang="pl-PL" sz="1600" dirty="0" err="1"/>
              <a:t>shared</a:t>
            </a:r>
            <a:r>
              <a:rPr lang="pl-PL" sz="1600" dirty="0"/>
              <a:t> data stores?</a:t>
            </a:r>
          </a:p>
          <a:p>
            <a:pPr lvl="1"/>
            <a:r>
              <a:rPr lang="pl-PL" sz="1600" dirty="0" err="1"/>
              <a:t>Which</a:t>
            </a:r>
            <a:r>
              <a:rPr lang="pl-PL" sz="1600" dirty="0"/>
              <a:t> </a:t>
            </a:r>
            <a:r>
              <a:rPr lang="pl-PL" sz="1600" dirty="0" err="1"/>
              <a:t>parts</a:t>
            </a:r>
            <a:r>
              <a:rPr lang="pl-PL" sz="1600" dirty="0"/>
              <a:t> of the system </a:t>
            </a:r>
            <a:r>
              <a:rPr lang="pl-PL" sz="1600" dirty="0" err="1"/>
              <a:t>are</a:t>
            </a:r>
            <a:r>
              <a:rPr lang="pl-PL" sz="1600" dirty="0"/>
              <a:t> </a:t>
            </a:r>
            <a:r>
              <a:rPr lang="pl-PL" sz="1600" dirty="0" err="1"/>
              <a:t>replicated</a:t>
            </a:r>
            <a:r>
              <a:rPr lang="pl-PL" sz="1600" dirty="0"/>
              <a:t>?</a:t>
            </a:r>
          </a:p>
          <a:p>
            <a:pPr lvl="1"/>
            <a:r>
              <a:rPr lang="pl-PL" sz="1600" dirty="0"/>
              <a:t>How </a:t>
            </a:r>
            <a:r>
              <a:rPr lang="pl-PL" sz="1600" dirty="0" err="1"/>
              <a:t>does</a:t>
            </a:r>
            <a:r>
              <a:rPr lang="pl-PL" sz="1600" dirty="0"/>
              <a:t> data </a:t>
            </a:r>
            <a:r>
              <a:rPr lang="pl-PL" sz="1600" dirty="0" err="1"/>
              <a:t>progress</a:t>
            </a:r>
            <a:r>
              <a:rPr lang="pl-PL" sz="1600" dirty="0"/>
              <a:t> </a:t>
            </a:r>
            <a:r>
              <a:rPr lang="pl-PL" sz="1600" dirty="0" err="1"/>
              <a:t>through</a:t>
            </a:r>
            <a:r>
              <a:rPr lang="pl-PL" sz="1600" dirty="0"/>
              <a:t> the system?</a:t>
            </a:r>
          </a:p>
          <a:p>
            <a:pPr lvl="1"/>
            <a:r>
              <a:rPr lang="pl-PL" sz="1600" dirty="0" err="1"/>
              <a:t>What</a:t>
            </a:r>
            <a:r>
              <a:rPr lang="pl-PL" sz="1600" dirty="0"/>
              <a:t> </a:t>
            </a:r>
            <a:r>
              <a:rPr lang="pl-PL" sz="1600" dirty="0" err="1"/>
              <a:t>parts</a:t>
            </a:r>
            <a:r>
              <a:rPr lang="pl-PL" sz="1600" dirty="0"/>
              <a:t> of the system </a:t>
            </a:r>
            <a:r>
              <a:rPr lang="pl-PL" sz="1600" dirty="0" err="1"/>
              <a:t>can</a:t>
            </a:r>
            <a:r>
              <a:rPr lang="pl-PL" sz="1600" dirty="0"/>
              <a:t> run in </a:t>
            </a:r>
            <a:r>
              <a:rPr lang="pl-PL" sz="1600" dirty="0" err="1"/>
              <a:t>parallel</a:t>
            </a:r>
            <a:r>
              <a:rPr lang="pl-PL" sz="1600" dirty="0"/>
              <a:t>?</a:t>
            </a:r>
          </a:p>
          <a:p>
            <a:pPr lvl="1"/>
            <a:r>
              <a:rPr lang="pl-PL" sz="1600" dirty="0" err="1"/>
              <a:t>Can</a:t>
            </a:r>
            <a:r>
              <a:rPr lang="pl-PL" sz="1600" dirty="0"/>
              <a:t> the </a:t>
            </a:r>
            <a:r>
              <a:rPr lang="pl-PL" sz="1600" dirty="0" err="1"/>
              <a:t>system’s</a:t>
            </a:r>
            <a:r>
              <a:rPr lang="pl-PL" sz="1600" dirty="0"/>
              <a:t> </a:t>
            </a:r>
            <a:r>
              <a:rPr lang="pl-PL" sz="1600" dirty="0" err="1"/>
              <a:t>structure</a:t>
            </a:r>
            <a:r>
              <a:rPr lang="pl-PL" sz="1600" dirty="0"/>
              <a:t> </a:t>
            </a:r>
            <a:r>
              <a:rPr lang="pl-PL" sz="1600" dirty="0" err="1"/>
              <a:t>change</a:t>
            </a:r>
            <a:r>
              <a:rPr lang="pl-PL" sz="1600" dirty="0"/>
              <a:t> as </a:t>
            </a:r>
            <a:r>
              <a:rPr lang="pl-PL" sz="1600" dirty="0" err="1"/>
              <a:t>it</a:t>
            </a:r>
            <a:r>
              <a:rPr lang="pl-PL" sz="1600" dirty="0"/>
              <a:t> </a:t>
            </a:r>
            <a:r>
              <a:rPr lang="pl-PL" sz="1600" dirty="0" err="1"/>
              <a:t>executes</a:t>
            </a:r>
            <a:r>
              <a:rPr lang="pl-PL" sz="1600" dirty="0"/>
              <a:t> and, </a:t>
            </a:r>
            <a:r>
              <a:rPr lang="pl-PL" sz="1600" dirty="0" err="1"/>
              <a:t>if</a:t>
            </a:r>
            <a:r>
              <a:rPr lang="pl-PL" sz="1600" dirty="0"/>
              <a:t> </a:t>
            </a:r>
            <a:r>
              <a:rPr lang="pl-PL" sz="1600" dirty="0" err="1"/>
              <a:t>so</a:t>
            </a:r>
            <a:r>
              <a:rPr lang="pl-PL" sz="1600" dirty="0"/>
              <a:t>, </a:t>
            </a:r>
            <a:r>
              <a:rPr lang="pl-PL" sz="1600" dirty="0" err="1"/>
              <a:t>how</a:t>
            </a:r>
            <a:r>
              <a:rPr lang="pl-PL" sz="1600" dirty="0"/>
              <a:t>?</a:t>
            </a:r>
          </a:p>
          <a:p>
            <a:r>
              <a:rPr lang="pl-PL" sz="2000" dirty="0"/>
              <a:t>Component-and-</a:t>
            </a:r>
            <a:r>
              <a:rPr lang="pl-PL" sz="2000" dirty="0" err="1"/>
              <a:t>connector</a:t>
            </a:r>
            <a:r>
              <a:rPr lang="pl-PL" sz="2000" dirty="0"/>
              <a:t> </a:t>
            </a:r>
            <a:r>
              <a:rPr lang="pl-PL" sz="2000" dirty="0" err="1"/>
              <a:t>views</a:t>
            </a:r>
            <a:r>
              <a:rPr lang="pl-PL" sz="2000" dirty="0"/>
              <a:t> </a:t>
            </a:r>
            <a:r>
              <a:rPr lang="pl-PL" sz="2000" dirty="0" err="1"/>
              <a:t>are</a:t>
            </a:r>
            <a:r>
              <a:rPr lang="pl-PL" sz="2000" dirty="0"/>
              <a:t> </a:t>
            </a:r>
            <a:r>
              <a:rPr lang="pl-PL" sz="2000" dirty="0" err="1"/>
              <a:t>crucially</a:t>
            </a:r>
            <a:r>
              <a:rPr lang="pl-PL" sz="2000" dirty="0"/>
              <a:t> </a:t>
            </a:r>
            <a:r>
              <a:rPr lang="pl-PL" sz="2000" dirty="0" err="1"/>
              <a:t>important</a:t>
            </a:r>
            <a:r>
              <a:rPr lang="pl-PL" sz="2000" dirty="0"/>
              <a:t> for </a:t>
            </a:r>
            <a:r>
              <a:rPr lang="pl-PL" sz="2000" dirty="0" err="1"/>
              <a:t>asking</a:t>
            </a:r>
            <a:r>
              <a:rPr lang="pl-PL" sz="2000" dirty="0"/>
              <a:t> </a:t>
            </a:r>
            <a:r>
              <a:rPr lang="pl-PL" sz="2000" dirty="0" err="1"/>
              <a:t>questions</a:t>
            </a:r>
            <a:r>
              <a:rPr lang="pl-PL" sz="2000" dirty="0"/>
              <a:t> </a:t>
            </a:r>
            <a:r>
              <a:rPr lang="pl-PL" sz="2000" dirty="0" err="1"/>
              <a:t>about</a:t>
            </a:r>
            <a:r>
              <a:rPr lang="pl-PL" sz="2000" dirty="0"/>
              <a:t> the </a:t>
            </a:r>
            <a:r>
              <a:rPr lang="pl-PL" sz="2000" dirty="0" err="1"/>
              <a:t>system’s</a:t>
            </a:r>
            <a:r>
              <a:rPr lang="pl-PL" sz="2000" dirty="0"/>
              <a:t> </a:t>
            </a:r>
            <a:r>
              <a:rPr lang="pl-PL" sz="2000" dirty="0" err="1"/>
              <a:t>runtime</a:t>
            </a:r>
            <a:r>
              <a:rPr lang="pl-PL" sz="2000" dirty="0"/>
              <a:t> </a:t>
            </a:r>
            <a:r>
              <a:rPr lang="pl-PL" sz="2000" dirty="0" err="1"/>
              <a:t>properties</a:t>
            </a:r>
            <a:r>
              <a:rPr lang="pl-PL" sz="2000" dirty="0"/>
              <a:t> </a:t>
            </a:r>
            <a:r>
              <a:rPr lang="pl-PL" sz="2000" dirty="0" err="1"/>
              <a:t>such</a:t>
            </a:r>
            <a:r>
              <a:rPr lang="pl-PL" sz="2000" dirty="0"/>
              <a:t> as performance, </a:t>
            </a:r>
            <a:r>
              <a:rPr lang="pl-PL" sz="2000" dirty="0" err="1"/>
              <a:t>security</a:t>
            </a:r>
            <a:r>
              <a:rPr lang="pl-PL" sz="2000" dirty="0"/>
              <a:t>, </a:t>
            </a:r>
            <a:r>
              <a:rPr lang="pl-PL" sz="2000" dirty="0" err="1"/>
              <a:t>availability</a:t>
            </a:r>
            <a:r>
              <a:rPr lang="pl-PL" sz="2000" dirty="0"/>
              <a:t>, and </a:t>
            </a:r>
            <a:r>
              <a:rPr lang="pl-PL" sz="2000" dirty="0" err="1"/>
              <a:t>more</a:t>
            </a:r>
            <a:r>
              <a:rPr lang="pl-PL" sz="2000" dirty="0"/>
              <a:t>.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16591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Allocation structures show the relationship between the software elements and elements in one or more external environments in which the software is created and executed. </a:t>
            </a:r>
          </a:p>
          <a:p>
            <a:r>
              <a:rPr lang="en-US" dirty="0"/>
              <a:t>Allocation views help us answer questions such as these:</a:t>
            </a:r>
          </a:p>
          <a:p>
            <a:pPr lvl="1"/>
            <a:r>
              <a:rPr lang="en-US" dirty="0"/>
              <a:t>What processor does each software element execute on?</a:t>
            </a:r>
          </a:p>
          <a:p>
            <a:pPr lvl="1"/>
            <a:r>
              <a:rPr lang="en-US" dirty="0"/>
              <a:t>In what directories or files is each element stored during development, testing, and system building?</a:t>
            </a:r>
          </a:p>
          <a:p>
            <a:pPr lvl="1"/>
            <a:r>
              <a:rPr lang="en-US" dirty="0"/>
              <a:t>What is the assignment of each software element to development teams?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6730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Provide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Structures play such an important role in our perspective on software architecture because of the analytical and engineering power they hold. </a:t>
            </a:r>
          </a:p>
          <a:p>
            <a:r>
              <a:rPr lang="en-US" dirty="0"/>
              <a:t>Each structure provides a perspective for reasoning about some of the relevant quality attributes.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The module structure, which embodies what modules use what other modules, is strongly tied to the ease with which a system can be extended or contracted.</a:t>
            </a:r>
          </a:p>
          <a:p>
            <a:pPr lvl="1"/>
            <a:r>
              <a:rPr lang="en-US" dirty="0"/>
              <a:t>The concurrency structure, which embodies parallelism within the system, is strongly tied to the ease with which a system can be made free of deadlock and performance bottlenecks.</a:t>
            </a:r>
          </a:p>
          <a:p>
            <a:pPr lvl="1"/>
            <a:r>
              <a:rPr lang="en-US" dirty="0"/>
              <a:t>The deployment structure is strongly tied to the achievement of performance, availability, and security goals.</a:t>
            </a:r>
          </a:p>
          <a:p>
            <a:pPr lvl="1"/>
            <a:r>
              <a:rPr lang="pl-PL" dirty="0"/>
              <a:t>And </a:t>
            </a:r>
            <a:r>
              <a:rPr lang="pl-PL" dirty="0" err="1"/>
              <a:t>so</a:t>
            </a:r>
            <a:r>
              <a:rPr lang="pl-PL" dirty="0"/>
              <a:t> </a:t>
            </a:r>
            <a:r>
              <a:rPr lang="pl-PL" dirty="0" err="1"/>
              <a:t>forth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987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Decomposition structure</a:t>
            </a:r>
          </a:p>
          <a:p>
            <a:r>
              <a:rPr lang="en-US" dirty="0"/>
              <a:t>The units are modules that are related to each other by the </a:t>
            </a:r>
            <a:r>
              <a:rPr lang="en-US" i="1" dirty="0"/>
              <a:t>is-a-submodule-of</a:t>
            </a:r>
            <a:r>
              <a:rPr lang="en-US" dirty="0"/>
              <a:t> relation.</a:t>
            </a:r>
          </a:p>
          <a:p>
            <a:r>
              <a:rPr lang="en-US" dirty="0"/>
              <a:t>It shows how modules are decomposed into smaller modules recursively until the modules are small enough to be easily understood. </a:t>
            </a:r>
          </a:p>
          <a:p>
            <a:r>
              <a:rPr lang="en-US" dirty="0"/>
              <a:t>Modules often have products (such as interface specifications, code, test plans, etc.) associated with them. </a:t>
            </a:r>
          </a:p>
          <a:p>
            <a:r>
              <a:rPr lang="en-US" dirty="0"/>
              <a:t>The decomposition structure determines, to a large degree, the system’s modifiability, by assuring that likely changes are localized. </a:t>
            </a:r>
          </a:p>
          <a:p>
            <a:r>
              <a:rPr lang="en-US" dirty="0"/>
              <a:t>This structure is often used as the basis for the development project’s organization, including the structure of the documentation, and the project’s integration and test plans. </a:t>
            </a:r>
          </a:p>
          <a:p>
            <a:r>
              <a:rPr lang="en-US" dirty="0"/>
              <a:t>The units in this structure tend to have names that are organization-specific such as “segment” or “subsystem.”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21466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Uses structure. </a:t>
            </a:r>
          </a:p>
          <a:p>
            <a:r>
              <a:rPr lang="en-US" dirty="0"/>
              <a:t>The units here are also modules, perhaps classes. </a:t>
            </a:r>
          </a:p>
          <a:p>
            <a:r>
              <a:rPr lang="en-US" dirty="0"/>
              <a:t>The units are related by the </a:t>
            </a:r>
            <a:r>
              <a:rPr lang="en-US" i="1" dirty="0"/>
              <a:t>uses</a:t>
            </a:r>
            <a:r>
              <a:rPr lang="en-US" dirty="0"/>
              <a:t> relation, a specialized form of dependency. </a:t>
            </a:r>
          </a:p>
          <a:p>
            <a:r>
              <a:rPr lang="en-US" dirty="0"/>
              <a:t>A unit of software </a:t>
            </a:r>
            <a:r>
              <a:rPr lang="en-US" i="1" dirty="0"/>
              <a:t>uses</a:t>
            </a:r>
            <a:r>
              <a:rPr lang="en-US" dirty="0"/>
              <a:t> another if the correctness of the first requires the presence of a correctly functioning version (as opposed to a stub) of the second.</a:t>
            </a:r>
          </a:p>
          <a:p>
            <a:r>
              <a:rPr lang="en-US" dirty="0"/>
              <a:t>The uses structure is used to engineer systems that can be extended to add functionality, or from which useful functional subsets can be extracted. </a:t>
            </a:r>
          </a:p>
          <a:p>
            <a:r>
              <a:rPr lang="en-US" dirty="0"/>
              <a:t>The ability to easily create a subset of a system allows for incremental development.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6180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dirty="0" err="1"/>
              <a:t>Layer</a:t>
            </a:r>
            <a:r>
              <a:rPr lang="pl-PL" dirty="0"/>
              <a:t> </a:t>
            </a:r>
            <a:r>
              <a:rPr lang="pl-PL" dirty="0" err="1"/>
              <a:t>structure</a:t>
            </a:r>
            <a:endParaRPr lang="pl-PL" dirty="0"/>
          </a:p>
          <a:p>
            <a:r>
              <a:rPr lang="pl-PL" dirty="0"/>
              <a:t>The </a:t>
            </a:r>
            <a:r>
              <a:rPr lang="pl-PL" dirty="0" err="1"/>
              <a:t>modules</a:t>
            </a:r>
            <a:r>
              <a:rPr lang="pl-PL" dirty="0"/>
              <a:t> in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called</a:t>
            </a:r>
            <a:r>
              <a:rPr lang="pl-PL" dirty="0"/>
              <a:t> </a:t>
            </a:r>
            <a:r>
              <a:rPr lang="pl-PL" i="1" dirty="0" err="1"/>
              <a:t>layers</a:t>
            </a:r>
            <a:r>
              <a:rPr lang="pl-PL" dirty="0"/>
              <a:t>. </a:t>
            </a:r>
          </a:p>
          <a:p>
            <a:r>
              <a:rPr lang="pl-PL" dirty="0"/>
              <a:t>A </a:t>
            </a:r>
            <a:r>
              <a:rPr lang="pl-PL" dirty="0" err="1"/>
              <a:t>layer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pl-PL" dirty="0"/>
              <a:t> </a:t>
            </a:r>
            <a:r>
              <a:rPr lang="pl-PL" dirty="0" err="1"/>
              <a:t>abstract</a:t>
            </a:r>
            <a:r>
              <a:rPr lang="pl-PL" dirty="0"/>
              <a:t> “</a:t>
            </a:r>
            <a:r>
              <a:rPr lang="pl-PL" dirty="0" err="1"/>
              <a:t>virtual</a:t>
            </a:r>
            <a:r>
              <a:rPr lang="pl-PL" dirty="0"/>
              <a:t> </a:t>
            </a:r>
            <a:r>
              <a:rPr lang="pl-PL" dirty="0" err="1"/>
              <a:t>machine</a:t>
            </a:r>
            <a:r>
              <a:rPr lang="pl-PL" dirty="0"/>
              <a:t>”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provides</a:t>
            </a:r>
            <a:r>
              <a:rPr lang="pl-PL" dirty="0"/>
              <a:t> a </a:t>
            </a:r>
            <a:r>
              <a:rPr lang="pl-PL" dirty="0" err="1"/>
              <a:t>cohesive</a:t>
            </a:r>
            <a:r>
              <a:rPr lang="pl-PL" dirty="0"/>
              <a:t> set of services </a:t>
            </a:r>
            <a:r>
              <a:rPr lang="pl-PL" dirty="0" err="1"/>
              <a:t>through</a:t>
            </a:r>
            <a:r>
              <a:rPr lang="pl-PL" dirty="0"/>
              <a:t> a </a:t>
            </a:r>
            <a:r>
              <a:rPr lang="pl-PL" dirty="0" err="1"/>
              <a:t>managed</a:t>
            </a:r>
            <a:r>
              <a:rPr lang="pl-PL" dirty="0"/>
              <a:t> </a:t>
            </a:r>
            <a:r>
              <a:rPr lang="pl-PL" dirty="0" err="1"/>
              <a:t>interface</a:t>
            </a:r>
            <a:r>
              <a:rPr lang="pl-PL" dirty="0"/>
              <a:t>. </a:t>
            </a:r>
          </a:p>
          <a:p>
            <a:r>
              <a:rPr lang="pl-PL" dirty="0" err="1"/>
              <a:t>Layers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i="1" dirty="0" err="1"/>
              <a:t>allowed</a:t>
            </a:r>
            <a:r>
              <a:rPr lang="pl-PL" i="1" dirty="0"/>
              <a:t> to </a:t>
            </a:r>
            <a:r>
              <a:rPr lang="pl-PL" i="1" dirty="0" err="1"/>
              <a:t>use</a:t>
            </a:r>
            <a:r>
              <a:rPr lang="pl-PL" i="1" dirty="0"/>
              <a:t> </a:t>
            </a:r>
            <a:r>
              <a:rPr lang="pl-PL" dirty="0" err="1"/>
              <a:t>other</a:t>
            </a:r>
            <a:r>
              <a:rPr lang="pl-PL" dirty="0"/>
              <a:t> </a:t>
            </a:r>
            <a:r>
              <a:rPr lang="pl-PL" dirty="0" err="1"/>
              <a:t>layers</a:t>
            </a:r>
            <a:r>
              <a:rPr lang="pl-PL" dirty="0"/>
              <a:t> in a </a:t>
            </a:r>
            <a:r>
              <a:rPr lang="pl-PL" dirty="0" err="1"/>
              <a:t>strictly</a:t>
            </a:r>
            <a:r>
              <a:rPr lang="pl-PL" dirty="0"/>
              <a:t> </a:t>
            </a:r>
            <a:r>
              <a:rPr lang="pl-PL" dirty="0" err="1"/>
              <a:t>managed</a:t>
            </a:r>
            <a:r>
              <a:rPr lang="pl-PL" dirty="0"/>
              <a:t> </a:t>
            </a:r>
            <a:r>
              <a:rPr lang="pl-PL" dirty="0" err="1"/>
              <a:t>fashion</a:t>
            </a:r>
            <a:r>
              <a:rPr lang="pl-PL" dirty="0"/>
              <a:t>.</a:t>
            </a:r>
          </a:p>
          <a:p>
            <a:pPr lvl="1"/>
            <a:r>
              <a:rPr lang="pl-PL" dirty="0"/>
              <a:t>In </a:t>
            </a:r>
            <a:r>
              <a:rPr lang="pl-PL" dirty="0" err="1"/>
              <a:t>strictly</a:t>
            </a:r>
            <a:r>
              <a:rPr lang="pl-PL" dirty="0"/>
              <a:t> </a:t>
            </a:r>
            <a:r>
              <a:rPr lang="pl-PL" dirty="0" err="1"/>
              <a:t>layered</a:t>
            </a:r>
            <a:r>
              <a:rPr lang="pl-PL" dirty="0"/>
              <a:t> </a:t>
            </a:r>
            <a:r>
              <a:rPr lang="pl-PL" dirty="0" err="1"/>
              <a:t>systems</a:t>
            </a:r>
            <a:r>
              <a:rPr lang="pl-PL" dirty="0"/>
              <a:t>, a </a:t>
            </a:r>
            <a:r>
              <a:rPr lang="pl-PL" dirty="0" err="1"/>
              <a:t>layer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only</a:t>
            </a:r>
            <a:r>
              <a:rPr lang="pl-PL" dirty="0"/>
              <a:t> </a:t>
            </a:r>
            <a:r>
              <a:rPr lang="pl-PL" dirty="0" err="1"/>
              <a:t>allowed</a:t>
            </a:r>
            <a:r>
              <a:rPr lang="pl-PL" dirty="0"/>
              <a:t> to </a:t>
            </a:r>
            <a:r>
              <a:rPr lang="pl-PL" dirty="0" err="1"/>
              <a:t>use</a:t>
            </a:r>
            <a:r>
              <a:rPr lang="pl-PL" dirty="0"/>
              <a:t> a single </a:t>
            </a:r>
            <a:r>
              <a:rPr lang="pl-PL" dirty="0" err="1"/>
              <a:t>other</a:t>
            </a:r>
            <a:r>
              <a:rPr lang="pl-PL" dirty="0"/>
              <a:t> </a:t>
            </a:r>
            <a:r>
              <a:rPr lang="pl-PL" dirty="0" err="1"/>
              <a:t>layer</a:t>
            </a:r>
            <a:r>
              <a:rPr lang="pl-PL" dirty="0"/>
              <a:t>. </a:t>
            </a:r>
          </a:p>
          <a:p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imbues</a:t>
            </a:r>
            <a:r>
              <a:rPr lang="pl-PL" dirty="0"/>
              <a:t> a system with </a:t>
            </a:r>
            <a:r>
              <a:rPr lang="pl-PL" dirty="0" err="1"/>
              <a:t>portability</a:t>
            </a:r>
            <a:r>
              <a:rPr lang="pl-PL" dirty="0"/>
              <a:t>, the </a:t>
            </a:r>
            <a:r>
              <a:rPr lang="pl-PL" dirty="0" err="1"/>
              <a:t>ability</a:t>
            </a:r>
            <a:r>
              <a:rPr lang="pl-PL" dirty="0"/>
              <a:t> to </a:t>
            </a:r>
            <a:r>
              <a:rPr lang="pl-PL" dirty="0" err="1"/>
              <a:t>change</a:t>
            </a:r>
            <a:r>
              <a:rPr lang="pl-PL" dirty="0"/>
              <a:t> the </a:t>
            </a:r>
            <a:r>
              <a:rPr lang="pl-PL" dirty="0" err="1"/>
              <a:t>underlying</a:t>
            </a:r>
            <a:r>
              <a:rPr lang="pl-PL" dirty="0"/>
              <a:t> </a:t>
            </a:r>
            <a:r>
              <a:rPr lang="pl-PL" dirty="0" err="1"/>
              <a:t>computing</a:t>
            </a:r>
            <a:r>
              <a:rPr lang="pl-PL" dirty="0"/>
              <a:t> platform.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21466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l-PL" dirty="0"/>
              <a:t>Class (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generalization</a:t>
            </a:r>
            <a:r>
              <a:rPr lang="pl-PL" dirty="0"/>
              <a:t>) </a:t>
            </a:r>
            <a:r>
              <a:rPr lang="pl-PL" dirty="0" err="1"/>
              <a:t>structure</a:t>
            </a:r>
            <a:endParaRPr lang="pl-PL" dirty="0"/>
          </a:p>
          <a:p>
            <a:r>
              <a:rPr lang="pl-PL" dirty="0"/>
              <a:t>The module </a:t>
            </a:r>
            <a:r>
              <a:rPr lang="pl-PL" dirty="0" err="1"/>
              <a:t>units</a:t>
            </a:r>
            <a:r>
              <a:rPr lang="pl-PL" dirty="0"/>
              <a:t> in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called</a:t>
            </a:r>
            <a:r>
              <a:rPr lang="pl-PL" dirty="0"/>
              <a:t> </a:t>
            </a:r>
            <a:r>
              <a:rPr lang="pl-PL" i="1" dirty="0" err="1"/>
              <a:t>classes</a:t>
            </a:r>
            <a:r>
              <a:rPr lang="pl-PL" dirty="0"/>
              <a:t>.</a:t>
            </a:r>
          </a:p>
          <a:p>
            <a:r>
              <a:rPr lang="pl-PL" dirty="0"/>
              <a:t>The </a:t>
            </a:r>
            <a:r>
              <a:rPr lang="pl-PL" dirty="0" err="1"/>
              <a:t>relation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i="1" dirty="0" err="1"/>
              <a:t>inherits</a:t>
            </a:r>
            <a:r>
              <a:rPr lang="pl-PL" i="1" dirty="0"/>
              <a:t> from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i="1" dirty="0" err="1"/>
              <a:t>is</a:t>
            </a:r>
            <a:r>
              <a:rPr lang="pl-PL" i="1" dirty="0"/>
              <a:t> </a:t>
            </a:r>
            <a:r>
              <a:rPr lang="pl-PL" i="1" dirty="0" err="1"/>
              <a:t>an</a:t>
            </a:r>
            <a:r>
              <a:rPr lang="pl-PL" i="1" dirty="0"/>
              <a:t> </a:t>
            </a:r>
            <a:r>
              <a:rPr lang="pl-PL" i="1" dirty="0" err="1"/>
              <a:t>instance</a:t>
            </a:r>
            <a:r>
              <a:rPr lang="pl-PL" i="1" dirty="0"/>
              <a:t> of</a:t>
            </a:r>
            <a:r>
              <a:rPr lang="pl-PL" dirty="0"/>
              <a:t>. </a:t>
            </a:r>
          </a:p>
          <a:p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view</a:t>
            </a:r>
            <a:r>
              <a:rPr lang="pl-PL" dirty="0"/>
              <a:t> </a:t>
            </a:r>
            <a:r>
              <a:rPr lang="pl-PL" dirty="0" err="1"/>
              <a:t>supports</a:t>
            </a:r>
            <a:r>
              <a:rPr lang="pl-PL" dirty="0"/>
              <a:t> </a:t>
            </a:r>
            <a:r>
              <a:rPr lang="pl-PL" dirty="0" err="1"/>
              <a:t>reasoning</a:t>
            </a:r>
            <a:r>
              <a:rPr lang="pl-PL" dirty="0"/>
              <a:t> </a:t>
            </a:r>
            <a:r>
              <a:rPr lang="pl-PL" dirty="0" err="1"/>
              <a:t>about</a:t>
            </a:r>
            <a:r>
              <a:rPr lang="pl-PL" dirty="0"/>
              <a:t> </a:t>
            </a:r>
            <a:r>
              <a:rPr lang="pl-PL" dirty="0" err="1"/>
              <a:t>collections</a:t>
            </a:r>
            <a:r>
              <a:rPr lang="pl-PL" dirty="0"/>
              <a:t> of </a:t>
            </a:r>
            <a:r>
              <a:rPr lang="pl-PL" dirty="0" err="1"/>
              <a:t>similar</a:t>
            </a:r>
            <a:r>
              <a:rPr lang="pl-PL" dirty="0"/>
              <a:t> </a:t>
            </a:r>
            <a:r>
              <a:rPr lang="pl-PL" dirty="0" err="1"/>
              <a:t>behavior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capability</a:t>
            </a:r>
            <a:endParaRPr lang="pl-PL" dirty="0"/>
          </a:p>
          <a:p>
            <a:pPr lvl="1"/>
            <a:r>
              <a:rPr lang="pl-PL" dirty="0" err="1"/>
              <a:t>e.g.,the</a:t>
            </a:r>
            <a:r>
              <a:rPr lang="pl-PL" dirty="0"/>
              <a:t> </a:t>
            </a:r>
            <a:r>
              <a:rPr lang="pl-PL" dirty="0" err="1"/>
              <a:t>classes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other</a:t>
            </a:r>
            <a:r>
              <a:rPr lang="pl-PL" dirty="0"/>
              <a:t> </a:t>
            </a:r>
            <a:r>
              <a:rPr lang="pl-PL" dirty="0" err="1"/>
              <a:t>classes</a:t>
            </a:r>
            <a:r>
              <a:rPr lang="pl-PL" dirty="0"/>
              <a:t> </a:t>
            </a:r>
            <a:r>
              <a:rPr lang="pl-PL" dirty="0" err="1"/>
              <a:t>inherit</a:t>
            </a:r>
            <a:r>
              <a:rPr lang="pl-PL" dirty="0"/>
              <a:t> from and </a:t>
            </a:r>
            <a:r>
              <a:rPr lang="pl-PL" dirty="0" err="1"/>
              <a:t>parameterized</a:t>
            </a:r>
            <a:r>
              <a:rPr lang="pl-PL" dirty="0"/>
              <a:t> </a:t>
            </a:r>
            <a:r>
              <a:rPr lang="pl-PL" dirty="0" err="1"/>
              <a:t>differences</a:t>
            </a:r>
            <a:endParaRPr lang="pl-PL" dirty="0"/>
          </a:p>
          <a:p>
            <a:r>
              <a:rPr lang="pl-PL" dirty="0"/>
              <a:t>The </a:t>
            </a:r>
            <a:r>
              <a:rPr lang="pl-PL" dirty="0" err="1"/>
              <a:t>class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 </a:t>
            </a:r>
            <a:r>
              <a:rPr lang="pl-PL" dirty="0" err="1"/>
              <a:t>allows</a:t>
            </a:r>
            <a:r>
              <a:rPr lang="pl-PL" dirty="0"/>
              <a:t> one to </a:t>
            </a:r>
            <a:r>
              <a:rPr lang="pl-PL" dirty="0" err="1"/>
              <a:t>reason</a:t>
            </a:r>
            <a:r>
              <a:rPr lang="pl-PL" dirty="0"/>
              <a:t> </a:t>
            </a:r>
            <a:r>
              <a:rPr lang="pl-PL" dirty="0" err="1"/>
              <a:t>about</a:t>
            </a:r>
            <a:r>
              <a:rPr lang="pl-PL" dirty="0"/>
              <a:t> </a:t>
            </a:r>
            <a:r>
              <a:rPr lang="pl-PL" dirty="0" err="1"/>
              <a:t>reuse</a:t>
            </a:r>
            <a:r>
              <a:rPr lang="pl-PL" dirty="0"/>
              <a:t> and the </a:t>
            </a:r>
            <a:r>
              <a:rPr lang="pl-PL" dirty="0" err="1"/>
              <a:t>incremental</a:t>
            </a:r>
            <a:r>
              <a:rPr lang="pl-PL" dirty="0"/>
              <a:t> </a:t>
            </a:r>
            <a:r>
              <a:rPr lang="pl-PL" dirty="0" err="1"/>
              <a:t>addition</a:t>
            </a:r>
            <a:r>
              <a:rPr lang="pl-PL" dirty="0"/>
              <a:t> of </a:t>
            </a:r>
            <a:r>
              <a:rPr lang="pl-PL" dirty="0" err="1"/>
              <a:t>functionality</a:t>
            </a:r>
            <a:r>
              <a:rPr lang="pl-PL" dirty="0"/>
              <a:t>. </a:t>
            </a:r>
          </a:p>
          <a:p>
            <a:r>
              <a:rPr lang="pl-PL" dirty="0" err="1"/>
              <a:t>If</a:t>
            </a:r>
            <a:r>
              <a:rPr lang="pl-PL" dirty="0"/>
              <a:t> </a:t>
            </a:r>
            <a:r>
              <a:rPr lang="pl-PL" dirty="0" err="1"/>
              <a:t>any</a:t>
            </a:r>
            <a:r>
              <a:rPr lang="pl-PL" dirty="0"/>
              <a:t> </a:t>
            </a:r>
            <a:r>
              <a:rPr lang="pl-PL" dirty="0" err="1"/>
              <a:t>documentation</a:t>
            </a:r>
            <a:r>
              <a:rPr lang="pl-PL" dirty="0"/>
              <a:t> </a:t>
            </a:r>
            <a:r>
              <a:rPr lang="pl-PL" dirty="0" err="1"/>
              <a:t>exists</a:t>
            </a:r>
            <a:r>
              <a:rPr lang="pl-PL" dirty="0"/>
              <a:t> for a </a:t>
            </a:r>
            <a:r>
              <a:rPr lang="pl-PL" dirty="0" err="1"/>
              <a:t>project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has</a:t>
            </a:r>
            <a:r>
              <a:rPr lang="pl-PL" dirty="0"/>
              <a:t> </a:t>
            </a:r>
            <a:r>
              <a:rPr lang="pl-PL" dirty="0" err="1"/>
              <a:t>followed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pl-PL" dirty="0"/>
              <a:t> </a:t>
            </a:r>
            <a:r>
              <a:rPr lang="pl-PL" dirty="0" err="1"/>
              <a:t>object-oriented</a:t>
            </a:r>
            <a:r>
              <a:rPr lang="pl-PL" dirty="0"/>
              <a:t> </a:t>
            </a:r>
            <a:r>
              <a:rPr lang="pl-PL" dirty="0" err="1"/>
              <a:t>analysis</a:t>
            </a:r>
            <a:r>
              <a:rPr lang="pl-PL" dirty="0"/>
              <a:t> and design </a:t>
            </a:r>
            <a:r>
              <a:rPr lang="pl-PL" dirty="0" err="1"/>
              <a:t>process</a:t>
            </a:r>
            <a:r>
              <a:rPr lang="pl-PL" dirty="0"/>
              <a:t>, </a:t>
            </a:r>
            <a:r>
              <a:rPr lang="pl-PL" dirty="0" err="1"/>
              <a:t>it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typically</a:t>
            </a:r>
            <a:r>
              <a:rPr lang="pl-PL" dirty="0"/>
              <a:t>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21466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Module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Data model </a:t>
            </a:r>
          </a:p>
          <a:p>
            <a:r>
              <a:rPr lang="pl-PL" dirty="0"/>
              <a:t>The data model </a:t>
            </a:r>
            <a:r>
              <a:rPr lang="pl-PL" dirty="0" err="1"/>
              <a:t>describes</a:t>
            </a:r>
            <a:r>
              <a:rPr lang="pl-PL" dirty="0"/>
              <a:t> the </a:t>
            </a:r>
            <a:r>
              <a:rPr lang="pl-PL" dirty="0" err="1"/>
              <a:t>static</a:t>
            </a:r>
            <a:r>
              <a:rPr lang="pl-PL" dirty="0"/>
              <a:t> </a:t>
            </a:r>
            <a:r>
              <a:rPr lang="pl-PL" dirty="0" err="1"/>
              <a:t>information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 in </a:t>
            </a:r>
            <a:r>
              <a:rPr lang="pl-PL" dirty="0" err="1"/>
              <a:t>terms</a:t>
            </a:r>
            <a:r>
              <a:rPr lang="pl-PL" dirty="0"/>
              <a:t> of data </a:t>
            </a:r>
            <a:r>
              <a:rPr lang="pl-PL" dirty="0" err="1"/>
              <a:t>entities</a:t>
            </a:r>
            <a:r>
              <a:rPr lang="pl-PL" dirty="0"/>
              <a:t> and </a:t>
            </a:r>
            <a:r>
              <a:rPr lang="pl-PL" dirty="0" err="1"/>
              <a:t>their</a:t>
            </a:r>
            <a:r>
              <a:rPr lang="pl-PL" dirty="0"/>
              <a:t> </a:t>
            </a:r>
            <a:r>
              <a:rPr lang="pl-PL" dirty="0" err="1"/>
              <a:t>relationships</a:t>
            </a:r>
            <a:r>
              <a:rPr lang="pl-PL" dirty="0"/>
              <a:t>. </a:t>
            </a:r>
          </a:p>
          <a:p>
            <a:pPr lvl="1"/>
            <a:r>
              <a:rPr lang="pl-PL" dirty="0"/>
              <a:t>For </a:t>
            </a:r>
            <a:r>
              <a:rPr lang="pl-PL" dirty="0" err="1"/>
              <a:t>example</a:t>
            </a:r>
            <a:r>
              <a:rPr lang="pl-PL" dirty="0"/>
              <a:t>, in a banking system, </a:t>
            </a:r>
            <a:r>
              <a:rPr lang="pl-PL" dirty="0" err="1"/>
              <a:t>entities</a:t>
            </a:r>
            <a:r>
              <a:rPr lang="pl-PL" dirty="0"/>
              <a:t> </a:t>
            </a:r>
            <a:r>
              <a:rPr lang="pl-PL" dirty="0" err="1"/>
              <a:t>will</a:t>
            </a:r>
            <a:r>
              <a:rPr lang="pl-PL" dirty="0"/>
              <a:t> </a:t>
            </a:r>
            <a:r>
              <a:rPr lang="pl-PL" dirty="0" err="1"/>
              <a:t>typically</a:t>
            </a:r>
            <a:r>
              <a:rPr lang="pl-PL" dirty="0"/>
              <a:t> </a:t>
            </a:r>
            <a:r>
              <a:rPr lang="pl-PL" dirty="0" err="1"/>
              <a:t>include</a:t>
            </a:r>
            <a:r>
              <a:rPr lang="pl-PL" dirty="0"/>
              <a:t> </a:t>
            </a:r>
            <a:r>
              <a:rPr lang="pl-PL" dirty="0" err="1"/>
              <a:t>Account</a:t>
            </a:r>
            <a:r>
              <a:rPr lang="pl-PL" dirty="0"/>
              <a:t>, </a:t>
            </a:r>
            <a:r>
              <a:rPr lang="pl-PL" dirty="0" err="1"/>
              <a:t>Customer</a:t>
            </a:r>
            <a:r>
              <a:rPr lang="pl-PL" dirty="0"/>
              <a:t>, and </a:t>
            </a:r>
            <a:r>
              <a:rPr lang="pl-PL" dirty="0" err="1"/>
              <a:t>Loan</a:t>
            </a:r>
            <a:r>
              <a:rPr lang="pl-PL" dirty="0"/>
              <a:t>.</a:t>
            </a:r>
          </a:p>
          <a:p>
            <a:pPr lvl="1"/>
            <a:r>
              <a:rPr lang="pl-PL" dirty="0" err="1"/>
              <a:t>Account</a:t>
            </a:r>
            <a:r>
              <a:rPr lang="pl-PL" dirty="0"/>
              <a:t> </a:t>
            </a:r>
            <a:r>
              <a:rPr lang="pl-PL" dirty="0" err="1"/>
              <a:t>has</a:t>
            </a:r>
            <a:r>
              <a:rPr lang="pl-PL" dirty="0"/>
              <a:t> </a:t>
            </a:r>
            <a:r>
              <a:rPr lang="pl-PL" dirty="0" err="1"/>
              <a:t>several</a:t>
            </a:r>
            <a:r>
              <a:rPr lang="pl-PL" dirty="0"/>
              <a:t> </a:t>
            </a:r>
            <a:r>
              <a:rPr lang="pl-PL" dirty="0" err="1"/>
              <a:t>attributes</a:t>
            </a:r>
            <a:r>
              <a:rPr lang="pl-PL" dirty="0"/>
              <a:t>, </a:t>
            </a:r>
            <a:r>
              <a:rPr lang="pl-PL" dirty="0" err="1"/>
              <a:t>such</a:t>
            </a:r>
            <a:r>
              <a:rPr lang="pl-PL" dirty="0"/>
              <a:t> as </a:t>
            </a:r>
            <a:r>
              <a:rPr lang="pl-PL" dirty="0" err="1"/>
              <a:t>account</a:t>
            </a:r>
            <a:r>
              <a:rPr lang="pl-PL" dirty="0"/>
              <a:t> </a:t>
            </a:r>
            <a:r>
              <a:rPr lang="pl-PL" dirty="0" err="1"/>
              <a:t>number</a:t>
            </a:r>
            <a:r>
              <a:rPr lang="pl-PL" dirty="0"/>
              <a:t>, </a:t>
            </a:r>
            <a:r>
              <a:rPr lang="pl-PL" dirty="0" err="1"/>
              <a:t>type</a:t>
            </a:r>
            <a:r>
              <a:rPr lang="pl-PL" dirty="0"/>
              <a:t> (</a:t>
            </a:r>
            <a:r>
              <a:rPr lang="pl-PL" dirty="0" err="1"/>
              <a:t>savings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checking</a:t>
            </a:r>
            <a:r>
              <a:rPr lang="pl-PL" dirty="0"/>
              <a:t>), status, and </a:t>
            </a:r>
            <a:r>
              <a:rPr lang="pl-PL" dirty="0" err="1"/>
              <a:t>current</a:t>
            </a:r>
            <a:r>
              <a:rPr lang="pl-PL" dirty="0"/>
              <a:t> </a:t>
            </a:r>
            <a:r>
              <a:rPr lang="pl-PL" dirty="0" err="1"/>
              <a:t>balance</a:t>
            </a:r>
            <a:r>
              <a:rPr lang="pl-PL" dirty="0"/>
              <a:t>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21466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C&amp;C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363272" cy="5112568"/>
          </a:xfrm>
        </p:spPr>
        <p:txBody>
          <a:bodyPr>
            <a:normAutofit fontScale="62500" lnSpcReduction="20000"/>
          </a:bodyPr>
          <a:lstStyle/>
          <a:p>
            <a:r>
              <a:rPr lang="en-US" sz="3800" dirty="0"/>
              <a:t>The relation in all component-and-connector structures is attachment, showing how the components and the connectors are hooked together. </a:t>
            </a:r>
          </a:p>
          <a:p>
            <a:r>
              <a:rPr lang="en-US" sz="3800" dirty="0"/>
              <a:t>The connectors can be familiar constructs such as “invokes.” </a:t>
            </a:r>
          </a:p>
          <a:p>
            <a:r>
              <a:rPr lang="en-US" sz="3800" dirty="0"/>
              <a:t>Useful C&amp;C structures include:</a:t>
            </a:r>
          </a:p>
          <a:p>
            <a:pPr lvl="1"/>
            <a:r>
              <a:rPr lang="en-US" sz="3200" dirty="0"/>
              <a:t>Service structure</a:t>
            </a:r>
          </a:p>
          <a:p>
            <a:pPr lvl="2"/>
            <a:r>
              <a:rPr lang="en-US" sz="2900" dirty="0"/>
              <a:t>The units are services that interoperate with each other by service coordination mechanisms such as SOAP.</a:t>
            </a:r>
          </a:p>
          <a:p>
            <a:pPr lvl="2"/>
            <a:r>
              <a:rPr lang="en-US" sz="2900" dirty="0"/>
              <a:t>The service structure helps to engineer a system composed of components that may have been developed anonymously and independently of each other.</a:t>
            </a:r>
          </a:p>
          <a:p>
            <a:pPr lvl="1"/>
            <a:r>
              <a:rPr lang="en-US" sz="3200" dirty="0"/>
              <a:t>Concurrency structure</a:t>
            </a:r>
          </a:p>
          <a:p>
            <a:pPr lvl="2"/>
            <a:r>
              <a:rPr lang="en-US" sz="2900" dirty="0"/>
              <a:t>This structure helps determine opportunities for parallelism and the locations where resource contention may occur. </a:t>
            </a:r>
          </a:p>
          <a:p>
            <a:pPr lvl="2"/>
            <a:r>
              <a:rPr lang="en-US" sz="2900" dirty="0"/>
              <a:t>The units are components</a:t>
            </a:r>
          </a:p>
          <a:p>
            <a:pPr lvl="2"/>
            <a:r>
              <a:rPr lang="en-US" sz="2900" dirty="0"/>
              <a:t>The connectors are their communication mechanisms. </a:t>
            </a:r>
          </a:p>
          <a:p>
            <a:pPr lvl="2"/>
            <a:r>
              <a:rPr lang="en-US" sz="2900" dirty="0"/>
              <a:t>The components are arranged into logical threads.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9918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Useful Allocation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Deployment structure</a:t>
            </a:r>
          </a:p>
          <a:p>
            <a:r>
              <a:rPr lang="en-US" dirty="0"/>
              <a:t>The deployment structure shows how software is assigned to hardware processing and communication elements. </a:t>
            </a:r>
          </a:p>
          <a:p>
            <a:r>
              <a:rPr lang="en-US" dirty="0"/>
              <a:t>The elements are software elements (usually a process from a C&amp;C view), hardware entities (processors), and communication pathways. </a:t>
            </a:r>
          </a:p>
          <a:p>
            <a:r>
              <a:rPr lang="en-US" dirty="0"/>
              <a:t>Relations are allocated-to, showing on which physical units the software elements reside, and migrates-to if the allocation is dynamic. </a:t>
            </a:r>
          </a:p>
          <a:p>
            <a:r>
              <a:rPr lang="en-US" dirty="0"/>
              <a:t>This structure can be used to reason about performance, data integrity, security, and availability. </a:t>
            </a:r>
          </a:p>
          <a:p>
            <a:r>
              <a:rPr lang="en-US" dirty="0"/>
              <a:t>It is of particular interest in distributed and parallel systems.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9481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Useful Allocation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Implementation structure </a:t>
            </a:r>
          </a:p>
          <a:p>
            <a:r>
              <a:rPr lang="en-US" dirty="0"/>
              <a:t>This structure shows how software elements (usually modules) are mapped to the file structure(s) in the system’s development, integration, or configuration control environments. </a:t>
            </a:r>
          </a:p>
          <a:p>
            <a:r>
              <a:rPr lang="en-US" dirty="0"/>
              <a:t>This is critical for the management of development activities and build processes. </a:t>
            </a:r>
          </a:p>
          <a:p>
            <a:pPr marL="0" indent="0">
              <a:buNone/>
            </a:pPr>
            <a:r>
              <a:rPr lang="en-US" dirty="0"/>
              <a:t>Work assignment structure</a:t>
            </a:r>
          </a:p>
          <a:p>
            <a:r>
              <a:rPr lang="en-US" dirty="0"/>
              <a:t>This structure assigns responsibility for implementing and integrating the modules to the teams who will carry it out. </a:t>
            </a:r>
          </a:p>
          <a:p>
            <a:r>
              <a:rPr lang="en-US" dirty="0"/>
              <a:t>Having a work assignment structure be part of the architecture makes it clear that the decision about who does the work has architectural as well as management implications. </a:t>
            </a:r>
          </a:p>
          <a:p>
            <a:r>
              <a:rPr lang="en-US" dirty="0"/>
              <a:t>The architect will know the expertise required on each team. </a:t>
            </a:r>
          </a:p>
          <a:p>
            <a:r>
              <a:rPr lang="en-US" dirty="0"/>
              <a:t>This structure will also determine the major communication pathways among the teams: regular teleconferences, wikis, email lists, and so forth.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1183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Relating Structures to Each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Elements of one structure will be related to elements of other structures, and we need to reason about these relations. </a:t>
            </a:r>
          </a:p>
          <a:p>
            <a:pPr lvl="1"/>
            <a:r>
              <a:rPr lang="en-US" dirty="0"/>
              <a:t>A module in a decomposition structure may be manifested as one, part of one, or several components in one of the component-and-connector structures. </a:t>
            </a:r>
          </a:p>
          <a:p>
            <a:r>
              <a:rPr lang="en-US" dirty="0"/>
              <a:t>In general, mappings between structures are many to many.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212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vs. Components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pic>
        <p:nvPicPr>
          <p:cNvPr id="5" name="Picture 4" descr="fig 1 2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340768"/>
            <a:ext cx="83439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24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Architectural elements can be composed in ways that solve particular problems. </a:t>
            </a:r>
          </a:p>
          <a:p>
            <a:pPr lvl="1"/>
            <a:r>
              <a:rPr lang="en-US" dirty="0"/>
              <a:t>The compositions have been found useful over time, and over many different domains</a:t>
            </a:r>
          </a:p>
          <a:p>
            <a:pPr lvl="1"/>
            <a:r>
              <a:rPr lang="en-US" dirty="0"/>
              <a:t>They have been documented and disseminated. </a:t>
            </a:r>
          </a:p>
          <a:p>
            <a:pPr lvl="1"/>
            <a:r>
              <a:rPr lang="en-US" dirty="0"/>
              <a:t>These compositions of architectural elements, called architectural patterns.</a:t>
            </a:r>
          </a:p>
          <a:p>
            <a:pPr lvl="1"/>
            <a:r>
              <a:rPr lang="en-US" dirty="0"/>
              <a:t>Patterns provide packaged strategies for solving some of the problems facing a system.</a:t>
            </a:r>
          </a:p>
          <a:p>
            <a:r>
              <a:rPr lang="pl-PL" dirty="0" err="1"/>
              <a:t>An</a:t>
            </a:r>
            <a:r>
              <a:rPr lang="pl-PL" dirty="0"/>
              <a:t> </a:t>
            </a:r>
            <a:r>
              <a:rPr lang="pl-PL" dirty="0" err="1"/>
              <a:t>architectural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 </a:t>
            </a:r>
            <a:r>
              <a:rPr lang="pl-PL" dirty="0" err="1"/>
              <a:t>delineates</a:t>
            </a:r>
            <a:r>
              <a:rPr lang="pl-PL" dirty="0"/>
              <a:t> the element </a:t>
            </a:r>
            <a:r>
              <a:rPr lang="pl-PL" dirty="0" err="1"/>
              <a:t>types</a:t>
            </a:r>
            <a:r>
              <a:rPr lang="pl-PL" dirty="0"/>
              <a:t> and </a:t>
            </a:r>
            <a:r>
              <a:rPr lang="pl-PL" dirty="0" err="1"/>
              <a:t>their</a:t>
            </a:r>
            <a:r>
              <a:rPr lang="pl-PL" dirty="0"/>
              <a:t> </a:t>
            </a:r>
            <a:r>
              <a:rPr lang="pl-PL" dirty="0" err="1"/>
              <a:t>forms</a:t>
            </a:r>
            <a:r>
              <a:rPr lang="pl-PL" dirty="0"/>
              <a:t> of </a:t>
            </a:r>
            <a:r>
              <a:rPr lang="pl-PL" dirty="0" err="1"/>
              <a:t>interaction</a:t>
            </a:r>
            <a:r>
              <a:rPr lang="pl-PL" dirty="0"/>
              <a:t> </a:t>
            </a:r>
            <a:r>
              <a:rPr lang="pl-PL" dirty="0" err="1"/>
              <a:t>used</a:t>
            </a:r>
            <a:r>
              <a:rPr lang="pl-PL" dirty="0"/>
              <a:t> in </a:t>
            </a:r>
            <a:r>
              <a:rPr lang="pl-PL" dirty="0" err="1"/>
              <a:t>solving</a:t>
            </a:r>
            <a:r>
              <a:rPr lang="pl-PL" dirty="0"/>
              <a:t> the problem.</a:t>
            </a:r>
          </a:p>
          <a:p>
            <a:endParaRPr lang="pl-PL" dirty="0"/>
          </a:p>
          <a:p>
            <a:r>
              <a:rPr lang="pl-PL" dirty="0"/>
              <a:t>A </a:t>
            </a:r>
            <a:r>
              <a:rPr lang="pl-PL" dirty="0" err="1"/>
              <a:t>common</a:t>
            </a:r>
            <a:r>
              <a:rPr lang="pl-PL" dirty="0"/>
              <a:t> module </a:t>
            </a:r>
            <a:r>
              <a:rPr lang="pl-PL" dirty="0" err="1"/>
              <a:t>type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the </a:t>
            </a:r>
            <a:r>
              <a:rPr lang="pl-PL" dirty="0" err="1"/>
              <a:t>Layered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. </a:t>
            </a:r>
          </a:p>
          <a:p>
            <a:pPr lvl="1"/>
            <a:r>
              <a:rPr lang="pl-PL" dirty="0" err="1"/>
              <a:t>When</a:t>
            </a:r>
            <a:r>
              <a:rPr lang="pl-PL" dirty="0"/>
              <a:t> the </a:t>
            </a:r>
            <a:r>
              <a:rPr lang="pl-PL" dirty="0" err="1"/>
              <a:t>uses</a:t>
            </a:r>
            <a:r>
              <a:rPr lang="pl-PL" dirty="0"/>
              <a:t> </a:t>
            </a:r>
            <a:r>
              <a:rPr lang="pl-PL" dirty="0" err="1"/>
              <a:t>relation</a:t>
            </a:r>
            <a:r>
              <a:rPr lang="pl-PL" dirty="0"/>
              <a:t> </a:t>
            </a:r>
            <a:r>
              <a:rPr lang="pl-PL" dirty="0" err="1"/>
              <a:t>among</a:t>
            </a:r>
            <a:r>
              <a:rPr lang="pl-PL" dirty="0"/>
              <a:t> software </a:t>
            </a:r>
            <a:r>
              <a:rPr lang="pl-PL" dirty="0" err="1"/>
              <a:t>elements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strictly</a:t>
            </a:r>
            <a:r>
              <a:rPr lang="pl-PL" dirty="0"/>
              <a:t> </a:t>
            </a:r>
            <a:r>
              <a:rPr lang="pl-PL" dirty="0" err="1"/>
              <a:t>unidirectional</a:t>
            </a:r>
            <a:r>
              <a:rPr lang="pl-PL" dirty="0"/>
              <a:t>, a system of </a:t>
            </a:r>
            <a:r>
              <a:rPr lang="pl-PL" dirty="0" err="1"/>
              <a:t>layers</a:t>
            </a:r>
            <a:r>
              <a:rPr lang="pl-PL" dirty="0"/>
              <a:t> </a:t>
            </a:r>
            <a:r>
              <a:rPr lang="pl-PL" dirty="0" err="1"/>
              <a:t>emerges</a:t>
            </a:r>
            <a:r>
              <a:rPr lang="pl-PL" dirty="0"/>
              <a:t>. </a:t>
            </a:r>
          </a:p>
          <a:p>
            <a:pPr lvl="1"/>
            <a:r>
              <a:rPr lang="pl-PL" dirty="0"/>
              <a:t>A </a:t>
            </a:r>
            <a:r>
              <a:rPr lang="pl-PL" dirty="0" err="1"/>
              <a:t>layer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a </a:t>
            </a:r>
            <a:r>
              <a:rPr lang="pl-PL" dirty="0" err="1"/>
              <a:t>coherent</a:t>
            </a:r>
            <a:r>
              <a:rPr lang="pl-PL" dirty="0"/>
              <a:t> set of </a:t>
            </a:r>
            <a:r>
              <a:rPr lang="pl-PL" dirty="0" err="1"/>
              <a:t>related</a:t>
            </a:r>
            <a:r>
              <a:rPr lang="pl-PL" dirty="0"/>
              <a:t> </a:t>
            </a:r>
            <a:r>
              <a:rPr lang="pl-PL" dirty="0" err="1"/>
              <a:t>functionality</a:t>
            </a:r>
            <a:r>
              <a:rPr lang="pl-PL" dirty="0"/>
              <a:t>. </a:t>
            </a:r>
          </a:p>
          <a:p>
            <a:pPr lvl="1"/>
            <a:r>
              <a:rPr lang="pl-PL" dirty="0"/>
              <a:t>Many </a:t>
            </a:r>
            <a:r>
              <a:rPr lang="pl-PL" dirty="0" err="1"/>
              <a:t>variations</a:t>
            </a:r>
            <a:r>
              <a:rPr lang="pl-PL" dirty="0"/>
              <a:t> of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, </a:t>
            </a:r>
            <a:r>
              <a:rPr lang="pl-PL" dirty="0" err="1"/>
              <a:t>lessening</a:t>
            </a:r>
            <a:r>
              <a:rPr lang="pl-PL" dirty="0"/>
              <a:t> the </a:t>
            </a:r>
            <a:r>
              <a:rPr lang="pl-PL" dirty="0" err="1"/>
              <a:t>structural</a:t>
            </a:r>
            <a:r>
              <a:rPr lang="pl-PL" dirty="0"/>
              <a:t> </a:t>
            </a:r>
            <a:r>
              <a:rPr lang="pl-PL" dirty="0" err="1"/>
              <a:t>restriction</a:t>
            </a:r>
            <a:r>
              <a:rPr lang="pl-PL" dirty="0"/>
              <a:t>, </a:t>
            </a:r>
            <a:r>
              <a:rPr lang="pl-PL" dirty="0" err="1"/>
              <a:t>occur</a:t>
            </a:r>
            <a:r>
              <a:rPr lang="pl-PL" dirty="0"/>
              <a:t> in </a:t>
            </a:r>
            <a:r>
              <a:rPr lang="pl-PL" dirty="0" err="1"/>
              <a:t>practice</a:t>
            </a:r>
            <a:r>
              <a:rPr lang="pl-PL" dirty="0"/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6771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l-PL" dirty="0" err="1"/>
              <a:t>Common</a:t>
            </a:r>
            <a:r>
              <a:rPr lang="pl-PL" dirty="0"/>
              <a:t> component-and-</a:t>
            </a:r>
            <a:r>
              <a:rPr lang="pl-PL" dirty="0" err="1"/>
              <a:t>connector</a:t>
            </a:r>
            <a:r>
              <a:rPr lang="pl-PL" dirty="0"/>
              <a:t> </a:t>
            </a:r>
            <a:r>
              <a:rPr lang="pl-PL" dirty="0" err="1"/>
              <a:t>type</a:t>
            </a:r>
            <a:r>
              <a:rPr lang="pl-PL" dirty="0"/>
              <a:t> </a:t>
            </a:r>
            <a:r>
              <a:rPr lang="pl-PL" dirty="0" err="1"/>
              <a:t>patterns</a:t>
            </a:r>
            <a:r>
              <a:rPr lang="pl-PL" dirty="0"/>
              <a:t>:</a:t>
            </a:r>
          </a:p>
          <a:p>
            <a:r>
              <a:rPr lang="pl-PL" dirty="0" err="1"/>
              <a:t>Shared</a:t>
            </a:r>
            <a:r>
              <a:rPr lang="pl-PL" dirty="0"/>
              <a:t>-data (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repository</a:t>
            </a:r>
            <a:r>
              <a:rPr lang="pl-PL" dirty="0"/>
              <a:t>) </a:t>
            </a:r>
            <a:r>
              <a:rPr lang="pl-PL" dirty="0" err="1"/>
              <a:t>pattern</a:t>
            </a:r>
            <a:r>
              <a:rPr lang="pl-PL" dirty="0"/>
              <a:t>. </a:t>
            </a:r>
          </a:p>
          <a:p>
            <a:pPr lvl="1"/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 </a:t>
            </a:r>
            <a:r>
              <a:rPr lang="pl-PL" dirty="0" err="1"/>
              <a:t>comprises</a:t>
            </a:r>
            <a:r>
              <a:rPr lang="pl-PL" dirty="0"/>
              <a:t> </a:t>
            </a:r>
            <a:r>
              <a:rPr lang="pl-PL" dirty="0" err="1"/>
              <a:t>components</a:t>
            </a:r>
            <a:r>
              <a:rPr lang="pl-PL" dirty="0"/>
              <a:t> and </a:t>
            </a:r>
            <a:r>
              <a:rPr lang="pl-PL" dirty="0" err="1"/>
              <a:t>connectors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create</a:t>
            </a:r>
            <a:r>
              <a:rPr lang="pl-PL" dirty="0"/>
              <a:t>, </a:t>
            </a:r>
            <a:r>
              <a:rPr lang="pl-PL" dirty="0" err="1"/>
              <a:t>store</a:t>
            </a:r>
            <a:r>
              <a:rPr lang="pl-PL" dirty="0"/>
              <a:t>, and </a:t>
            </a:r>
            <a:r>
              <a:rPr lang="pl-PL" dirty="0" err="1"/>
              <a:t>access</a:t>
            </a:r>
            <a:r>
              <a:rPr lang="pl-PL" dirty="0"/>
              <a:t> </a:t>
            </a:r>
            <a:r>
              <a:rPr lang="pl-PL" dirty="0" err="1"/>
              <a:t>persistent</a:t>
            </a:r>
            <a:r>
              <a:rPr lang="pl-PL" dirty="0"/>
              <a:t> data. </a:t>
            </a:r>
          </a:p>
          <a:p>
            <a:pPr lvl="1"/>
            <a:r>
              <a:rPr lang="pl-PL" dirty="0"/>
              <a:t>The </a:t>
            </a:r>
            <a:r>
              <a:rPr lang="pl-PL" dirty="0" err="1"/>
              <a:t>repository</a:t>
            </a:r>
            <a:r>
              <a:rPr lang="pl-PL" dirty="0"/>
              <a:t> </a:t>
            </a:r>
            <a:r>
              <a:rPr lang="pl-PL" dirty="0" err="1"/>
              <a:t>usually</a:t>
            </a:r>
            <a:r>
              <a:rPr lang="pl-PL" dirty="0"/>
              <a:t> </a:t>
            </a:r>
            <a:r>
              <a:rPr lang="pl-PL" dirty="0" err="1"/>
              <a:t>takes</a:t>
            </a:r>
            <a:r>
              <a:rPr lang="pl-PL" dirty="0"/>
              <a:t> the form of a (</a:t>
            </a:r>
            <a:r>
              <a:rPr lang="pl-PL" dirty="0" err="1"/>
              <a:t>commercial</a:t>
            </a:r>
            <a:r>
              <a:rPr lang="pl-PL" dirty="0"/>
              <a:t>) </a:t>
            </a:r>
            <a:r>
              <a:rPr lang="pl-PL" dirty="0" err="1"/>
              <a:t>database</a:t>
            </a:r>
            <a:r>
              <a:rPr lang="pl-PL" dirty="0"/>
              <a:t>. </a:t>
            </a:r>
          </a:p>
          <a:p>
            <a:pPr lvl="1"/>
            <a:r>
              <a:rPr lang="pl-PL" dirty="0"/>
              <a:t>The </a:t>
            </a:r>
            <a:r>
              <a:rPr lang="pl-PL" dirty="0" err="1"/>
              <a:t>connectors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protocols</a:t>
            </a:r>
            <a:r>
              <a:rPr lang="pl-PL" dirty="0"/>
              <a:t> for </a:t>
            </a:r>
            <a:r>
              <a:rPr lang="pl-PL" dirty="0" err="1"/>
              <a:t>managing</a:t>
            </a:r>
            <a:r>
              <a:rPr lang="pl-PL" dirty="0"/>
              <a:t> the data, </a:t>
            </a:r>
            <a:r>
              <a:rPr lang="pl-PL" dirty="0" err="1"/>
              <a:t>such</a:t>
            </a:r>
            <a:r>
              <a:rPr lang="pl-PL" dirty="0"/>
              <a:t> as SQL.</a:t>
            </a:r>
          </a:p>
          <a:p>
            <a:r>
              <a:rPr lang="pl-PL" dirty="0" err="1"/>
              <a:t>Client-server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. </a:t>
            </a:r>
          </a:p>
          <a:p>
            <a:pPr lvl="1"/>
            <a:r>
              <a:rPr lang="pl-PL" dirty="0"/>
              <a:t>The </a:t>
            </a:r>
            <a:r>
              <a:rPr lang="pl-PL" dirty="0" err="1"/>
              <a:t>components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the </a:t>
            </a:r>
            <a:r>
              <a:rPr lang="pl-PL" dirty="0" err="1"/>
              <a:t>clients</a:t>
            </a:r>
            <a:r>
              <a:rPr lang="pl-PL" dirty="0"/>
              <a:t> and the </a:t>
            </a:r>
            <a:r>
              <a:rPr lang="pl-PL" dirty="0" err="1"/>
              <a:t>servers</a:t>
            </a:r>
            <a:r>
              <a:rPr lang="pl-PL" dirty="0"/>
              <a:t>.</a:t>
            </a:r>
          </a:p>
          <a:p>
            <a:pPr lvl="1"/>
            <a:r>
              <a:rPr lang="pl-PL" dirty="0"/>
              <a:t>The </a:t>
            </a:r>
            <a:r>
              <a:rPr lang="pl-PL" dirty="0" err="1"/>
              <a:t>connectors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protocols</a:t>
            </a:r>
            <a:r>
              <a:rPr lang="pl-PL" dirty="0"/>
              <a:t> and </a:t>
            </a:r>
            <a:r>
              <a:rPr lang="pl-PL" dirty="0" err="1"/>
              <a:t>messages</a:t>
            </a:r>
            <a:r>
              <a:rPr lang="pl-PL" dirty="0"/>
              <a:t> </a:t>
            </a:r>
            <a:r>
              <a:rPr lang="pl-PL" dirty="0" err="1"/>
              <a:t>they</a:t>
            </a:r>
            <a:r>
              <a:rPr lang="pl-PL" dirty="0"/>
              <a:t> </a:t>
            </a:r>
            <a:r>
              <a:rPr lang="pl-PL" dirty="0" err="1"/>
              <a:t>share</a:t>
            </a:r>
            <a:r>
              <a:rPr lang="pl-PL" dirty="0"/>
              <a:t> </a:t>
            </a:r>
            <a:r>
              <a:rPr lang="pl-PL" dirty="0" err="1"/>
              <a:t>among</a:t>
            </a:r>
            <a:r>
              <a:rPr lang="pl-PL" dirty="0"/>
              <a:t> </a:t>
            </a:r>
            <a:r>
              <a:rPr lang="pl-PL" dirty="0" err="1"/>
              <a:t>each</a:t>
            </a:r>
            <a:r>
              <a:rPr lang="pl-PL" dirty="0"/>
              <a:t> </a:t>
            </a:r>
            <a:r>
              <a:rPr lang="pl-PL" dirty="0" err="1"/>
              <a:t>other</a:t>
            </a:r>
            <a:r>
              <a:rPr lang="pl-PL" dirty="0"/>
              <a:t> to </a:t>
            </a:r>
            <a:r>
              <a:rPr lang="pl-PL" dirty="0" err="1"/>
              <a:t>carry</a:t>
            </a:r>
            <a:r>
              <a:rPr lang="pl-PL" dirty="0"/>
              <a:t> out the </a:t>
            </a:r>
            <a:r>
              <a:rPr lang="pl-PL" dirty="0" err="1"/>
              <a:t>system’s</a:t>
            </a:r>
            <a:r>
              <a:rPr lang="pl-PL" dirty="0"/>
              <a:t> </a:t>
            </a:r>
            <a:r>
              <a:rPr lang="pl-PL" dirty="0" err="1"/>
              <a:t>work</a:t>
            </a:r>
            <a:r>
              <a:rPr lang="pl-PL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8058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l-PL" dirty="0" err="1"/>
              <a:t>Common</a:t>
            </a:r>
            <a:r>
              <a:rPr lang="pl-PL" dirty="0"/>
              <a:t> </a:t>
            </a:r>
            <a:r>
              <a:rPr lang="pl-PL" dirty="0" err="1"/>
              <a:t>allocation</a:t>
            </a:r>
            <a:r>
              <a:rPr lang="pl-PL" dirty="0"/>
              <a:t> </a:t>
            </a:r>
            <a:r>
              <a:rPr lang="pl-PL" dirty="0" err="1"/>
              <a:t>patterns</a:t>
            </a:r>
            <a:r>
              <a:rPr lang="pl-PL" dirty="0"/>
              <a:t>:</a:t>
            </a:r>
          </a:p>
          <a:p>
            <a:r>
              <a:rPr lang="pl-PL" dirty="0"/>
              <a:t>Multi-</a:t>
            </a:r>
            <a:r>
              <a:rPr lang="pl-PL" dirty="0" err="1"/>
              <a:t>tier</a:t>
            </a:r>
            <a:r>
              <a:rPr lang="pl-PL" dirty="0"/>
              <a:t> </a:t>
            </a:r>
            <a:r>
              <a:rPr lang="pl-PL" dirty="0" err="1"/>
              <a:t>pattern</a:t>
            </a:r>
            <a:endParaRPr lang="pl-PL" dirty="0"/>
          </a:p>
          <a:p>
            <a:pPr lvl="1"/>
            <a:r>
              <a:rPr lang="pl-PL" dirty="0" err="1"/>
              <a:t>Describes</a:t>
            </a:r>
            <a:r>
              <a:rPr lang="pl-PL" dirty="0"/>
              <a:t> </a:t>
            </a:r>
            <a:r>
              <a:rPr lang="pl-PL" dirty="0" err="1"/>
              <a:t>how</a:t>
            </a:r>
            <a:r>
              <a:rPr lang="pl-PL" dirty="0"/>
              <a:t> to </a:t>
            </a:r>
            <a:r>
              <a:rPr lang="pl-PL" dirty="0" err="1"/>
              <a:t>distribute</a:t>
            </a:r>
            <a:r>
              <a:rPr lang="pl-PL" dirty="0"/>
              <a:t> and </a:t>
            </a:r>
            <a:r>
              <a:rPr lang="pl-PL" dirty="0" err="1"/>
              <a:t>allocate</a:t>
            </a:r>
            <a:r>
              <a:rPr lang="pl-PL" dirty="0"/>
              <a:t> the </a:t>
            </a:r>
            <a:r>
              <a:rPr lang="pl-PL" dirty="0" err="1"/>
              <a:t>components</a:t>
            </a:r>
            <a:r>
              <a:rPr lang="pl-PL" dirty="0"/>
              <a:t> of a system in </a:t>
            </a:r>
            <a:r>
              <a:rPr lang="pl-PL" dirty="0" err="1"/>
              <a:t>distinct</a:t>
            </a:r>
            <a:r>
              <a:rPr lang="pl-PL" dirty="0"/>
              <a:t> </a:t>
            </a:r>
            <a:r>
              <a:rPr lang="pl-PL" dirty="0" err="1"/>
              <a:t>subsets</a:t>
            </a:r>
            <a:r>
              <a:rPr lang="pl-PL" dirty="0"/>
              <a:t> of hardware and software, </a:t>
            </a:r>
            <a:r>
              <a:rPr lang="pl-PL" dirty="0" err="1"/>
              <a:t>connected</a:t>
            </a:r>
            <a:r>
              <a:rPr lang="pl-PL" dirty="0"/>
              <a:t> by </a:t>
            </a:r>
            <a:r>
              <a:rPr lang="pl-PL" dirty="0" err="1"/>
              <a:t>some</a:t>
            </a:r>
            <a:r>
              <a:rPr lang="pl-PL" dirty="0"/>
              <a:t> </a:t>
            </a:r>
            <a:r>
              <a:rPr lang="pl-PL" dirty="0" err="1"/>
              <a:t>communication</a:t>
            </a:r>
            <a:r>
              <a:rPr lang="pl-PL" dirty="0"/>
              <a:t> medium. </a:t>
            </a:r>
          </a:p>
          <a:p>
            <a:pPr lvl="1"/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 </a:t>
            </a:r>
            <a:r>
              <a:rPr lang="pl-PL" dirty="0" err="1"/>
              <a:t>specializes</a:t>
            </a:r>
            <a:r>
              <a:rPr lang="pl-PL" dirty="0"/>
              <a:t> the </a:t>
            </a:r>
            <a:r>
              <a:rPr lang="pl-PL" dirty="0" err="1"/>
              <a:t>generic</a:t>
            </a:r>
            <a:r>
              <a:rPr lang="pl-PL" dirty="0"/>
              <a:t> </a:t>
            </a:r>
            <a:r>
              <a:rPr lang="pl-PL" dirty="0" err="1"/>
              <a:t>deployment</a:t>
            </a:r>
            <a:r>
              <a:rPr lang="pl-PL" dirty="0"/>
              <a:t> (software-to-hardware </a:t>
            </a:r>
            <a:r>
              <a:rPr lang="pl-PL" dirty="0" err="1"/>
              <a:t>allocation</a:t>
            </a:r>
            <a:r>
              <a:rPr lang="pl-PL" dirty="0"/>
              <a:t>) </a:t>
            </a:r>
            <a:r>
              <a:rPr lang="pl-PL" dirty="0" err="1"/>
              <a:t>structure</a:t>
            </a:r>
            <a:r>
              <a:rPr lang="pl-PL" dirty="0"/>
              <a:t>.</a:t>
            </a:r>
          </a:p>
          <a:p>
            <a:r>
              <a:rPr lang="pl-PL" dirty="0" err="1"/>
              <a:t>Competence</a:t>
            </a:r>
            <a:r>
              <a:rPr lang="pl-PL" dirty="0"/>
              <a:t> </a:t>
            </a:r>
            <a:r>
              <a:rPr lang="pl-PL" dirty="0" err="1"/>
              <a:t>center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 and platform </a:t>
            </a:r>
            <a:r>
              <a:rPr lang="pl-PL" dirty="0" err="1"/>
              <a:t>pattern</a:t>
            </a:r>
            <a:endParaRPr lang="pl-PL" dirty="0"/>
          </a:p>
          <a:p>
            <a:pPr lvl="1"/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patterns</a:t>
            </a:r>
            <a:r>
              <a:rPr lang="pl-PL" dirty="0"/>
              <a:t> </a:t>
            </a:r>
            <a:r>
              <a:rPr lang="pl-PL" dirty="0" err="1"/>
              <a:t>specialize</a:t>
            </a:r>
            <a:r>
              <a:rPr lang="pl-PL" dirty="0"/>
              <a:t> a software </a:t>
            </a:r>
            <a:r>
              <a:rPr lang="pl-PL" dirty="0" err="1"/>
              <a:t>system’s</a:t>
            </a:r>
            <a:r>
              <a:rPr lang="pl-PL" dirty="0"/>
              <a:t> </a:t>
            </a:r>
            <a:r>
              <a:rPr lang="pl-PL" dirty="0" err="1"/>
              <a:t>work</a:t>
            </a:r>
            <a:r>
              <a:rPr lang="pl-PL" dirty="0"/>
              <a:t> </a:t>
            </a:r>
            <a:r>
              <a:rPr lang="pl-PL" dirty="0" err="1"/>
              <a:t>assignment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. </a:t>
            </a:r>
          </a:p>
          <a:p>
            <a:pPr lvl="1"/>
            <a:r>
              <a:rPr lang="pl-PL" dirty="0"/>
              <a:t>In </a:t>
            </a:r>
            <a:r>
              <a:rPr lang="pl-PL" dirty="0" err="1"/>
              <a:t>competence</a:t>
            </a:r>
            <a:r>
              <a:rPr lang="pl-PL" dirty="0"/>
              <a:t> </a:t>
            </a:r>
            <a:r>
              <a:rPr lang="pl-PL" dirty="0" err="1"/>
              <a:t>center</a:t>
            </a:r>
            <a:r>
              <a:rPr lang="pl-PL" dirty="0"/>
              <a:t>, </a:t>
            </a:r>
            <a:r>
              <a:rPr lang="pl-PL" dirty="0" err="1"/>
              <a:t>work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allocated</a:t>
            </a:r>
            <a:r>
              <a:rPr lang="pl-PL" dirty="0"/>
              <a:t> to </a:t>
            </a:r>
            <a:r>
              <a:rPr lang="pl-PL" dirty="0" err="1"/>
              <a:t>sites</a:t>
            </a:r>
            <a:r>
              <a:rPr lang="pl-PL" dirty="0"/>
              <a:t> </a:t>
            </a:r>
            <a:r>
              <a:rPr lang="pl-PL" dirty="0" err="1"/>
              <a:t>depending</a:t>
            </a:r>
            <a:r>
              <a:rPr lang="pl-PL" dirty="0"/>
              <a:t> on the </a:t>
            </a:r>
            <a:r>
              <a:rPr lang="pl-PL" dirty="0" err="1"/>
              <a:t>technical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domain</a:t>
            </a:r>
            <a:r>
              <a:rPr lang="pl-PL" dirty="0"/>
              <a:t> </a:t>
            </a:r>
            <a:r>
              <a:rPr lang="pl-PL" dirty="0" err="1"/>
              <a:t>expertise</a:t>
            </a:r>
            <a:r>
              <a:rPr lang="pl-PL" dirty="0"/>
              <a:t> </a:t>
            </a:r>
            <a:r>
              <a:rPr lang="pl-PL" dirty="0" err="1"/>
              <a:t>located</a:t>
            </a:r>
            <a:r>
              <a:rPr lang="pl-PL" dirty="0"/>
              <a:t> </a:t>
            </a:r>
            <a:r>
              <a:rPr lang="pl-PL" dirty="0" err="1"/>
              <a:t>at</a:t>
            </a:r>
            <a:r>
              <a:rPr lang="pl-PL" dirty="0"/>
              <a:t> a </a:t>
            </a:r>
            <a:r>
              <a:rPr lang="pl-PL" dirty="0" err="1"/>
              <a:t>site</a:t>
            </a:r>
            <a:r>
              <a:rPr lang="pl-PL" dirty="0"/>
              <a:t>. </a:t>
            </a:r>
          </a:p>
          <a:p>
            <a:pPr lvl="1"/>
            <a:r>
              <a:rPr lang="pl-PL" dirty="0"/>
              <a:t>In platform, one </a:t>
            </a:r>
            <a:r>
              <a:rPr lang="pl-PL" dirty="0" err="1"/>
              <a:t>site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tasked</a:t>
            </a:r>
            <a:r>
              <a:rPr lang="pl-PL" dirty="0"/>
              <a:t> with developing </a:t>
            </a:r>
            <a:r>
              <a:rPr lang="pl-PL" dirty="0" err="1"/>
              <a:t>reusable</a:t>
            </a:r>
            <a:r>
              <a:rPr lang="pl-PL" dirty="0"/>
              <a:t> </a:t>
            </a:r>
            <a:r>
              <a:rPr lang="pl-PL" dirty="0" err="1"/>
              <a:t>core</a:t>
            </a:r>
            <a:r>
              <a:rPr lang="pl-PL" dirty="0"/>
              <a:t> </a:t>
            </a:r>
            <a:r>
              <a:rPr lang="pl-PL" dirty="0" err="1"/>
              <a:t>assets</a:t>
            </a:r>
            <a:r>
              <a:rPr lang="pl-PL" dirty="0"/>
              <a:t> of a software </a:t>
            </a:r>
            <a:r>
              <a:rPr lang="pl-PL" dirty="0" err="1"/>
              <a:t>product</a:t>
            </a:r>
            <a:r>
              <a:rPr lang="pl-PL" dirty="0"/>
              <a:t> </a:t>
            </a:r>
            <a:r>
              <a:rPr lang="pl-PL" dirty="0" err="1"/>
              <a:t>line</a:t>
            </a:r>
            <a:r>
              <a:rPr lang="pl-PL" dirty="0"/>
              <a:t>, and </a:t>
            </a:r>
            <a:r>
              <a:rPr lang="pl-PL" dirty="0" err="1"/>
              <a:t>other</a:t>
            </a:r>
            <a:r>
              <a:rPr lang="pl-PL" dirty="0"/>
              <a:t> </a:t>
            </a:r>
            <a:r>
              <a:rPr lang="pl-PL" dirty="0" err="1"/>
              <a:t>sites</a:t>
            </a:r>
            <a:r>
              <a:rPr lang="pl-PL" dirty="0"/>
              <a:t> </a:t>
            </a:r>
            <a:r>
              <a:rPr lang="pl-PL" dirty="0" err="1"/>
              <a:t>develop</a:t>
            </a:r>
            <a:r>
              <a:rPr lang="pl-PL" dirty="0"/>
              <a:t> </a:t>
            </a:r>
            <a:r>
              <a:rPr lang="pl-PL" dirty="0" err="1"/>
              <a:t>applications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the </a:t>
            </a:r>
            <a:r>
              <a:rPr lang="pl-PL" dirty="0" err="1"/>
              <a:t>core</a:t>
            </a:r>
            <a:r>
              <a:rPr lang="pl-PL" dirty="0"/>
              <a:t> </a:t>
            </a:r>
            <a:r>
              <a:rPr lang="pl-PL" dirty="0" err="1"/>
              <a:t>assets</a:t>
            </a:r>
            <a:r>
              <a:rPr lang="pl-PL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3416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“Rules of Thumb”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 lnSpcReduction="10000"/>
          </a:bodyPr>
          <a:lstStyle/>
          <a:p>
            <a:r>
              <a:rPr lang="pl-PL" sz="2000" dirty="0"/>
              <a:t>The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should</a:t>
            </a:r>
            <a:r>
              <a:rPr lang="pl-PL" sz="2000" dirty="0"/>
              <a:t> be the </a:t>
            </a:r>
            <a:r>
              <a:rPr lang="pl-PL" sz="2000" dirty="0" err="1"/>
              <a:t>product</a:t>
            </a:r>
            <a:r>
              <a:rPr lang="pl-PL" sz="2000" dirty="0"/>
              <a:t> of a single </a:t>
            </a:r>
            <a:r>
              <a:rPr lang="pl-PL" sz="2000" dirty="0" err="1"/>
              <a:t>architect</a:t>
            </a:r>
            <a:r>
              <a:rPr lang="pl-PL" sz="2000" dirty="0"/>
              <a:t> </a:t>
            </a:r>
            <a:r>
              <a:rPr lang="pl-PL" sz="2000" dirty="0" err="1"/>
              <a:t>or</a:t>
            </a:r>
            <a:r>
              <a:rPr lang="pl-PL" sz="2000" dirty="0"/>
              <a:t> a small </a:t>
            </a:r>
            <a:r>
              <a:rPr lang="pl-PL" sz="2000" dirty="0" err="1"/>
              <a:t>group</a:t>
            </a:r>
            <a:r>
              <a:rPr lang="pl-PL" sz="2000" dirty="0"/>
              <a:t> of </a:t>
            </a:r>
            <a:r>
              <a:rPr lang="pl-PL" sz="2000" dirty="0" err="1"/>
              <a:t>architects</a:t>
            </a:r>
            <a:r>
              <a:rPr lang="pl-PL" sz="2000" dirty="0"/>
              <a:t> with </a:t>
            </a:r>
            <a:r>
              <a:rPr lang="pl-PL" sz="2000" dirty="0" err="1"/>
              <a:t>an</a:t>
            </a:r>
            <a:r>
              <a:rPr lang="pl-PL" sz="2000" dirty="0"/>
              <a:t> </a:t>
            </a:r>
            <a:r>
              <a:rPr lang="pl-PL" sz="2000" dirty="0" err="1"/>
              <a:t>identified</a:t>
            </a:r>
            <a:r>
              <a:rPr lang="pl-PL" sz="2000" dirty="0"/>
              <a:t> </a:t>
            </a:r>
            <a:r>
              <a:rPr lang="pl-PL" sz="2000" dirty="0" err="1"/>
              <a:t>technical</a:t>
            </a:r>
            <a:r>
              <a:rPr lang="pl-PL" sz="2000" dirty="0"/>
              <a:t> leader. </a:t>
            </a:r>
          </a:p>
          <a:p>
            <a:pPr lvl="1"/>
            <a:r>
              <a:rPr lang="pl-PL" sz="1600" dirty="0" err="1"/>
              <a:t>This</a:t>
            </a:r>
            <a:r>
              <a:rPr lang="pl-PL" sz="1600" dirty="0"/>
              <a:t> </a:t>
            </a:r>
            <a:r>
              <a:rPr lang="pl-PL" sz="1600" dirty="0" err="1"/>
              <a:t>approach</a:t>
            </a:r>
            <a:r>
              <a:rPr lang="pl-PL" sz="1600" dirty="0"/>
              <a:t> </a:t>
            </a:r>
            <a:r>
              <a:rPr lang="pl-PL" sz="1600" dirty="0" err="1"/>
              <a:t>gives</a:t>
            </a:r>
            <a:r>
              <a:rPr lang="pl-PL" sz="1600" dirty="0"/>
              <a:t> the </a:t>
            </a:r>
            <a:r>
              <a:rPr lang="pl-PL" sz="1600" dirty="0" err="1"/>
              <a:t>architecture</a:t>
            </a:r>
            <a:r>
              <a:rPr lang="pl-PL" sz="1600" dirty="0"/>
              <a:t> </a:t>
            </a:r>
            <a:r>
              <a:rPr lang="pl-PL" sz="1600" dirty="0" err="1"/>
              <a:t>its</a:t>
            </a:r>
            <a:r>
              <a:rPr lang="pl-PL" sz="1600" dirty="0"/>
              <a:t> </a:t>
            </a:r>
            <a:r>
              <a:rPr lang="pl-PL" sz="1600" dirty="0" err="1"/>
              <a:t>conceptual</a:t>
            </a:r>
            <a:r>
              <a:rPr lang="pl-PL" sz="1600" dirty="0"/>
              <a:t> </a:t>
            </a:r>
            <a:r>
              <a:rPr lang="pl-PL" sz="1600" dirty="0" err="1"/>
              <a:t>integrity</a:t>
            </a:r>
            <a:r>
              <a:rPr lang="pl-PL" sz="1600" dirty="0"/>
              <a:t> and </a:t>
            </a:r>
            <a:r>
              <a:rPr lang="pl-PL" sz="1600" dirty="0" err="1"/>
              <a:t>technical</a:t>
            </a:r>
            <a:r>
              <a:rPr lang="pl-PL" sz="1600" dirty="0"/>
              <a:t> </a:t>
            </a:r>
            <a:r>
              <a:rPr lang="pl-PL" sz="1600" dirty="0" err="1"/>
              <a:t>consistency</a:t>
            </a:r>
            <a:r>
              <a:rPr lang="pl-PL" sz="1600" dirty="0"/>
              <a:t>. </a:t>
            </a:r>
          </a:p>
          <a:p>
            <a:pPr lvl="1"/>
            <a:r>
              <a:rPr lang="pl-PL" sz="1600" dirty="0" err="1"/>
              <a:t>This</a:t>
            </a:r>
            <a:r>
              <a:rPr lang="pl-PL" sz="1600" dirty="0"/>
              <a:t> </a:t>
            </a:r>
            <a:r>
              <a:rPr lang="pl-PL" sz="1600" dirty="0" err="1"/>
              <a:t>recommendation</a:t>
            </a:r>
            <a:r>
              <a:rPr lang="pl-PL" sz="1600" dirty="0"/>
              <a:t> </a:t>
            </a:r>
            <a:r>
              <a:rPr lang="pl-PL" sz="1600" dirty="0" err="1"/>
              <a:t>holds</a:t>
            </a:r>
            <a:r>
              <a:rPr lang="pl-PL" sz="1600" dirty="0"/>
              <a:t> for Agile and open </a:t>
            </a:r>
            <a:r>
              <a:rPr lang="pl-PL" sz="1600" dirty="0" err="1"/>
              <a:t>source</a:t>
            </a:r>
            <a:r>
              <a:rPr lang="pl-PL" sz="1600" dirty="0"/>
              <a:t> </a:t>
            </a:r>
            <a:r>
              <a:rPr lang="pl-PL" sz="1600" dirty="0" err="1"/>
              <a:t>projects</a:t>
            </a:r>
            <a:r>
              <a:rPr lang="pl-PL" sz="1600" dirty="0"/>
              <a:t> as </a:t>
            </a:r>
            <a:r>
              <a:rPr lang="pl-PL" sz="1600" dirty="0" err="1"/>
              <a:t>well</a:t>
            </a:r>
            <a:r>
              <a:rPr lang="pl-PL" sz="1600" dirty="0"/>
              <a:t> as “</a:t>
            </a:r>
            <a:r>
              <a:rPr lang="pl-PL" sz="1600" dirty="0" err="1"/>
              <a:t>traditional</a:t>
            </a:r>
            <a:r>
              <a:rPr lang="pl-PL" sz="1600" dirty="0"/>
              <a:t>” </a:t>
            </a:r>
            <a:r>
              <a:rPr lang="pl-PL" sz="1600" dirty="0" err="1"/>
              <a:t>ones</a:t>
            </a:r>
            <a:r>
              <a:rPr lang="pl-PL" sz="1600" dirty="0"/>
              <a:t>. </a:t>
            </a:r>
          </a:p>
          <a:p>
            <a:pPr lvl="1"/>
            <a:r>
              <a:rPr lang="pl-PL" sz="1600" dirty="0" err="1"/>
              <a:t>There</a:t>
            </a:r>
            <a:r>
              <a:rPr lang="pl-PL" sz="1600" dirty="0"/>
              <a:t> </a:t>
            </a:r>
            <a:r>
              <a:rPr lang="pl-PL" sz="1600" dirty="0" err="1"/>
              <a:t>should</a:t>
            </a:r>
            <a:r>
              <a:rPr lang="pl-PL" sz="1600" dirty="0"/>
              <a:t> be a </a:t>
            </a:r>
            <a:r>
              <a:rPr lang="pl-PL" sz="1600" dirty="0" err="1"/>
              <a:t>strong</a:t>
            </a:r>
            <a:r>
              <a:rPr lang="pl-PL" sz="1600" dirty="0"/>
              <a:t> </a:t>
            </a:r>
            <a:r>
              <a:rPr lang="pl-PL" sz="1600" dirty="0" err="1"/>
              <a:t>connection</a:t>
            </a:r>
            <a:r>
              <a:rPr lang="pl-PL" sz="1600" dirty="0"/>
              <a:t> </a:t>
            </a:r>
            <a:r>
              <a:rPr lang="pl-PL" sz="1600" dirty="0" err="1"/>
              <a:t>between</a:t>
            </a:r>
            <a:r>
              <a:rPr lang="pl-PL" sz="1600" dirty="0"/>
              <a:t> the </a:t>
            </a:r>
            <a:r>
              <a:rPr lang="pl-PL" sz="1600" dirty="0" err="1"/>
              <a:t>architect</a:t>
            </a:r>
            <a:r>
              <a:rPr lang="pl-PL" sz="1600" dirty="0"/>
              <a:t>(s) and the development team.</a:t>
            </a:r>
          </a:p>
          <a:p>
            <a:r>
              <a:rPr lang="pl-PL" sz="2000" dirty="0"/>
              <a:t>The </a:t>
            </a:r>
            <a:r>
              <a:rPr lang="pl-PL" sz="2000" dirty="0" err="1"/>
              <a:t>architect</a:t>
            </a:r>
            <a:r>
              <a:rPr lang="pl-PL" sz="2000" dirty="0"/>
              <a:t> (</a:t>
            </a:r>
            <a:r>
              <a:rPr lang="pl-PL" sz="2000" dirty="0" err="1"/>
              <a:t>or</a:t>
            </a:r>
            <a:r>
              <a:rPr lang="pl-PL" sz="2000" dirty="0"/>
              <a:t> </a:t>
            </a:r>
            <a:r>
              <a:rPr lang="pl-PL" sz="2000" dirty="0" err="1"/>
              <a:t>architecture</a:t>
            </a:r>
            <a:r>
              <a:rPr lang="pl-PL" sz="2000" dirty="0"/>
              <a:t> team) </a:t>
            </a:r>
            <a:r>
              <a:rPr lang="pl-PL" sz="2000" dirty="0" err="1"/>
              <a:t>should</a:t>
            </a:r>
            <a:r>
              <a:rPr lang="pl-PL" sz="2000" dirty="0"/>
              <a:t> </a:t>
            </a:r>
            <a:r>
              <a:rPr lang="pl-PL" sz="2000" dirty="0" err="1"/>
              <a:t>base</a:t>
            </a:r>
            <a:r>
              <a:rPr lang="pl-PL" sz="2000" dirty="0"/>
              <a:t> the </a:t>
            </a:r>
            <a:r>
              <a:rPr lang="pl-PL" sz="2000" dirty="0" err="1"/>
              <a:t>architecture</a:t>
            </a:r>
            <a:r>
              <a:rPr lang="pl-PL" sz="2000" dirty="0"/>
              <a:t> on a </a:t>
            </a:r>
            <a:r>
              <a:rPr lang="pl-PL" sz="2000" dirty="0" err="1"/>
              <a:t>prioritized</a:t>
            </a:r>
            <a:r>
              <a:rPr lang="pl-PL" sz="2000" dirty="0"/>
              <a:t> list of </a:t>
            </a:r>
            <a:r>
              <a:rPr lang="pl-PL" sz="2000" dirty="0" err="1"/>
              <a:t>well-specified</a:t>
            </a:r>
            <a:r>
              <a:rPr lang="pl-PL" sz="2000" dirty="0"/>
              <a:t> </a:t>
            </a:r>
            <a:r>
              <a:rPr lang="pl-PL" sz="2000" dirty="0" err="1"/>
              <a:t>quality</a:t>
            </a:r>
            <a:r>
              <a:rPr lang="pl-PL" sz="2000" dirty="0"/>
              <a:t> </a:t>
            </a:r>
            <a:r>
              <a:rPr lang="pl-PL" sz="2000" dirty="0" err="1"/>
              <a:t>attribute</a:t>
            </a:r>
            <a:r>
              <a:rPr lang="pl-PL" sz="2000" dirty="0"/>
              <a:t> </a:t>
            </a:r>
            <a:r>
              <a:rPr lang="pl-PL" sz="2000" dirty="0" err="1"/>
              <a:t>requirements</a:t>
            </a:r>
            <a:r>
              <a:rPr lang="pl-PL" sz="2000" dirty="0"/>
              <a:t>. </a:t>
            </a:r>
          </a:p>
          <a:p>
            <a:r>
              <a:rPr lang="pl-PL" sz="2000" dirty="0"/>
              <a:t>The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should</a:t>
            </a:r>
            <a:r>
              <a:rPr lang="pl-PL" sz="2000" dirty="0"/>
              <a:t> be </a:t>
            </a:r>
            <a:r>
              <a:rPr lang="pl-PL" sz="2000" dirty="0" err="1"/>
              <a:t>documented</a:t>
            </a:r>
            <a:r>
              <a:rPr lang="pl-PL" sz="2000" dirty="0"/>
              <a:t> </a:t>
            </a:r>
            <a:r>
              <a:rPr lang="pl-PL" sz="2000" dirty="0" err="1"/>
              <a:t>using</a:t>
            </a:r>
            <a:r>
              <a:rPr lang="pl-PL" sz="2000" dirty="0"/>
              <a:t> </a:t>
            </a:r>
            <a:r>
              <a:rPr lang="pl-PL" sz="2000" dirty="0" err="1"/>
              <a:t>views</a:t>
            </a:r>
            <a:r>
              <a:rPr lang="pl-PL" sz="2000" dirty="0"/>
              <a:t>. The </a:t>
            </a:r>
            <a:r>
              <a:rPr lang="pl-PL" sz="2000" dirty="0" err="1"/>
              <a:t>views</a:t>
            </a:r>
            <a:r>
              <a:rPr lang="pl-PL" sz="2000" dirty="0"/>
              <a:t> </a:t>
            </a:r>
            <a:r>
              <a:rPr lang="pl-PL" sz="2000" dirty="0" err="1"/>
              <a:t>should</a:t>
            </a:r>
            <a:r>
              <a:rPr lang="pl-PL" sz="2000" dirty="0"/>
              <a:t> </a:t>
            </a:r>
            <a:r>
              <a:rPr lang="pl-PL" sz="2000" dirty="0" err="1"/>
              <a:t>address</a:t>
            </a:r>
            <a:r>
              <a:rPr lang="pl-PL" sz="2000" dirty="0"/>
              <a:t> the </a:t>
            </a:r>
            <a:r>
              <a:rPr lang="pl-PL" sz="2000" dirty="0" err="1"/>
              <a:t>concerns</a:t>
            </a:r>
            <a:r>
              <a:rPr lang="pl-PL" sz="2000" dirty="0"/>
              <a:t> of the most </a:t>
            </a:r>
            <a:r>
              <a:rPr lang="pl-PL" sz="2000" dirty="0" err="1"/>
              <a:t>important</a:t>
            </a:r>
            <a:r>
              <a:rPr lang="pl-PL" sz="2000" dirty="0"/>
              <a:t> </a:t>
            </a:r>
            <a:r>
              <a:rPr lang="pl-PL" sz="2000" dirty="0" err="1"/>
              <a:t>stakeholders</a:t>
            </a:r>
            <a:r>
              <a:rPr lang="pl-PL" sz="2000" dirty="0"/>
              <a:t> in </a:t>
            </a:r>
            <a:r>
              <a:rPr lang="pl-PL" sz="2000" dirty="0" err="1"/>
              <a:t>support</a:t>
            </a:r>
            <a:r>
              <a:rPr lang="pl-PL" sz="2000" dirty="0"/>
              <a:t> of the </a:t>
            </a:r>
            <a:r>
              <a:rPr lang="pl-PL" sz="2000" dirty="0" err="1"/>
              <a:t>project</a:t>
            </a:r>
            <a:r>
              <a:rPr lang="pl-PL" sz="2000" dirty="0"/>
              <a:t> </a:t>
            </a:r>
            <a:r>
              <a:rPr lang="pl-PL" sz="2000" dirty="0" err="1"/>
              <a:t>timeline</a:t>
            </a:r>
            <a:r>
              <a:rPr lang="pl-PL" sz="2000" dirty="0"/>
              <a:t>. </a:t>
            </a:r>
          </a:p>
          <a:p>
            <a:r>
              <a:rPr lang="pl-PL" sz="2000" dirty="0"/>
              <a:t>The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should</a:t>
            </a:r>
            <a:r>
              <a:rPr lang="pl-PL" sz="2000" dirty="0"/>
              <a:t> be </a:t>
            </a:r>
            <a:r>
              <a:rPr lang="pl-PL" sz="2000" dirty="0" err="1"/>
              <a:t>evaluated</a:t>
            </a:r>
            <a:r>
              <a:rPr lang="pl-PL" sz="2000" dirty="0"/>
              <a:t> for </a:t>
            </a:r>
            <a:r>
              <a:rPr lang="pl-PL" sz="2000" dirty="0" err="1"/>
              <a:t>its</a:t>
            </a:r>
            <a:r>
              <a:rPr lang="pl-PL" sz="2000" dirty="0"/>
              <a:t> </a:t>
            </a:r>
            <a:r>
              <a:rPr lang="pl-PL" sz="2000" dirty="0" err="1"/>
              <a:t>ability</a:t>
            </a:r>
            <a:r>
              <a:rPr lang="pl-PL" sz="2000" dirty="0"/>
              <a:t> to </a:t>
            </a:r>
            <a:r>
              <a:rPr lang="pl-PL" sz="2000" dirty="0" err="1"/>
              <a:t>deliver</a:t>
            </a:r>
            <a:r>
              <a:rPr lang="pl-PL" sz="2000" dirty="0"/>
              <a:t> the </a:t>
            </a:r>
            <a:r>
              <a:rPr lang="pl-PL" sz="2000" dirty="0" err="1"/>
              <a:t>system’s</a:t>
            </a:r>
            <a:r>
              <a:rPr lang="pl-PL" sz="2000" dirty="0"/>
              <a:t> </a:t>
            </a:r>
            <a:r>
              <a:rPr lang="pl-PL" sz="2000" dirty="0" err="1"/>
              <a:t>important</a:t>
            </a:r>
            <a:r>
              <a:rPr lang="pl-PL" sz="2000" dirty="0"/>
              <a:t> </a:t>
            </a:r>
            <a:r>
              <a:rPr lang="pl-PL" sz="2000" dirty="0" err="1"/>
              <a:t>quality</a:t>
            </a:r>
            <a:r>
              <a:rPr lang="pl-PL" sz="2000" dirty="0"/>
              <a:t> </a:t>
            </a:r>
            <a:r>
              <a:rPr lang="pl-PL" sz="2000" dirty="0" err="1"/>
              <a:t>attributes</a:t>
            </a:r>
            <a:r>
              <a:rPr lang="pl-PL" sz="2000" dirty="0"/>
              <a:t>. </a:t>
            </a:r>
          </a:p>
          <a:p>
            <a:pPr lvl="1"/>
            <a:r>
              <a:rPr lang="pl-PL" sz="1600" dirty="0" err="1"/>
              <a:t>This</a:t>
            </a:r>
            <a:r>
              <a:rPr lang="pl-PL" sz="1600" dirty="0"/>
              <a:t> </a:t>
            </a:r>
            <a:r>
              <a:rPr lang="pl-PL" sz="1600" dirty="0" err="1"/>
              <a:t>should</a:t>
            </a:r>
            <a:r>
              <a:rPr lang="pl-PL" sz="1600" dirty="0"/>
              <a:t> </a:t>
            </a:r>
            <a:r>
              <a:rPr lang="pl-PL" sz="1600" dirty="0" err="1"/>
              <a:t>occur</a:t>
            </a:r>
            <a:r>
              <a:rPr lang="pl-PL" sz="1600" dirty="0"/>
              <a:t> </a:t>
            </a:r>
            <a:r>
              <a:rPr lang="pl-PL" sz="1600" dirty="0" err="1"/>
              <a:t>early</a:t>
            </a:r>
            <a:r>
              <a:rPr lang="pl-PL" sz="1600" dirty="0"/>
              <a:t> in the life </a:t>
            </a:r>
            <a:r>
              <a:rPr lang="pl-PL" sz="1600" dirty="0" err="1"/>
              <a:t>cycle</a:t>
            </a:r>
            <a:r>
              <a:rPr lang="pl-PL" sz="1600" dirty="0"/>
              <a:t> and </a:t>
            </a:r>
            <a:r>
              <a:rPr lang="pl-PL" sz="1600" dirty="0" err="1"/>
              <a:t>repeated</a:t>
            </a:r>
            <a:r>
              <a:rPr lang="pl-PL" sz="1600" dirty="0"/>
              <a:t> as </a:t>
            </a:r>
            <a:r>
              <a:rPr lang="pl-PL" sz="1600" dirty="0" err="1"/>
              <a:t>appropriate</a:t>
            </a:r>
            <a:r>
              <a:rPr lang="pl-PL" sz="1600" dirty="0"/>
              <a:t>.</a:t>
            </a:r>
          </a:p>
          <a:p>
            <a:r>
              <a:rPr lang="pl-PL" sz="2000" dirty="0"/>
              <a:t>The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should</a:t>
            </a:r>
            <a:r>
              <a:rPr lang="pl-PL" sz="2000" dirty="0"/>
              <a:t> </a:t>
            </a:r>
            <a:r>
              <a:rPr lang="pl-PL" sz="2000" dirty="0" err="1"/>
              <a:t>lend</a:t>
            </a:r>
            <a:r>
              <a:rPr lang="pl-PL" sz="2000" dirty="0"/>
              <a:t> </a:t>
            </a:r>
            <a:r>
              <a:rPr lang="pl-PL" sz="2000" dirty="0" err="1"/>
              <a:t>itself</a:t>
            </a:r>
            <a:r>
              <a:rPr lang="pl-PL" sz="2000" dirty="0"/>
              <a:t> to </a:t>
            </a:r>
            <a:r>
              <a:rPr lang="pl-PL" sz="2000" dirty="0" err="1"/>
              <a:t>incremental</a:t>
            </a:r>
            <a:r>
              <a:rPr lang="pl-PL" sz="2000" dirty="0"/>
              <a:t> </a:t>
            </a:r>
            <a:r>
              <a:rPr lang="pl-PL" sz="2000" dirty="0" err="1"/>
              <a:t>implementation</a:t>
            </a:r>
            <a:r>
              <a:rPr lang="pl-PL" sz="2000" dirty="0"/>
              <a:t>, </a:t>
            </a:r>
          </a:p>
          <a:p>
            <a:pPr lvl="1"/>
            <a:r>
              <a:rPr lang="pl-PL" sz="1600" dirty="0" err="1"/>
              <a:t>Create</a:t>
            </a:r>
            <a:r>
              <a:rPr lang="pl-PL" sz="1600" dirty="0"/>
              <a:t> a “</a:t>
            </a:r>
            <a:r>
              <a:rPr lang="pl-PL" sz="1600" dirty="0" err="1"/>
              <a:t>skeletal</a:t>
            </a:r>
            <a:r>
              <a:rPr lang="pl-PL" sz="1600" dirty="0"/>
              <a:t>” system in </a:t>
            </a:r>
            <a:r>
              <a:rPr lang="pl-PL" sz="1600" dirty="0" err="1"/>
              <a:t>which</a:t>
            </a:r>
            <a:r>
              <a:rPr lang="pl-PL" sz="1600" dirty="0"/>
              <a:t> the </a:t>
            </a:r>
            <a:r>
              <a:rPr lang="pl-PL" sz="1600" dirty="0" err="1"/>
              <a:t>communication</a:t>
            </a:r>
            <a:r>
              <a:rPr lang="pl-PL" sz="1600" dirty="0"/>
              <a:t> </a:t>
            </a:r>
            <a:r>
              <a:rPr lang="pl-PL" sz="1600" dirty="0" err="1"/>
              <a:t>paths</a:t>
            </a:r>
            <a:r>
              <a:rPr lang="pl-PL" sz="1600" dirty="0"/>
              <a:t> </a:t>
            </a:r>
            <a:r>
              <a:rPr lang="pl-PL" sz="1600" dirty="0" err="1"/>
              <a:t>are</a:t>
            </a:r>
            <a:r>
              <a:rPr lang="pl-PL" sz="1600" dirty="0"/>
              <a:t> </a:t>
            </a:r>
            <a:r>
              <a:rPr lang="pl-PL" sz="1600" dirty="0" err="1"/>
              <a:t>exercised</a:t>
            </a:r>
            <a:r>
              <a:rPr lang="pl-PL" sz="1600" dirty="0"/>
              <a:t> but </a:t>
            </a:r>
            <a:r>
              <a:rPr lang="pl-PL" sz="1600" dirty="0" err="1"/>
              <a:t>which</a:t>
            </a:r>
            <a:r>
              <a:rPr lang="pl-PL" sz="1600" dirty="0"/>
              <a:t> </a:t>
            </a:r>
            <a:r>
              <a:rPr lang="pl-PL" sz="1600" dirty="0" err="1"/>
              <a:t>at</a:t>
            </a:r>
            <a:r>
              <a:rPr lang="pl-PL" sz="1600" dirty="0"/>
              <a:t> </a:t>
            </a:r>
            <a:r>
              <a:rPr lang="pl-PL" sz="1600" dirty="0" err="1"/>
              <a:t>first</a:t>
            </a:r>
            <a:r>
              <a:rPr lang="pl-PL" sz="1600" dirty="0"/>
              <a:t> </a:t>
            </a:r>
            <a:r>
              <a:rPr lang="pl-PL" sz="1600" dirty="0" err="1"/>
              <a:t>has</a:t>
            </a:r>
            <a:r>
              <a:rPr lang="pl-PL" sz="1600" dirty="0"/>
              <a:t> </a:t>
            </a:r>
            <a:r>
              <a:rPr lang="pl-PL" sz="1600" dirty="0" err="1"/>
              <a:t>minimal</a:t>
            </a:r>
            <a:r>
              <a:rPr lang="pl-PL" sz="1600" dirty="0"/>
              <a:t> </a:t>
            </a:r>
            <a:r>
              <a:rPr lang="pl-PL" sz="1600" dirty="0" err="1"/>
              <a:t>functionality</a:t>
            </a:r>
            <a:r>
              <a:rPr lang="pl-PL" sz="1600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3774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“Rules of Thumb”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l-PL" dirty="0"/>
              <a:t>The </a:t>
            </a:r>
            <a:r>
              <a:rPr lang="pl-PL" dirty="0" err="1"/>
              <a:t>architecture</a:t>
            </a:r>
            <a:r>
              <a:rPr lang="pl-PL" dirty="0"/>
              <a:t> </a:t>
            </a:r>
            <a:r>
              <a:rPr lang="pl-PL" dirty="0" err="1"/>
              <a:t>should</a:t>
            </a:r>
            <a:r>
              <a:rPr lang="pl-PL" dirty="0"/>
              <a:t> </a:t>
            </a:r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well-defined</a:t>
            </a:r>
            <a:r>
              <a:rPr lang="pl-PL" dirty="0"/>
              <a:t> </a:t>
            </a:r>
            <a:r>
              <a:rPr lang="pl-PL" dirty="0" err="1"/>
              <a:t>modules</a:t>
            </a:r>
            <a:r>
              <a:rPr lang="pl-PL" dirty="0"/>
              <a:t> </a:t>
            </a:r>
            <a:r>
              <a:rPr lang="pl-PL" dirty="0" err="1"/>
              <a:t>whose</a:t>
            </a:r>
            <a:r>
              <a:rPr lang="pl-PL" dirty="0"/>
              <a:t> </a:t>
            </a:r>
            <a:r>
              <a:rPr lang="pl-PL" dirty="0" err="1"/>
              <a:t>functional</a:t>
            </a:r>
            <a:r>
              <a:rPr lang="pl-PL" dirty="0"/>
              <a:t> </a:t>
            </a:r>
            <a:r>
              <a:rPr lang="pl-PL" dirty="0" err="1"/>
              <a:t>responsibilities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assigned</a:t>
            </a:r>
            <a:r>
              <a:rPr lang="pl-PL" dirty="0"/>
              <a:t> on the </a:t>
            </a:r>
            <a:r>
              <a:rPr lang="pl-PL" dirty="0" err="1"/>
              <a:t>principles</a:t>
            </a:r>
            <a:r>
              <a:rPr lang="pl-PL" dirty="0"/>
              <a:t> of </a:t>
            </a:r>
            <a:r>
              <a:rPr lang="pl-PL" dirty="0" err="1"/>
              <a:t>information</a:t>
            </a:r>
            <a:r>
              <a:rPr lang="pl-PL" dirty="0"/>
              <a:t> </a:t>
            </a:r>
            <a:r>
              <a:rPr lang="pl-PL" dirty="0" err="1"/>
              <a:t>hiding</a:t>
            </a:r>
            <a:r>
              <a:rPr lang="pl-PL" dirty="0"/>
              <a:t> and </a:t>
            </a:r>
            <a:r>
              <a:rPr lang="en-US" dirty="0"/>
              <a:t>separation of concerns. </a:t>
            </a:r>
          </a:p>
          <a:p>
            <a:pPr lvl="1"/>
            <a:r>
              <a:rPr lang="en-US" dirty="0"/>
              <a:t>The information-hiding modules should encapsulate things likely to change</a:t>
            </a:r>
          </a:p>
          <a:p>
            <a:pPr lvl="1"/>
            <a:r>
              <a:rPr lang="en-US" dirty="0"/>
              <a:t>Each module should have a well-defined interface that encapsulates or “hides” the changeable aspects from other software </a:t>
            </a:r>
          </a:p>
          <a:p>
            <a:r>
              <a:rPr lang="en-US" dirty="0"/>
              <a:t>Unless your requirements are unprecedented your quality attributes should be achieved using well-known architectural patterns and tactics specific to each attribute.</a:t>
            </a:r>
          </a:p>
          <a:p>
            <a:r>
              <a:rPr lang="en-US" dirty="0"/>
              <a:t>The architecture should never depend on a particular version of a commercial product or tool. If it must, it should be structured so that changing to a different version is straightforward and inexpensive.</a:t>
            </a:r>
          </a:p>
          <a:p>
            <a:r>
              <a:rPr lang="en-US" dirty="0"/>
              <a:t>Modules that produce data should be separate from modules that consume data. </a:t>
            </a:r>
          </a:p>
          <a:p>
            <a:pPr lvl="1"/>
            <a:r>
              <a:rPr lang="en-US" dirty="0"/>
              <a:t>This tends to increase modifiability </a:t>
            </a:r>
          </a:p>
          <a:p>
            <a:pPr lvl="1"/>
            <a:r>
              <a:rPr lang="en-US" dirty="0"/>
              <a:t>Changes are frequently confined to either the production or the consumption side of data.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9079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“Rules of Thumb”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Don’t expect a one-to-one correspondence between modules and components. </a:t>
            </a:r>
          </a:p>
          <a:p>
            <a:r>
              <a:rPr lang="en-US" dirty="0"/>
              <a:t>Every process should be written so that its assignment to a specific processor can be easily changed, perhaps even at runtime.</a:t>
            </a:r>
          </a:p>
          <a:p>
            <a:r>
              <a:rPr lang="en-US" dirty="0"/>
              <a:t>The architecture should feature a small number of ways for components to interact. </a:t>
            </a:r>
          </a:p>
          <a:p>
            <a:pPr lvl="1"/>
            <a:r>
              <a:rPr lang="en-US" dirty="0"/>
              <a:t>The system should do the same things in the same way throughout. </a:t>
            </a:r>
          </a:p>
          <a:p>
            <a:pPr lvl="1"/>
            <a:r>
              <a:rPr lang="en-US" dirty="0"/>
              <a:t>This will aid in understandability, reduce development time, increase reliability, and enhance modifiability.</a:t>
            </a:r>
          </a:p>
          <a:p>
            <a:r>
              <a:rPr lang="en-US" dirty="0"/>
              <a:t>The architecture should contain a specific (and small) set of resource contention areas, the resolution of which is clearly specified and maintained.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02048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software architecture of a system is the set of structures needed to reason about the system, which comprise software elements, relations among them, and properties of both.</a:t>
            </a:r>
          </a:p>
          <a:p>
            <a:r>
              <a:rPr lang="pl-PL" sz="2400" dirty="0"/>
              <a:t>A </a:t>
            </a:r>
            <a:r>
              <a:rPr lang="pl-PL" sz="2400" dirty="0" err="1"/>
              <a:t>structure</a:t>
            </a:r>
            <a:r>
              <a:rPr lang="pl-PL" sz="2400" dirty="0"/>
              <a:t> </a:t>
            </a:r>
            <a:r>
              <a:rPr lang="pl-PL" sz="2400" dirty="0" err="1"/>
              <a:t>is</a:t>
            </a:r>
            <a:r>
              <a:rPr lang="pl-PL" sz="2400" dirty="0"/>
              <a:t> a set of </a:t>
            </a:r>
            <a:r>
              <a:rPr lang="pl-PL" sz="2400" dirty="0" err="1"/>
              <a:t>elements</a:t>
            </a:r>
            <a:r>
              <a:rPr lang="pl-PL" sz="2400" dirty="0"/>
              <a:t> and the relations </a:t>
            </a:r>
            <a:r>
              <a:rPr lang="pl-PL" sz="2400" dirty="0" err="1"/>
              <a:t>among</a:t>
            </a:r>
            <a:r>
              <a:rPr lang="pl-PL" sz="2400" dirty="0"/>
              <a:t> </a:t>
            </a:r>
            <a:r>
              <a:rPr lang="pl-PL" sz="2400" dirty="0" err="1"/>
              <a:t>them</a:t>
            </a:r>
            <a:r>
              <a:rPr lang="pl-PL" sz="2400" dirty="0"/>
              <a:t>.</a:t>
            </a:r>
          </a:p>
          <a:p>
            <a:r>
              <a:rPr lang="pl-PL" sz="2400" dirty="0"/>
              <a:t>A </a:t>
            </a:r>
            <a:r>
              <a:rPr lang="pl-PL" sz="2400" dirty="0" err="1"/>
              <a:t>view</a:t>
            </a:r>
            <a:r>
              <a:rPr lang="pl-PL" sz="2400" dirty="0"/>
              <a:t> </a:t>
            </a:r>
            <a:r>
              <a:rPr lang="pl-PL" sz="2400" dirty="0" err="1"/>
              <a:t>is</a:t>
            </a:r>
            <a:r>
              <a:rPr lang="pl-PL" sz="2400" dirty="0"/>
              <a:t> a </a:t>
            </a:r>
            <a:r>
              <a:rPr lang="pl-PL" sz="2400" dirty="0" err="1"/>
              <a:t>representation</a:t>
            </a:r>
            <a:r>
              <a:rPr lang="pl-PL" sz="2400" dirty="0"/>
              <a:t> of a </a:t>
            </a:r>
            <a:r>
              <a:rPr lang="pl-PL" sz="2400" dirty="0" err="1"/>
              <a:t>coherent</a:t>
            </a:r>
            <a:r>
              <a:rPr lang="pl-PL" sz="2400" dirty="0"/>
              <a:t> set of </a:t>
            </a:r>
            <a:r>
              <a:rPr lang="pl-PL" sz="2400" dirty="0" err="1"/>
              <a:t>architectural</a:t>
            </a:r>
            <a:r>
              <a:rPr lang="pl-PL" sz="2400" dirty="0"/>
              <a:t> </a:t>
            </a:r>
            <a:r>
              <a:rPr lang="pl-PL" sz="2400" dirty="0" err="1"/>
              <a:t>elements</a:t>
            </a:r>
            <a:r>
              <a:rPr lang="pl-PL" sz="2400" dirty="0"/>
              <a:t>. A </a:t>
            </a:r>
            <a:r>
              <a:rPr lang="pl-PL" sz="2400" dirty="0" err="1"/>
              <a:t>view</a:t>
            </a:r>
            <a:r>
              <a:rPr lang="pl-PL" sz="2400" dirty="0"/>
              <a:t> </a:t>
            </a:r>
            <a:r>
              <a:rPr lang="pl-PL" sz="2400" dirty="0" err="1"/>
              <a:t>is</a:t>
            </a:r>
            <a:r>
              <a:rPr lang="pl-PL" sz="2400" dirty="0"/>
              <a:t> a </a:t>
            </a:r>
            <a:r>
              <a:rPr lang="pl-PL" sz="2400" dirty="0" err="1"/>
              <a:t>representation</a:t>
            </a:r>
            <a:r>
              <a:rPr lang="pl-PL" sz="2400" dirty="0"/>
              <a:t> of one </a:t>
            </a:r>
            <a:r>
              <a:rPr lang="pl-PL" sz="2400" dirty="0" err="1"/>
              <a:t>or</a:t>
            </a:r>
            <a:r>
              <a:rPr lang="pl-PL" sz="2400" dirty="0"/>
              <a:t> </a:t>
            </a:r>
            <a:r>
              <a:rPr lang="pl-PL" sz="2400" dirty="0" err="1"/>
              <a:t>more</a:t>
            </a:r>
            <a:r>
              <a:rPr lang="pl-PL" sz="2400" dirty="0"/>
              <a:t> </a:t>
            </a:r>
            <a:r>
              <a:rPr lang="pl-PL" sz="2400" dirty="0" err="1"/>
              <a:t>structures</a:t>
            </a:r>
            <a:r>
              <a:rPr lang="pl-PL" sz="2400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5576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l-PL" sz="2400" dirty="0" err="1"/>
              <a:t>There</a:t>
            </a:r>
            <a:r>
              <a:rPr lang="pl-PL" sz="2400" dirty="0"/>
              <a:t> </a:t>
            </a:r>
            <a:r>
              <a:rPr lang="pl-PL" sz="2400" dirty="0" err="1"/>
              <a:t>are</a:t>
            </a:r>
            <a:r>
              <a:rPr lang="pl-PL" sz="2400" dirty="0"/>
              <a:t> </a:t>
            </a:r>
            <a:r>
              <a:rPr lang="pl-PL" sz="2400" dirty="0" err="1"/>
              <a:t>three</a:t>
            </a:r>
            <a:r>
              <a:rPr lang="pl-PL" sz="2400" dirty="0"/>
              <a:t> </a:t>
            </a:r>
            <a:r>
              <a:rPr lang="pl-PL" sz="2400" dirty="0" err="1"/>
              <a:t>categories</a:t>
            </a:r>
            <a:r>
              <a:rPr lang="pl-PL" sz="2400" dirty="0"/>
              <a:t> of </a:t>
            </a:r>
            <a:r>
              <a:rPr lang="pl-PL" sz="2400" dirty="0" err="1"/>
              <a:t>structures</a:t>
            </a:r>
            <a:r>
              <a:rPr lang="pl-PL" sz="2400" dirty="0"/>
              <a:t>:</a:t>
            </a:r>
          </a:p>
          <a:p>
            <a:pPr lvl="1"/>
            <a:r>
              <a:rPr lang="pl-PL" sz="1800" dirty="0"/>
              <a:t> Module </a:t>
            </a:r>
            <a:r>
              <a:rPr lang="pl-PL" sz="1800" dirty="0" err="1"/>
              <a:t>structures</a:t>
            </a:r>
            <a:r>
              <a:rPr lang="pl-PL" sz="1800" dirty="0"/>
              <a:t> show </a:t>
            </a:r>
            <a:r>
              <a:rPr lang="pl-PL" sz="1800" dirty="0" err="1"/>
              <a:t>how</a:t>
            </a:r>
            <a:r>
              <a:rPr lang="pl-PL" sz="1800" dirty="0"/>
              <a:t> a system </a:t>
            </a:r>
            <a:r>
              <a:rPr lang="pl-PL" sz="1800" dirty="0" err="1"/>
              <a:t>is</a:t>
            </a:r>
            <a:r>
              <a:rPr lang="pl-PL" sz="1800" dirty="0"/>
              <a:t> to be </a:t>
            </a:r>
            <a:r>
              <a:rPr lang="pl-PL" sz="1800" dirty="0" err="1"/>
              <a:t>structured</a:t>
            </a:r>
            <a:r>
              <a:rPr lang="pl-PL" sz="1800" dirty="0"/>
              <a:t> as a set of </a:t>
            </a:r>
            <a:r>
              <a:rPr lang="pl-PL" sz="1800" dirty="0" err="1"/>
              <a:t>code</a:t>
            </a:r>
            <a:r>
              <a:rPr lang="pl-PL" sz="1800" dirty="0"/>
              <a:t> </a:t>
            </a:r>
            <a:r>
              <a:rPr lang="pl-PL" sz="1800" dirty="0" err="1"/>
              <a:t>or</a:t>
            </a:r>
            <a:r>
              <a:rPr lang="pl-PL" sz="1800" dirty="0"/>
              <a:t> data </a:t>
            </a:r>
            <a:r>
              <a:rPr lang="pl-PL" sz="1800" dirty="0" err="1"/>
              <a:t>units</a:t>
            </a:r>
            <a:r>
              <a:rPr lang="pl-PL" sz="1800" dirty="0"/>
              <a:t> </a:t>
            </a:r>
            <a:r>
              <a:rPr lang="pl-PL" sz="1800" dirty="0" err="1"/>
              <a:t>that</a:t>
            </a:r>
            <a:r>
              <a:rPr lang="pl-PL" sz="1800" dirty="0"/>
              <a:t> </a:t>
            </a:r>
            <a:r>
              <a:rPr lang="pl-PL" sz="1800" dirty="0" err="1"/>
              <a:t>have</a:t>
            </a:r>
            <a:r>
              <a:rPr lang="pl-PL" sz="1800" dirty="0"/>
              <a:t> to be </a:t>
            </a:r>
            <a:r>
              <a:rPr lang="pl-PL" sz="1800" dirty="0" err="1"/>
              <a:t>constructed</a:t>
            </a:r>
            <a:r>
              <a:rPr lang="pl-PL" sz="1800" dirty="0"/>
              <a:t> </a:t>
            </a:r>
            <a:r>
              <a:rPr lang="pl-PL" sz="1800" dirty="0" err="1"/>
              <a:t>or</a:t>
            </a:r>
            <a:r>
              <a:rPr lang="pl-PL" sz="1800" dirty="0"/>
              <a:t> </a:t>
            </a:r>
            <a:r>
              <a:rPr lang="pl-PL" sz="1800" dirty="0" err="1"/>
              <a:t>procured</a:t>
            </a:r>
            <a:r>
              <a:rPr lang="pl-PL" sz="1800" dirty="0"/>
              <a:t>.</a:t>
            </a:r>
          </a:p>
          <a:p>
            <a:pPr lvl="1"/>
            <a:r>
              <a:rPr lang="pl-PL" sz="1800" dirty="0"/>
              <a:t>Component-and-</a:t>
            </a:r>
            <a:r>
              <a:rPr lang="pl-PL" sz="1800" dirty="0" err="1"/>
              <a:t>connector</a:t>
            </a:r>
            <a:r>
              <a:rPr lang="pl-PL" sz="1800" dirty="0"/>
              <a:t> </a:t>
            </a:r>
            <a:r>
              <a:rPr lang="pl-PL" sz="1800" dirty="0" err="1"/>
              <a:t>structures</a:t>
            </a:r>
            <a:r>
              <a:rPr lang="pl-PL" sz="1800" dirty="0"/>
              <a:t> show </a:t>
            </a:r>
            <a:r>
              <a:rPr lang="pl-PL" sz="1800" dirty="0" err="1"/>
              <a:t>how</a:t>
            </a:r>
            <a:r>
              <a:rPr lang="pl-PL" sz="1800" dirty="0"/>
              <a:t> the system </a:t>
            </a:r>
            <a:r>
              <a:rPr lang="pl-PL" sz="1800" dirty="0" err="1"/>
              <a:t>is</a:t>
            </a:r>
            <a:r>
              <a:rPr lang="pl-PL" sz="1800" dirty="0"/>
              <a:t> to be </a:t>
            </a:r>
            <a:r>
              <a:rPr lang="pl-PL" sz="1800" dirty="0" err="1"/>
              <a:t>structured</a:t>
            </a:r>
            <a:r>
              <a:rPr lang="pl-PL" sz="1800" dirty="0"/>
              <a:t> as a set of </a:t>
            </a:r>
            <a:r>
              <a:rPr lang="pl-PL" sz="1800" dirty="0" err="1"/>
              <a:t>elements</a:t>
            </a:r>
            <a:r>
              <a:rPr lang="pl-PL" sz="1800" dirty="0"/>
              <a:t> </a:t>
            </a:r>
            <a:r>
              <a:rPr lang="pl-PL" sz="1800" dirty="0" err="1"/>
              <a:t>that</a:t>
            </a:r>
            <a:r>
              <a:rPr lang="pl-PL" sz="1800" dirty="0"/>
              <a:t> </a:t>
            </a:r>
            <a:r>
              <a:rPr lang="pl-PL" sz="1800" dirty="0" err="1"/>
              <a:t>have</a:t>
            </a:r>
            <a:r>
              <a:rPr lang="pl-PL" sz="1800" dirty="0"/>
              <a:t> </a:t>
            </a:r>
            <a:r>
              <a:rPr lang="pl-PL" sz="1800" dirty="0" err="1"/>
              <a:t>runtime</a:t>
            </a:r>
            <a:r>
              <a:rPr lang="pl-PL" sz="1800" dirty="0"/>
              <a:t> </a:t>
            </a:r>
            <a:r>
              <a:rPr lang="pl-PL" sz="1800" dirty="0" err="1"/>
              <a:t>behavior</a:t>
            </a:r>
            <a:r>
              <a:rPr lang="pl-PL" sz="1800" dirty="0"/>
              <a:t> (</a:t>
            </a:r>
            <a:r>
              <a:rPr lang="pl-PL" sz="1800" dirty="0" err="1"/>
              <a:t>components</a:t>
            </a:r>
            <a:r>
              <a:rPr lang="pl-PL" sz="1800" dirty="0"/>
              <a:t>) and </a:t>
            </a:r>
            <a:r>
              <a:rPr lang="pl-PL" sz="1800" dirty="0" err="1"/>
              <a:t>interactions</a:t>
            </a:r>
            <a:r>
              <a:rPr lang="pl-PL" sz="1800" dirty="0"/>
              <a:t> (</a:t>
            </a:r>
            <a:r>
              <a:rPr lang="pl-PL" sz="1800" dirty="0" err="1"/>
              <a:t>connectors</a:t>
            </a:r>
            <a:r>
              <a:rPr lang="pl-PL" sz="1800" dirty="0"/>
              <a:t>).</a:t>
            </a:r>
          </a:p>
          <a:p>
            <a:pPr lvl="1"/>
            <a:r>
              <a:rPr lang="pl-PL" sz="1800" dirty="0" err="1"/>
              <a:t>Allocation</a:t>
            </a:r>
            <a:r>
              <a:rPr lang="pl-PL" sz="1800" dirty="0"/>
              <a:t> </a:t>
            </a:r>
            <a:r>
              <a:rPr lang="pl-PL" sz="1800" dirty="0" err="1"/>
              <a:t>structures</a:t>
            </a:r>
            <a:r>
              <a:rPr lang="pl-PL" sz="1800" dirty="0"/>
              <a:t> show </a:t>
            </a:r>
            <a:r>
              <a:rPr lang="pl-PL" sz="1800" dirty="0" err="1"/>
              <a:t>how</a:t>
            </a:r>
            <a:r>
              <a:rPr lang="pl-PL" sz="1800" dirty="0"/>
              <a:t> the system </a:t>
            </a:r>
            <a:r>
              <a:rPr lang="pl-PL" sz="1800" dirty="0" err="1"/>
              <a:t>will</a:t>
            </a:r>
            <a:r>
              <a:rPr lang="pl-PL" sz="1800" dirty="0"/>
              <a:t> </a:t>
            </a:r>
            <a:r>
              <a:rPr lang="pl-PL" sz="1800" dirty="0" err="1"/>
              <a:t>relate</a:t>
            </a:r>
            <a:r>
              <a:rPr lang="pl-PL" sz="1800" dirty="0"/>
              <a:t> to </a:t>
            </a:r>
            <a:r>
              <a:rPr lang="pl-PL" sz="1800" dirty="0" err="1"/>
              <a:t>nonsoftware</a:t>
            </a:r>
            <a:r>
              <a:rPr lang="pl-PL" sz="1800" dirty="0"/>
              <a:t> </a:t>
            </a:r>
            <a:r>
              <a:rPr lang="pl-PL" sz="1800" dirty="0" err="1"/>
              <a:t>structures</a:t>
            </a:r>
            <a:r>
              <a:rPr lang="pl-PL" sz="1800" dirty="0"/>
              <a:t> in </a:t>
            </a:r>
            <a:r>
              <a:rPr lang="pl-PL" sz="1800" dirty="0" err="1"/>
              <a:t>its</a:t>
            </a:r>
            <a:r>
              <a:rPr lang="pl-PL" sz="1800" dirty="0"/>
              <a:t> environment (</a:t>
            </a:r>
            <a:r>
              <a:rPr lang="pl-PL" sz="1800" dirty="0" err="1"/>
              <a:t>such</a:t>
            </a:r>
            <a:r>
              <a:rPr lang="pl-PL" sz="1800" dirty="0"/>
              <a:t> as </a:t>
            </a:r>
            <a:r>
              <a:rPr lang="pl-PL" sz="1800" dirty="0" err="1"/>
              <a:t>CPUs</a:t>
            </a:r>
            <a:r>
              <a:rPr lang="pl-PL" sz="1800" dirty="0"/>
              <a:t>, file </a:t>
            </a:r>
            <a:r>
              <a:rPr lang="pl-PL" sz="1800" dirty="0" err="1"/>
              <a:t>systems</a:t>
            </a:r>
            <a:r>
              <a:rPr lang="pl-PL" sz="1800" dirty="0"/>
              <a:t>, networks, development </a:t>
            </a:r>
            <a:r>
              <a:rPr lang="pl-PL" sz="1800" dirty="0" err="1"/>
              <a:t>teams</a:t>
            </a:r>
            <a:r>
              <a:rPr lang="pl-PL" sz="1800" dirty="0"/>
              <a:t>, etc.).</a:t>
            </a:r>
          </a:p>
          <a:p>
            <a:r>
              <a:rPr lang="pl-PL" sz="2400" dirty="0" err="1"/>
              <a:t>Structures</a:t>
            </a:r>
            <a:r>
              <a:rPr lang="pl-PL" sz="2400" dirty="0"/>
              <a:t> </a:t>
            </a:r>
            <a:r>
              <a:rPr lang="pl-PL" sz="2400" dirty="0" err="1"/>
              <a:t>represent</a:t>
            </a:r>
            <a:r>
              <a:rPr lang="pl-PL" sz="2400" dirty="0"/>
              <a:t> the </a:t>
            </a:r>
            <a:r>
              <a:rPr lang="pl-PL" sz="2400" dirty="0" err="1"/>
              <a:t>primary</a:t>
            </a:r>
            <a:r>
              <a:rPr lang="pl-PL" sz="2400" dirty="0"/>
              <a:t> engineering </a:t>
            </a:r>
            <a:r>
              <a:rPr lang="pl-PL" sz="2400" dirty="0" err="1"/>
              <a:t>leverage</a:t>
            </a:r>
            <a:r>
              <a:rPr lang="pl-PL" sz="2400" dirty="0"/>
              <a:t> </a:t>
            </a:r>
            <a:r>
              <a:rPr lang="pl-PL" sz="2400" dirty="0" err="1"/>
              <a:t>points</a:t>
            </a:r>
            <a:r>
              <a:rPr lang="pl-PL" sz="2400" dirty="0"/>
              <a:t> of </a:t>
            </a:r>
            <a:r>
              <a:rPr lang="pl-PL" sz="2400" dirty="0" err="1"/>
              <a:t>an</a:t>
            </a:r>
            <a:r>
              <a:rPr lang="pl-PL" sz="2400" dirty="0"/>
              <a:t> </a:t>
            </a:r>
            <a:r>
              <a:rPr lang="pl-PL" sz="2400" dirty="0" err="1"/>
              <a:t>architecture</a:t>
            </a:r>
            <a:r>
              <a:rPr lang="pl-PL" sz="2400" dirty="0"/>
              <a:t>.</a:t>
            </a:r>
          </a:p>
          <a:p>
            <a:r>
              <a:rPr lang="pl-PL" sz="2400" dirty="0" err="1"/>
              <a:t>Every</a:t>
            </a:r>
            <a:r>
              <a:rPr lang="pl-PL" sz="2400" dirty="0"/>
              <a:t> system </a:t>
            </a:r>
            <a:r>
              <a:rPr lang="pl-PL" sz="2400" dirty="0" err="1"/>
              <a:t>has</a:t>
            </a:r>
            <a:r>
              <a:rPr lang="pl-PL" sz="2400" dirty="0"/>
              <a:t> a software </a:t>
            </a:r>
            <a:r>
              <a:rPr lang="pl-PL" sz="2400" dirty="0" err="1"/>
              <a:t>architecture</a:t>
            </a:r>
            <a:r>
              <a:rPr lang="pl-PL" sz="2400" dirty="0"/>
              <a:t>, but </a:t>
            </a:r>
            <a:r>
              <a:rPr lang="pl-PL" sz="2400" dirty="0" err="1"/>
              <a:t>this</a:t>
            </a:r>
            <a:r>
              <a:rPr lang="pl-PL" sz="2400" dirty="0"/>
              <a:t> </a:t>
            </a:r>
            <a:r>
              <a:rPr lang="pl-PL" sz="2400" dirty="0" err="1"/>
              <a:t>architecture</a:t>
            </a:r>
            <a:r>
              <a:rPr lang="pl-PL" sz="2400" dirty="0"/>
              <a:t> </a:t>
            </a:r>
            <a:r>
              <a:rPr lang="pl-PL" sz="2400" dirty="0" err="1"/>
              <a:t>may</a:t>
            </a:r>
            <a:r>
              <a:rPr lang="pl-PL" sz="2400" dirty="0"/>
              <a:t> be </a:t>
            </a:r>
            <a:r>
              <a:rPr lang="pl-PL" sz="2400" dirty="0" err="1"/>
              <a:t>documented</a:t>
            </a:r>
            <a:r>
              <a:rPr lang="pl-PL" sz="2400" dirty="0"/>
              <a:t> and </a:t>
            </a:r>
            <a:r>
              <a:rPr lang="pl-PL" sz="2400" dirty="0" err="1"/>
              <a:t>disseminated</a:t>
            </a:r>
            <a:r>
              <a:rPr lang="pl-PL" sz="2400" dirty="0"/>
              <a:t>, </a:t>
            </a:r>
            <a:r>
              <a:rPr lang="pl-PL" sz="2400" dirty="0" err="1"/>
              <a:t>or</a:t>
            </a:r>
            <a:r>
              <a:rPr lang="pl-PL" sz="2400" dirty="0"/>
              <a:t> </a:t>
            </a:r>
            <a:r>
              <a:rPr lang="pl-PL" sz="2400" dirty="0" err="1"/>
              <a:t>it</a:t>
            </a:r>
            <a:r>
              <a:rPr lang="pl-PL" sz="2400" dirty="0"/>
              <a:t> </a:t>
            </a:r>
            <a:r>
              <a:rPr lang="pl-PL" sz="2400" dirty="0" err="1"/>
              <a:t>may</a:t>
            </a:r>
            <a:r>
              <a:rPr lang="pl-PL" sz="2400" dirty="0"/>
              <a:t> not be.</a:t>
            </a:r>
          </a:p>
          <a:p>
            <a:r>
              <a:rPr lang="pl-PL" sz="2400" dirty="0" err="1"/>
              <a:t>There</a:t>
            </a:r>
            <a:r>
              <a:rPr lang="pl-PL" sz="2400" dirty="0"/>
              <a:t> </a:t>
            </a:r>
            <a:r>
              <a:rPr lang="pl-PL" sz="2400" dirty="0" err="1"/>
              <a:t>is</a:t>
            </a:r>
            <a:r>
              <a:rPr lang="pl-PL" sz="2400" dirty="0"/>
              <a:t> no </a:t>
            </a:r>
            <a:r>
              <a:rPr lang="pl-PL" sz="2400" dirty="0" err="1"/>
              <a:t>such</a:t>
            </a:r>
            <a:r>
              <a:rPr lang="pl-PL" sz="2400" dirty="0"/>
              <a:t> </a:t>
            </a:r>
            <a:r>
              <a:rPr lang="pl-PL" sz="2400" dirty="0" err="1"/>
              <a:t>thing</a:t>
            </a:r>
            <a:r>
              <a:rPr lang="pl-PL" sz="2400" dirty="0"/>
              <a:t> as </a:t>
            </a:r>
            <a:r>
              <a:rPr lang="pl-PL" sz="2400" dirty="0" err="1"/>
              <a:t>an</a:t>
            </a:r>
            <a:r>
              <a:rPr lang="pl-PL" sz="2400" dirty="0"/>
              <a:t> </a:t>
            </a:r>
            <a:r>
              <a:rPr lang="pl-PL" sz="2400" dirty="0" err="1"/>
              <a:t>inherently</a:t>
            </a:r>
            <a:r>
              <a:rPr lang="pl-PL" sz="2400" dirty="0"/>
              <a:t> </a:t>
            </a:r>
            <a:r>
              <a:rPr lang="pl-PL" sz="2400" dirty="0" err="1"/>
              <a:t>good</a:t>
            </a:r>
            <a:r>
              <a:rPr lang="pl-PL" sz="2400" dirty="0"/>
              <a:t> </a:t>
            </a:r>
            <a:r>
              <a:rPr lang="pl-PL" sz="2400" dirty="0" err="1"/>
              <a:t>or</a:t>
            </a:r>
            <a:r>
              <a:rPr lang="pl-PL" sz="2400" dirty="0"/>
              <a:t> </a:t>
            </a:r>
            <a:r>
              <a:rPr lang="pl-PL" sz="2400" dirty="0" err="1"/>
              <a:t>bad</a:t>
            </a:r>
            <a:r>
              <a:rPr lang="pl-PL" sz="2400" dirty="0"/>
              <a:t> </a:t>
            </a:r>
            <a:r>
              <a:rPr lang="pl-PL" sz="2400" dirty="0" err="1"/>
              <a:t>architecture</a:t>
            </a:r>
            <a:r>
              <a:rPr lang="pl-PL" sz="2400" dirty="0"/>
              <a:t>. </a:t>
            </a:r>
            <a:r>
              <a:rPr lang="pl-PL" sz="2400" dirty="0" err="1"/>
              <a:t>Architectures</a:t>
            </a:r>
            <a:r>
              <a:rPr lang="pl-PL" sz="2400" dirty="0"/>
              <a:t> </a:t>
            </a:r>
            <a:r>
              <a:rPr lang="pl-PL" sz="2400" dirty="0" err="1"/>
              <a:t>are</a:t>
            </a:r>
            <a:r>
              <a:rPr lang="pl-PL" sz="2400" dirty="0"/>
              <a:t> </a:t>
            </a:r>
            <a:r>
              <a:rPr lang="pl-PL" sz="2400" dirty="0" err="1"/>
              <a:t>either</a:t>
            </a:r>
            <a:r>
              <a:rPr lang="pl-PL" sz="2400" dirty="0"/>
              <a:t> </a:t>
            </a:r>
            <a:r>
              <a:rPr lang="pl-PL" sz="2400" dirty="0" err="1"/>
              <a:t>more</a:t>
            </a:r>
            <a:r>
              <a:rPr lang="pl-PL" sz="2400" dirty="0"/>
              <a:t> </a:t>
            </a:r>
            <a:r>
              <a:rPr lang="pl-PL" sz="2400" dirty="0" err="1"/>
              <a:t>or</a:t>
            </a:r>
            <a:r>
              <a:rPr lang="pl-PL" sz="2400" dirty="0"/>
              <a:t> less </a:t>
            </a:r>
            <a:r>
              <a:rPr lang="pl-PL" sz="2400" dirty="0" err="1"/>
              <a:t>fit</a:t>
            </a:r>
            <a:r>
              <a:rPr lang="pl-PL" sz="2400" dirty="0"/>
              <a:t> for </a:t>
            </a:r>
            <a:r>
              <a:rPr lang="pl-PL" sz="2400" dirty="0" err="1"/>
              <a:t>some</a:t>
            </a:r>
            <a:r>
              <a:rPr lang="pl-PL" sz="2400" dirty="0"/>
              <a:t> </a:t>
            </a:r>
            <a:r>
              <a:rPr lang="pl-PL" sz="2400" dirty="0" err="1"/>
              <a:t>purpose</a:t>
            </a:r>
            <a:r>
              <a:rPr lang="pl-PL" sz="2400" dirty="0"/>
              <a:t>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244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3997</Words>
  <Application>Microsoft Office PowerPoint</Application>
  <PresentationFormat>全屏显示(4:3)</PresentationFormat>
  <Paragraphs>290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Chapter 1:   What is Software Architecture? </vt:lpstr>
      <vt:lpstr>Chapter Outline</vt:lpstr>
      <vt:lpstr>What is Software Architecture?</vt:lpstr>
      <vt:lpstr>Architecture Is a Set of Software Structures </vt:lpstr>
      <vt:lpstr>Module Structures</vt:lpstr>
      <vt:lpstr>Component-and-connector Structures</vt:lpstr>
      <vt:lpstr>Allocation Structures</vt:lpstr>
      <vt:lpstr>Which Structures are Architectural?</vt:lpstr>
      <vt:lpstr>Architecture is an Abstraction</vt:lpstr>
      <vt:lpstr>Architecture Includes Behavior</vt:lpstr>
      <vt:lpstr>Structures and Views</vt:lpstr>
      <vt:lpstr>Module Structures</vt:lpstr>
      <vt:lpstr>Component-and-connector Structures</vt:lpstr>
      <vt:lpstr>Allocation structures</vt:lpstr>
      <vt:lpstr>Structures Provide Insight</vt:lpstr>
      <vt:lpstr>Some Useful Module Structures</vt:lpstr>
      <vt:lpstr>Some Useful Module Structures</vt:lpstr>
      <vt:lpstr>Some Useful Module Structures</vt:lpstr>
      <vt:lpstr>Some Useful Module Structures</vt:lpstr>
      <vt:lpstr>Some Useful Module Structures</vt:lpstr>
      <vt:lpstr>Some Useful C&amp;C Structures</vt:lpstr>
      <vt:lpstr>Some Useful Allocation Structures</vt:lpstr>
      <vt:lpstr>Some Useful Allocation Structures</vt:lpstr>
      <vt:lpstr>Relating Structures to Each Other</vt:lpstr>
      <vt:lpstr>Modules vs. Components</vt:lpstr>
      <vt:lpstr>Architectural Patterns</vt:lpstr>
      <vt:lpstr>Architectural Patterns</vt:lpstr>
      <vt:lpstr>Architectural Patterns</vt:lpstr>
      <vt:lpstr>Process “Rules of Thumb”</vt:lpstr>
      <vt:lpstr>Structural “Rules of Thumb”</vt:lpstr>
      <vt:lpstr>Structural “Rules of Thumb”</vt:lpstr>
      <vt:lpstr>Summary</vt:lpstr>
      <vt:lpstr>Summary</vt:lpstr>
    </vt:vector>
  </TitlesOfParts>
  <Company>NICTA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 Bass</dc:creator>
  <cp:lastModifiedBy>七七 许</cp:lastModifiedBy>
  <cp:revision>28</cp:revision>
  <dcterms:created xsi:type="dcterms:W3CDTF">2012-04-18T22:57:58Z</dcterms:created>
  <dcterms:modified xsi:type="dcterms:W3CDTF">2025-11-03T02:02:11Z</dcterms:modified>
</cp:coreProperties>
</file>