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9" r:id="rId2"/>
    <p:sldId id="258" r:id="rId3"/>
    <p:sldId id="260" r:id="rId4"/>
    <p:sldId id="261" r:id="rId5"/>
    <p:sldId id="262" r:id="rId6"/>
    <p:sldId id="263" r:id="rId7"/>
    <p:sldId id="265" r:id="rId8"/>
    <p:sldId id="266" r:id="rId9"/>
    <p:sldId id="268" r:id="rId10"/>
    <p:sldId id="270" r:id="rId11"/>
    <p:sldId id="271" r:id="rId12"/>
    <p:sldId id="273" r:id="rId13"/>
    <p:sldId id="274" r:id="rId1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686" autoAdjust="0"/>
    <p:restoredTop sz="86320" autoAdjust="0"/>
  </p:normalViewPr>
  <p:slideViewPr>
    <p:cSldViewPr>
      <p:cViewPr varScale="1">
        <p:scale>
          <a:sx n="95" d="100"/>
          <a:sy n="95" d="100"/>
        </p:scale>
        <p:origin x="1638" y="84"/>
      </p:cViewPr>
      <p:guideLst>
        <p:guide orient="horz" pos="2160"/>
        <p:guide pos="2880"/>
      </p:guideLst>
    </p:cSldViewPr>
  </p:slideViewPr>
  <p:outlineViewPr>
    <p:cViewPr>
      <p:scale>
        <a:sx n="33" d="100"/>
        <a:sy n="33" d="100"/>
      </p:scale>
      <p:origin x="14" y="14467"/>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A9B1F14-2969-4234-94C2-84FB01E3AC7A}" type="datetimeFigureOut">
              <a:rPr lang="en-AU" smtClean="0"/>
              <a:t>3/11/2025</a:t>
            </a:fld>
            <a:endParaRPr lang="en-AU"/>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D95789E-32BF-4BCD-9509-3BAE69BCF054}" type="slidenum">
              <a:rPr lang="en-AU" smtClean="0"/>
              <a:t>‹#›</a:t>
            </a:fld>
            <a:endParaRPr lang="en-AU"/>
          </a:p>
        </p:txBody>
      </p:sp>
    </p:spTree>
    <p:extLst>
      <p:ext uri="{BB962C8B-B14F-4D97-AF65-F5344CB8AC3E}">
        <p14:creationId xmlns:p14="http://schemas.microsoft.com/office/powerpoint/2010/main" val="11923597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AU"/>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AU"/>
          </a:p>
        </p:txBody>
      </p:sp>
      <p:sp>
        <p:nvSpPr>
          <p:cNvPr id="4" name="Date Placeholder 3"/>
          <p:cNvSpPr>
            <a:spLocks noGrp="1"/>
          </p:cNvSpPr>
          <p:nvPr>
            <p:ph type="dt" sz="half" idx="10"/>
          </p:nvPr>
        </p:nvSpPr>
        <p:spPr/>
        <p:txBody>
          <a:bodyPr/>
          <a:lstStyle/>
          <a:p>
            <a:fld id="{0F0CDB67-B98A-4AC5-929D-81BD9B8E0ED5}" type="datetime1">
              <a:rPr lang="en-AU" smtClean="0"/>
              <a:t>3/11/2025</a:t>
            </a:fld>
            <a:endParaRPr lang="en-AU"/>
          </a:p>
        </p:txBody>
      </p:sp>
      <p:sp>
        <p:nvSpPr>
          <p:cNvPr id="5" name="Footer Placeholder 4"/>
          <p:cNvSpPr>
            <a:spLocks noGrp="1"/>
          </p:cNvSpPr>
          <p:nvPr>
            <p:ph type="ftr" sz="quarter" idx="11"/>
          </p:nvPr>
        </p:nvSpPr>
        <p:spPr/>
        <p:txBody>
          <a:bodyPr/>
          <a:lstStyle/>
          <a:p>
            <a:r>
              <a:rPr lang="en-AU" dirty="0"/>
              <a:t>© Len Bass, Paul Clements, Rick Kazman, distributed under Creative Commons Attribution License</a:t>
            </a:r>
          </a:p>
        </p:txBody>
      </p:sp>
      <p:sp>
        <p:nvSpPr>
          <p:cNvPr id="6" name="Slide Number Placeholder 5"/>
          <p:cNvSpPr>
            <a:spLocks noGrp="1"/>
          </p:cNvSpPr>
          <p:nvPr>
            <p:ph type="sldNum" sz="quarter" idx="12"/>
          </p:nvPr>
        </p:nvSpPr>
        <p:spPr/>
        <p:txBody>
          <a:bodyPr/>
          <a:lstStyle/>
          <a:p>
            <a:fld id="{D0E8C58C-0836-46C6-8F9A-AF87B5CA09C9}" type="slidenum">
              <a:rPr lang="en-AU" smtClean="0"/>
              <a:t>‹#›</a:t>
            </a:fld>
            <a:endParaRPr lang="en-AU"/>
          </a:p>
        </p:txBody>
      </p:sp>
      <p:pic>
        <p:nvPicPr>
          <p:cNvPr id="7" name="Picture 2" descr="C:\Users\lbass\Documents\SAP3\SAP3 cover.jp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5496" y="116632"/>
            <a:ext cx="1872208" cy="1872208"/>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28797237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71600" y="274638"/>
            <a:ext cx="7715200" cy="778098"/>
          </a:xfrm>
        </p:spPr>
        <p:txBody>
          <a:bodyPr/>
          <a:lstStyle/>
          <a:p>
            <a:r>
              <a:rPr lang="en-US" dirty="0"/>
              <a:t>Click to edit Master title style</a:t>
            </a:r>
            <a:endParaRPr lang="en-AU"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026" name="Picture 2" descr="C:\Users\lbass\Documents\SAP3\SAP3 cover.jp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5496" y="116632"/>
            <a:ext cx="953592" cy="953592"/>
          </a:xfrm>
          <a:prstGeom prst="rect">
            <a:avLst/>
          </a:prstGeom>
          <a:noFill/>
          <a:extLst>
            <a:ext uri="{909E8E84-426E-40dd-AFC4-6F175D3DCCD1}">
              <a14:hiddenFill xmlns:a14="http://schemas.microsoft.com/office/drawing/2010/main" xmlns="">
                <a:solidFill>
                  <a:srgbClr val="FFFFFF"/>
                </a:solidFill>
              </a14:hiddenFill>
            </a:ext>
          </a:extLst>
        </p:spPr>
      </p:pic>
      <p:sp>
        <p:nvSpPr>
          <p:cNvPr id="9" name="Footer Placeholder 8"/>
          <p:cNvSpPr>
            <a:spLocks noGrp="1"/>
          </p:cNvSpPr>
          <p:nvPr>
            <p:ph type="ftr" sz="quarter" idx="11"/>
          </p:nvPr>
        </p:nvSpPr>
        <p:spPr>
          <a:xfrm>
            <a:off x="1403648" y="6356350"/>
            <a:ext cx="6336704" cy="365125"/>
          </a:xfrm>
        </p:spPr>
        <p:txBody>
          <a:bodyPr/>
          <a:lstStyle/>
          <a:p>
            <a:r>
              <a:rPr lang="en-AU" dirty="0"/>
              <a:t>© Len Bass, Paul Clements, Rick </a:t>
            </a:r>
            <a:r>
              <a:rPr lang="en-AU" dirty="0" err="1"/>
              <a:t>Kazman</a:t>
            </a:r>
            <a:r>
              <a:rPr lang="en-AU" dirty="0"/>
              <a:t>, distributed under Creative Commons Attribution License</a:t>
            </a:r>
          </a:p>
        </p:txBody>
      </p:sp>
    </p:spTree>
    <p:extLst>
      <p:ext uri="{BB962C8B-B14F-4D97-AF65-F5344CB8AC3E}">
        <p14:creationId xmlns:p14="http://schemas.microsoft.com/office/powerpoint/2010/main" val="31718312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3FD9AFD-92D5-4F38-81E5-3FBC268DED4A}" type="datetime1">
              <a:rPr lang="en-AU" smtClean="0"/>
              <a:t>3/11/2025</a:t>
            </a:fld>
            <a:endParaRPr lang="en-AU"/>
          </a:p>
        </p:txBody>
      </p:sp>
      <p:sp>
        <p:nvSpPr>
          <p:cNvPr id="5" name="Footer Placeholder 4"/>
          <p:cNvSpPr>
            <a:spLocks noGrp="1"/>
          </p:cNvSpPr>
          <p:nvPr>
            <p:ph type="ftr" sz="quarter" idx="11"/>
          </p:nvPr>
        </p:nvSpPr>
        <p:spPr/>
        <p:txBody>
          <a:bodyPr/>
          <a:lstStyle/>
          <a:p>
            <a:r>
              <a:rPr lang="en-AU" dirty="0"/>
              <a:t>© Len Bass, Paul Clements, Rick </a:t>
            </a:r>
            <a:r>
              <a:rPr lang="en-AU" dirty="0" err="1"/>
              <a:t>Kazman</a:t>
            </a:r>
            <a:r>
              <a:rPr lang="en-AU" dirty="0"/>
              <a:t>, distributed under Creative Commons Attribution License</a:t>
            </a:r>
          </a:p>
        </p:txBody>
      </p:sp>
      <p:sp>
        <p:nvSpPr>
          <p:cNvPr id="6" name="Slide Number Placeholder 5"/>
          <p:cNvSpPr>
            <a:spLocks noGrp="1"/>
          </p:cNvSpPr>
          <p:nvPr>
            <p:ph type="sldNum" sz="quarter" idx="12"/>
          </p:nvPr>
        </p:nvSpPr>
        <p:spPr/>
        <p:txBody>
          <a:bodyPr/>
          <a:lstStyle/>
          <a:p>
            <a:fld id="{D0E8C58C-0836-46C6-8F9A-AF87B5CA09C9}" type="slidenum">
              <a:rPr lang="en-AU" smtClean="0"/>
              <a:t>‹#›</a:t>
            </a:fld>
            <a:endParaRPr lang="en-AU"/>
          </a:p>
        </p:txBody>
      </p:sp>
      <p:pic>
        <p:nvPicPr>
          <p:cNvPr id="7" name="Picture 2" descr="C:\Users\lbass\Documents\SAP3\SAP3 cover.jp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5496" y="116632"/>
            <a:ext cx="1872208" cy="1872208"/>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22593061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99592" y="274638"/>
            <a:ext cx="7787208" cy="778098"/>
          </a:xfrm>
        </p:spPr>
        <p:txBody>
          <a:bodyPr/>
          <a:lstStyle/>
          <a:p>
            <a:r>
              <a:rPr lang="en-US" dirty="0"/>
              <a:t>Click to edit Master title style</a:t>
            </a:r>
            <a:endParaRPr lang="en-AU" dirty="0"/>
          </a:p>
        </p:txBody>
      </p:sp>
      <p:sp>
        <p:nvSpPr>
          <p:cNvPr id="3" name="Content Placeholder 2"/>
          <p:cNvSpPr>
            <a:spLocks noGrp="1"/>
          </p:cNvSpPr>
          <p:nvPr>
            <p:ph sz="half" idx="1"/>
          </p:nvPr>
        </p:nvSpPr>
        <p:spPr>
          <a:xfrm>
            <a:off x="457200" y="1268760"/>
            <a:ext cx="4038600" cy="485740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4648200" y="1268760"/>
            <a:ext cx="4038600" cy="485740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p:cNvSpPr>
            <a:spLocks noGrp="1"/>
          </p:cNvSpPr>
          <p:nvPr>
            <p:ph type="dt" sz="half" idx="10"/>
          </p:nvPr>
        </p:nvSpPr>
        <p:spPr/>
        <p:txBody>
          <a:bodyPr/>
          <a:lstStyle/>
          <a:p>
            <a:fld id="{AAADA7F1-F5F6-4965-B98A-1EF216FC21E9}" type="datetime1">
              <a:rPr lang="en-AU" smtClean="0"/>
              <a:t>3/11/2025</a:t>
            </a:fld>
            <a:endParaRPr lang="en-AU"/>
          </a:p>
        </p:txBody>
      </p:sp>
      <p:sp>
        <p:nvSpPr>
          <p:cNvPr id="6" name="Footer Placeholder 5"/>
          <p:cNvSpPr>
            <a:spLocks noGrp="1"/>
          </p:cNvSpPr>
          <p:nvPr>
            <p:ph type="ftr" sz="quarter" idx="11"/>
          </p:nvPr>
        </p:nvSpPr>
        <p:spPr/>
        <p:txBody>
          <a:bodyPr/>
          <a:lstStyle/>
          <a:p>
            <a:r>
              <a:rPr lang="en-AU" dirty="0"/>
              <a:t>© Len Bass, Paul Clements, Rick </a:t>
            </a:r>
            <a:r>
              <a:rPr lang="en-AU" dirty="0" err="1"/>
              <a:t>Kazman</a:t>
            </a:r>
            <a:r>
              <a:rPr lang="en-AU" dirty="0"/>
              <a:t>, distributed under Creative Commons Attribution License</a:t>
            </a:r>
          </a:p>
        </p:txBody>
      </p:sp>
      <p:sp>
        <p:nvSpPr>
          <p:cNvPr id="7" name="Slide Number Placeholder 6"/>
          <p:cNvSpPr>
            <a:spLocks noGrp="1"/>
          </p:cNvSpPr>
          <p:nvPr>
            <p:ph type="sldNum" sz="quarter" idx="12"/>
          </p:nvPr>
        </p:nvSpPr>
        <p:spPr/>
        <p:txBody>
          <a:bodyPr/>
          <a:lstStyle/>
          <a:p>
            <a:fld id="{D0E8C58C-0836-46C6-8F9A-AF87B5CA09C9}" type="slidenum">
              <a:rPr lang="en-AU" smtClean="0"/>
              <a:t>‹#›</a:t>
            </a:fld>
            <a:endParaRPr lang="en-AU"/>
          </a:p>
        </p:txBody>
      </p:sp>
      <p:pic>
        <p:nvPicPr>
          <p:cNvPr id="8" name="Picture 2" descr="C:\Users\lbass\Documents\SAP3\SAP3 cover.jp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5496" y="116632"/>
            <a:ext cx="953592" cy="953592"/>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41935669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71600" y="274638"/>
            <a:ext cx="7715200" cy="778098"/>
          </a:xfrm>
        </p:spPr>
        <p:txBody>
          <a:bodyPr/>
          <a:lstStyle>
            <a:lvl1pPr>
              <a:defRPr/>
            </a:lvl1pPr>
          </a:lstStyle>
          <a:p>
            <a:r>
              <a:rPr lang="en-US"/>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p:cNvSpPr>
            <a:spLocks noGrp="1"/>
          </p:cNvSpPr>
          <p:nvPr>
            <p:ph type="dt" sz="half" idx="10"/>
          </p:nvPr>
        </p:nvSpPr>
        <p:spPr/>
        <p:txBody>
          <a:bodyPr/>
          <a:lstStyle/>
          <a:p>
            <a:fld id="{F0D0951D-1B64-4AD7-951D-395C8B37DA62}" type="datetime1">
              <a:rPr lang="en-AU" smtClean="0"/>
              <a:t>3/11/2025</a:t>
            </a:fld>
            <a:endParaRPr lang="en-AU"/>
          </a:p>
        </p:txBody>
      </p:sp>
      <p:sp>
        <p:nvSpPr>
          <p:cNvPr id="8" name="Footer Placeholder 7"/>
          <p:cNvSpPr>
            <a:spLocks noGrp="1"/>
          </p:cNvSpPr>
          <p:nvPr>
            <p:ph type="ftr" sz="quarter" idx="11"/>
          </p:nvPr>
        </p:nvSpPr>
        <p:spPr/>
        <p:txBody>
          <a:bodyPr/>
          <a:lstStyle/>
          <a:p>
            <a:r>
              <a:rPr lang="en-AU" dirty="0"/>
              <a:t>© Len Bass, Paul Clements, Rick </a:t>
            </a:r>
            <a:r>
              <a:rPr lang="en-AU" dirty="0" err="1"/>
              <a:t>Kazman</a:t>
            </a:r>
            <a:r>
              <a:rPr lang="en-AU" dirty="0"/>
              <a:t>, distributed under Creative Commons Attribution License</a:t>
            </a:r>
          </a:p>
        </p:txBody>
      </p:sp>
      <p:sp>
        <p:nvSpPr>
          <p:cNvPr id="9" name="Slide Number Placeholder 8"/>
          <p:cNvSpPr>
            <a:spLocks noGrp="1"/>
          </p:cNvSpPr>
          <p:nvPr>
            <p:ph type="sldNum" sz="quarter" idx="12"/>
          </p:nvPr>
        </p:nvSpPr>
        <p:spPr/>
        <p:txBody>
          <a:bodyPr/>
          <a:lstStyle/>
          <a:p>
            <a:fld id="{D0E8C58C-0836-46C6-8F9A-AF87B5CA09C9}" type="slidenum">
              <a:rPr lang="en-AU" smtClean="0"/>
              <a:t>‹#›</a:t>
            </a:fld>
            <a:endParaRPr lang="en-AU"/>
          </a:p>
        </p:txBody>
      </p:sp>
      <p:pic>
        <p:nvPicPr>
          <p:cNvPr id="10" name="Picture 2" descr="C:\Users\lbass\Documents\SAP3\SAP3 cover.jp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5496" y="116632"/>
            <a:ext cx="953592" cy="953592"/>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13274555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99592" y="274638"/>
            <a:ext cx="7787208" cy="778098"/>
          </a:xfrm>
        </p:spPr>
        <p:txBody>
          <a:bodyPr/>
          <a:lstStyle/>
          <a:p>
            <a:r>
              <a:rPr lang="en-US" dirty="0"/>
              <a:t>Click to edit Master title style</a:t>
            </a:r>
            <a:endParaRPr lang="en-AU" dirty="0"/>
          </a:p>
        </p:txBody>
      </p:sp>
      <p:sp>
        <p:nvSpPr>
          <p:cNvPr id="3" name="Date Placeholder 2"/>
          <p:cNvSpPr>
            <a:spLocks noGrp="1"/>
          </p:cNvSpPr>
          <p:nvPr>
            <p:ph type="dt" sz="half" idx="10"/>
          </p:nvPr>
        </p:nvSpPr>
        <p:spPr/>
        <p:txBody>
          <a:bodyPr/>
          <a:lstStyle/>
          <a:p>
            <a:fld id="{3054D5B1-B0B7-4FEE-A636-82BBB8DC2F24}" type="datetime1">
              <a:rPr lang="en-AU" smtClean="0"/>
              <a:t>3/11/2025</a:t>
            </a:fld>
            <a:endParaRPr lang="en-AU"/>
          </a:p>
        </p:txBody>
      </p:sp>
      <p:sp>
        <p:nvSpPr>
          <p:cNvPr id="4" name="Footer Placeholder 3"/>
          <p:cNvSpPr>
            <a:spLocks noGrp="1"/>
          </p:cNvSpPr>
          <p:nvPr>
            <p:ph type="ftr" sz="quarter" idx="11"/>
          </p:nvPr>
        </p:nvSpPr>
        <p:spPr/>
        <p:txBody>
          <a:bodyPr/>
          <a:lstStyle/>
          <a:p>
            <a:r>
              <a:rPr lang="en-AU" dirty="0"/>
              <a:t>©  Len Bass, Paul Clements, Rick </a:t>
            </a:r>
            <a:r>
              <a:rPr lang="en-AU" dirty="0" err="1"/>
              <a:t>Kazman</a:t>
            </a:r>
            <a:r>
              <a:rPr lang="en-AU" dirty="0"/>
              <a:t>, distributed under Creative Commons Attribution License</a:t>
            </a:r>
          </a:p>
        </p:txBody>
      </p:sp>
      <p:sp>
        <p:nvSpPr>
          <p:cNvPr id="5" name="Slide Number Placeholder 4"/>
          <p:cNvSpPr>
            <a:spLocks noGrp="1"/>
          </p:cNvSpPr>
          <p:nvPr>
            <p:ph type="sldNum" sz="quarter" idx="12"/>
          </p:nvPr>
        </p:nvSpPr>
        <p:spPr/>
        <p:txBody>
          <a:bodyPr/>
          <a:lstStyle/>
          <a:p>
            <a:fld id="{D0E8C58C-0836-46C6-8F9A-AF87B5CA09C9}" type="slidenum">
              <a:rPr lang="en-AU" smtClean="0"/>
              <a:t>‹#›</a:t>
            </a:fld>
            <a:endParaRPr lang="en-AU"/>
          </a:p>
        </p:txBody>
      </p:sp>
      <p:pic>
        <p:nvPicPr>
          <p:cNvPr id="6" name="Picture 2" descr="C:\Users\lbass\Documents\SAP3\SAP3 cover.jp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5496" y="116632"/>
            <a:ext cx="953592" cy="953592"/>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437959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583E332-3D0B-4932-A3B1-41A6E16690E0}" type="datetime1">
              <a:rPr lang="en-AU" smtClean="0"/>
              <a:t>3/11/2025</a:t>
            </a:fld>
            <a:endParaRPr lang="en-AU"/>
          </a:p>
        </p:txBody>
      </p:sp>
      <p:sp>
        <p:nvSpPr>
          <p:cNvPr id="3" name="Footer Placeholder 2"/>
          <p:cNvSpPr>
            <a:spLocks noGrp="1"/>
          </p:cNvSpPr>
          <p:nvPr>
            <p:ph type="ftr" sz="quarter" idx="11"/>
          </p:nvPr>
        </p:nvSpPr>
        <p:spPr/>
        <p:txBody>
          <a:bodyPr/>
          <a:lstStyle/>
          <a:p>
            <a:r>
              <a:rPr lang="en-AU" dirty="0"/>
              <a:t>© Len Bass, Paul Clements, Rick </a:t>
            </a:r>
            <a:r>
              <a:rPr lang="en-AU" dirty="0" err="1"/>
              <a:t>Kazman</a:t>
            </a:r>
            <a:r>
              <a:rPr lang="en-AU" dirty="0"/>
              <a:t>, distributed under Creative Commons Attribution License</a:t>
            </a:r>
          </a:p>
        </p:txBody>
      </p:sp>
      <p:sp>
        <p:nvSpPr>
          <p:cNvPr id="4" name="Slide Number Placeholder 3"/>
          <p:cNvSpPr>
            <a:spLocks noGrp="1"/>
          </p:cNvSpPr>
          <p:nvPr>
            <p:ph type="sldNum" sz="quarter" idx="12"/>
          </p:nvPr>
        </p:nvSpPr>
        <p:spPr/>
        <p:txBody>
          <a:bodyPr/>
          <a:lstStyle/>
          <a:p>
            <a:fld id="{D0E8C58C-0836-46C6-8F9A-AF87B5CA09C9}" type="slidenum">
              <a:rPr lang="en-AU" smtClean="0"/>
              <a:t>‹#›</a:t>
            </a:fld>
            <a:endParaRPr lang="en-AU"/>
          </a:p>
        </p:txBody>
      </p:sp>
    </p:spTree>
    <p:extLst>
      <p:ext uri="{BB962C8B-B14F-4D97-AF65-F5344CB8AC3E}">
        <p14:creationId xmlns:p14="http://schemas.microsoft.com/office/powerpoint/2010/main" val="2667587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15EB9C4-EF48-4255-A3A3-972222EC13E9}" type="datetime1">
              <a:rPr lang="en-AU" smtClean="0"/>
              <a:t>3/11/2025</a:t>
            </a:fld>
            <a:endParaRPr lang="en-AU"/>
          </a:p>
        </p:txBody>
      </p:sp>
      <p:sp>
        <p:nvSpPr>
          <p:cNvPr id="6" name="Footer Placeholder 5"/>
          <p:cNvSpPr>
            <a:spLocks noGrp="1"/>
          </p:cNvSpPr>
          <p:nvPr>
            <p:ph type="ftr" sz="quarter" idx="11"/>
          </p:nvPr>
        </p:nvSpPr>
        <p:spPr/>
        <p:txBody>
          <a:bodyPr/>
          <a:lstStyle/>
          <a:p>
            <a:r>
              <a:rPr lang="en-AU" dirty="0"/>
              <a:t>© Len Bass, Paul Clements, Rick </a:t>
            </a:r>
            <a:r>
              <a:rPr lang="en-AU" dirty="0" err="1"/>
              <a:t>Kazman</a:t>
            </a:r>
            <a:r>
              <a:rPr lang="en-AU" dirty="0"/>
              <a:t>, distributed under Creative Commons Attribution License</a:t>
            </a:r>
          </a:p>
        </p:txBody>
      </p:sp>
      <p:sp>
        <p:nvSpPr>
          <p:cNvPr id="7" name="Slide Number Placeholder 6"/>
          <p:cNvSpPr>
            <a:spLocks noGrp="1"/>
          </p:cNvSpPr>
          <p:nvPr>
            <p:ph type="sldNum" sz="quarter" idx="12"/>
          </p:nvPr>
        </p:nvSpPr>
        <p:spPr/>
        <p:txBody>
          <a:bodyPr/>
          <a:lstStyle/>
          <a:p>
            <a:fld id="{D0E8C58C-0836-46C6-8F9A-AF87B5CA09C9}" type="slidenum">
              <a:rPr lang="en-AU" smtClean="0"/>
              <a:t>‹#›</a:t>
            </a:fld>
            <a:endParaRPr lang="en-AU"/>
          </a:p>
        </p:txBody>
      </p:sp>
    </p:spTree>
    <p:extLst>
      <p:ext uri="{BB962C8B-B14F-4D97-AF65-F5344CB8AC3E}">
        <p14:creationId xmlns:p14="http://schemas.microsoft.com/office/powerpoint/2010/main" val="25007441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63C94F8-BF1B-412F-A811-124AF48AB6BD}" type="datetime1">
              <a:rPr lang="en-AU" smtClean="0"/>
              <a:t>3/11/2025</a:t>
            </a:fld>
            <a:endParaRPr lang="en-AU"/>
          </a:p>
        </p:txBody>
      </p:sp>
      <p:sp>
        <p:nvSpPr>
          <p:cNvPr id="6" name="Footer Placeholder 5"/>
          <p:cNvSpPr>
            <a:spLocks noGrp="1"/>
          </p:cNvSpPr>
          <p:nvPr>
            <p:ph type="ftr" sz="quarter" idx="11"/>
          </p:nvPr>
        </p:nvSpPr>
        <p:spPr/>
        <p:txBody>
          <a:bodyPr/>
          <a:lstStyle/>
          <a:p>
            <a:r>
              <a:rPr lang="en-AU" dirty="0"/>
              <a:t>© Len Bass, Paul Clements, Rick </a:t>
            </a:r>
            <a:r>
              <a:rPr lang="en-AU" dirty="0" err="1"/>
              <a:t>Kazman</a:t>
            </a:r>
            <a:r>
              <a:rPr lang="en-AU" dirty="0"/>
              <a:t>, distributed under Creative Commons Attribution License</a:t>
            </a:r>
          </a:p>
        </p:txBody>
      </p:sp>
      <p:sp>
        <p:nvSpPr>
          <p:cNvPr id="7" name="Slide Number Placeholder 6"/>
          <p:cNvSpPr>
            <a:spLocks noGrp="1"/>
          </p:cNvSpPr>
          <p:nvPr>
            <p:ph type="sldNum" sz="quarter" idx="12"/>
          </p:nvPr>
        </p:nvSpPr>
        <p:spPr/>
        <p:txBody>
          <a:bodyPr/>
          <a:lstStyle/>
          <a:p>
            <a:fld id="{D0E8C58C-0836-46C6-8F9A-AF87B5CA09C9}" type="slidenum">
              <a:rPr lang="en-AU" smtClean="0"/>
              <a:t>‹#›</a:t>
            </a:fld>
            <a:endParaRPr lang="en-AU"/>
          </a:p>
        </p:txBody>
      </p:sp>
    </p:spTree>
    <p:extLst>
      <p:ext uri="{BB962C8B-B14F-4D97-AF65-F5344CB8AC3E}">
        <p14:creationId xmlns:p14="http://schemas.microsoft.com/office/powerpoint/2010/main" val="3990416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0368C8F9-EC1D-4BA9-A60E-999AFF963F40}" type="datetime1">
              <a:rPr lang="en-AU" smtClean="0"/>
              <a:t>3/11/2025</a:t>
            </a:fld>
            <a:endParaRPr lang="en-AU"/>
          </a:p>
        </p:txBody>
      </p:sp>
      <p:sp>
        <p:nvSpPr>
          <p:cNvPr id="5" name="Footer Placeholder 4"/>
          <p:cNvSpPr>
            <a:spLocks noGrp="1"/>
          </p:cNvSpPr>
          <p:nvPr>
            <p:ph type="ftr" sz="quarter" idx="11"/>
          </p:nvPr>
        </p:nvSpPr>
        <p:spPr/>
        <p:txBody>
          <a:bodyPr/>
          <a:lstStyle/>
          <a:p>
            <a:r>
              <a:rPr lang="en-AU" dirty="0"/>
              <a:t>© Len Bass, Paul Clements, Rick </a:t>
            </a:r>
            <a:r>
              <a:rPr lang="en-AU" dirty="0" err="1"/>
              <a:t>Kazman</a:t>
            </a:r>
            <a:r>
              <a:rPr lang="en-AU" dirty="0"/>
              <a:t>, distributed under Creative Commons Attribution License</a:t>
            </a:r>
          </a:p>
        </p:txBody>
      </p:sp>
      <p:sp>
        <p:nvSpPr>
          <p:cNvPr id="6" name="Slide Number Placeholder 5"/>
          <p:cNvSpPr>
            <a:spLocks noGrp="1"/>
          </p:cNvSpPr>
          <p:nvPr>
            <p:ph type="sldNum" sz="quarter" idx="12"/>
          </p:nvPr>
        </p:nvSpPr>
        <p:spPr/>
        <p:txBody>
          <a:bodyPr/>
          <a:lstStyle/>
          <a:p>
            <a:fld id="{D0E8C58C-0836-46C6-8F9A-AF87B5CA09C9}" type="slidenum">
              <a:rPr lang="en-AU" smtClean="0"/>
              <a:t>‹#›</a:t>
            </a:fld>
            <a:endParaRPr lang="en-AU"/>
          </a:p>
        </p:txBody>
      </p:sp>
    </p:spTree>
    <p:extLst>
      <p:ext uri="{BB962C8B-B14F-4D97-AF65-F5344CB8AC3E}">
        <p14:creationId xmlns:p14="http://schemas.microsoft.com/office/powerpoint/2010/main" val="36831151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AU"/>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4" name="Date Placeholder 3"/>
          <p:cNvSpPr>
            <a:spLocks noGrp="1"/>
          </p:cNvSpPr>
          <p:nvPr>
            <p:ph type="dt" sz="half" idx="10"/>
          </p:nvPr>
        </p:nvSpPr>
        <p:spPr/>
        <p:txBody>
          <a:bodyPr/>
          <a:lstStyle/>
          <a:p>
            <a:fld id="{07FB916B-826A-4DC1-AF36-AFE8D11DE3BA}" type="datetime1">
              <a:rPr lang="en-AU" smtClean="0"/>
              <a:t>3/11/2025</a:t>
            </a:fld>
            <a:endParaRPr lang="en-AU"/>
          </a:p>
        </p:txBody>
      </p:sp>
      <p:sp>
        <p:nvSpPr>
          <p:cNvPr id="5" name="Footer Placeholder 4"/>
          <p:cNvSpPr>
            <a:spLocks noGrp="1"/>
          </p:cNvSpPr>
          <p:nvPr>
            <p:ph type="ftr" sz="quarter" idx="11"/>
          </p:nvPr>
        </p:nvSpPr>
        <p:spPr/>
        <p:txBody>
          <a:bodyPr/>
          <a:lstStyle/>
          <a:p>
            <a:r>
              <a:rPr lang="en-AU" dirty="0"/>
              <a:t>© Len Bass, Paul Clements, Rick </a:t>
            </a:r>
            <a:r>
              <a:rPr lang="en-AU" dirty="0" err="1"/>
              <a:t>Kazman</a:t>
            </a:r>
            <a:r>
              <a:rPr lang="en-AU" dirty="0"/>
              <a:t>, distributed under Creative Commons Attribution License</a:t>
            </a:r>
          </a:p>
        </p:txBody>
      </p:sp>
      <p:sp>
        <p:nvSpPr>
          <p:cNvPr id="6" name="Slide Number Placeholder 5"/>
          <p:cNvSpPr>
            <a:spLocks noGrp="1"/>
          </p:cNvSpPr>
          <p:nvPr>
            <p:ph type="sldNum" sz="quarter" idx="12"/>
          </p:nvPr>
        </p:nvSpPr>
        <p:spPr/>
        <p:txBody>
          <a:bodyPr/>
          <a:lstStyle/>
          <a:p>
            <a:fld id="{D0E8C58C-0836-46C6-8F9A-AF87B5CA09C9}" type="slidenum">
              <a:rPr lang="en-AU" smtClean="0"/>
              <a:t>‹#›</a:t>
            </a:fld>
            <a:endParaRPr lang="en-AU"/>
          </a:p>
        </p:txBody>
      </p:sp>
    </p:spTree>
    <p:extLst>
      <p:ext uri="{BB962C8B-B14F-4D97-AF65-F5344CB8AC3E}">
        <p14:creationId xmlns:p14="http://schemas.microsoft.com/office/powerpoint/2010/main" val="9071778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778098"/>
          </a:xfrm>
          <a:prstGeom prst="rect">
            <a:avLst/>
          </a:prstGeom>
        </p:spPr>
        <p:txBody>
          <a:bodyPr vert="horz" lIns="91440" tIns="45720" rIns="91440" bIns="45720" rtlCol="0" anchor="ctr">
            <a:normAutofit/>
          </a:bodyPr>
          <a:lstStyle/>
          <a:p>
            <a:r>
              <a:rPr lang="en-US" dirty="0"/>
              <a:t>Click to edit Master title style</a:t>
            </a:r>
            <a:endParaRPr lang="en-AU" dirty="0"/>
          </a:p>
        </p:txBody>
      </p:sp>
      <p:sp>
        <p:nvSpPr>
          <p:cNvPr id="3" name="Text Placeholder 2"/>
          <p:cNvSpPr>
            <a:spLocks noGrp="1"/>
          </p:cNvSpPr>
          <p:nvPr>
            <p:ph type="body" idx="1"/>
          </p:nvPr>
        </p:nvSpPr>
        <p:spPr>
          <a:xfrm>
            <a:off x="457200" y="1268760"/>
            <a:ext cx="8229600" cy="485740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C3DB84-98FB-4B92-9E59-12D7CC27F3EE}" type="datetime1">
              <a:rPr lang="en-AU" smtClean="0"/>
              <a:t>3/11/2025</a:t>
            </a:fld>
            <a:endParaRPr lang="en-AU"/>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AU" dirty="0"/>
              <a:t>© Len Bass</a:t>
            </a:r>
            <a:r>
              <a:rPr lang="en-AU"/>
              <a:t>, Paul </a:t>
            </a:r>
            <a:r>
              <a:rPr lang="en-AU" dirty="0"/>
              <a:t>Clements, Rick </a:t>
            </a:r>
            <a:r>
              <a:rPr lang="en-AU" dirty="0" err="1"/>
              <a:t>Kazman</a:t>
            </a:r>
            <a:r>
              <a:rPr lang="en-AU" dirty="0"/>
              <a:t>, distributed under Creative Commons Attribution License</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E8C58C-0836-46C6-8F9A-AF87B5CA09C9}" type="slidenum">
              <a:rPr lang="en-AU" smtClean="0"/>
              <a:t>‹#›</a:t>
            </a:fld>
            <a:endParaRPr lang="en-AU"/>
          </a:p>
        </p:txBody>
      </p:sp>
    </p:spTree>
    <p:extLst>
      <p:ext uri="{BB962C8B-B14F-4D97-AF65-F5344CB8AC3E}">
        <p14:creationId xmlns:p14="http://schemas.microsoft.com/office/powerpoint/2010/main" val="37011788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defTabSz="914400" rtl="0" eaLnBrk="1" latinLnBrk="0" hangingPunct="1">
        <a:lnSpc>
          <a:spcPct val="80000"/>
        </a:lnSpc>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AU" dirty="0"/>
              <a:t>Chapter 19: Architecture, Implementation, and Testing</a:t>
            </a:r>
          </a:p>
        </p:txBody>
      </p:sp>
      <p:sp>
        <p:nvSpPr>
          <p:cNvPr id="3" name="Subtitle 2"/>
          <p:cNvSpPr>
            <a:spLocks noGrp="1"/>
          </p:cNvSpPr>
          <p:nvPr>
            <p:ph type="subTitle" idx="1"/>
          </p:nvPr>
        </p:nvSpPr>
        <p:spPr/>
        <p:txBody>
          <a:bodyPr/>
          <a:lstStyle/>
          <a:p>
            <a:endParaRPr lang="en-AU"/>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27635391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Chapter Outline</a:t>
            </a:r>
          </a:p>
        </p:txBody>
      </p:sp>
      <p:sp>
        <p:nvSpPr>
          <p:cNvPr id="3" name="Content Placeholder 2"/>
          <p:cNvSpPr>
            <a:spLocks noGrp="1"/>
          </p:cNvSpPr>
          <p:nvPr>
            <p:ph idx="1"/>
          </p:nvPr>
        </p:nvSpPr>
        <p:spPr/>
        <p:txBody>
          <a:bodyPr/>
          <a:lstStyle/>
          <a:p>
            <a:r>
              <a:rPr lang="en-US" sz="3200" b="0" i="0" u="none" strike="noStrike" kern="1200" baseline="0" dirty="0">
                <a:solidFill>
                  <a:schemeClr val="tx1"/>
                </a:solidFill>
                <a:latin typeface="+mn-lt"/>
                <a:ea typeface="+mn-ea"/>
                <a:cs typeface="+mn-cs"/>
              </a:rPr>
              <a:t>Architecture and Implementation </a:t>
            </a:r>
          </a:p>
          <a:p>
            <a:r>
              <a:rPr lang="en-US" sz="3200" b="0" i="0" u="none" strike="noStrike" kern="1200" baseline="0" dirty="0">
                <a:solidFill>
                  <a:schemeClr val="tx1"/>
                </a:solidFill>
                <a:latin typeface="+mn-lt"/>
                <a:ea typeface="+mn-ea"/>
                <a:cs typeface="+mn-cs"/>
              </a:rPr>
              <a:t>Architecture and Testing </a:t>
            </a:r>
          </a:p>
          <a:p>
            <a:r>
              <a:rPr lang="en-US" sz="3200" b="0" i="0" u="none" strike="noStrike" kern="1200" baseline="0" dirty="0">
                <a:solidFill>
                  <a:schemeClr val="tx1"/>
                </a:solidFill>
                <a:latin typeface="+mn-lt"/>
                <a:ea typeface="+mn-ea"/>
                <a:cs typeface="+mn-cs"/>
              </a:rPr>
              <a:t>Summary</a:t>
            </a:r>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22939408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Architecture and Implementation</a:t>
            </a:r>
          </a:p>
        </p:txBody>
      </p:sp>
      <p:sp>
        <p:nvSpPr>
          <p:cNvPr id="3" name="Content Placeholder 2"/>
          <p:cNvSpPr>
            <a:spLocks noGrp="1"/>
          </p:cNvSpPr>
          <p:nvPr>
            <p:ph idx="1"/>
          </p:nvPr>
        </p:nvSpPr>
        <p:spPr/>
        <p:txBody>
          <a:bodyPr/>
          <a:lstStyle/>
          <a:p>
            <a:r>
              <a:rPr lang="en-US" dirty="0"/>
              <a:t>Four techniques to help keep the code and the architecture consistent:</a:t>
            </a:r>
          </a:p>
          <a:p>
            <a:pPr lvl="1"/>
            <a:r>
              <a:rPr lang="en-US" dirty="0"/>
              <a:t>Embedding the design in the code</a:t>
            </a:r>
          </a:p>
          <a:p>
            <a:pPr lvl="1"/>
            <a:r>
              <a:rPr lang="en-US" dirty="0"/>
              <a:t>Frameworks</a:t>
            </a:r>
          </a:p>
          <a:p>
            <a:pPr lvl="1"/>
            <a:r>
              <a:rPr lang="en-US" dirty="0"/>
              <a:t>Code templates</a:t>
            </a:r>
          </a:p>
          <a:p>
            <a:pPr lvl="1"/>
            <a:r>
              <a:rPr lang="en-US" dirty="0"/>
              <a:t>Keeping code and architecture consistent (i.e. avoiding “architecture erosion”)</a:t>
            </a:r>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6534157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rtl="0" eaLnBrk="1" latinLnBrk="0" hangingPunct="1"/>
            <a:r>
              <a:rPr lang="en-US" sz="4400" kern="1200" dirty="0">
                <a:solidFill>
                  <a:schemeClr val="tx1"/>
                </a:solidFill>
                <a:effectLst/>
                <a:latin typeface="+mj-lt"/>
                <a:ea typeface="+mj-ea"/>
                <a:cs typeface="+mj-cs"/>
              </a:rPr>
              <a:t>Embedding the Design</a:t>
            </a:r>
            <a:r>
              <a:rPr lang="en-US" sz="4400" kern="1200" baseline="0" dirty="0">
                <a:solidFill>
                  <a:schemeClr val="tx1"/>
                </a:solidFill>
                <a:effectLst/>
                <a:latin typeface="+mj-lt"/>
                <a:ea typeface="+mj-ea"/>
                <a:cs typeface="+mj-cs"/>
              </a:rPr>
              <a:t> in the Code</a:t>
            </a:r>
            <a:endParaRPr lang="en-US" dirty="0"/>
          </a:p>
        </p:txBody>
      </p:sp>
      <p:sp>
        <p:nvSpPr>
          <p:cNvPr id="3" name="Content Placeholder 2"/>
          <p:cNvSpPr>
            <a:spLocks noGrp="1"/>
          </p:cNvSpPr>
          <p:nvPr>
            <p:ph idx="1"/>
          </p:nvPr>
        </p:nvSpPr>
        <p:spPr/>
        <p:txBody>
          <a:bodyPr>
            <a:normAutofit lnSpcReduction="10000"/>
          </a:bodyPr>
          <a:lstStyle/>
          <a:p>
            <a:r>
              <a:rPr lang="en-US" dirty="0"/>
              <a:t>Architecture</a:t>
            </a:r>
            <a:r>
              <a:rPr lang="en-US" baseline="0" dirty="0"/>
              <a:t> acts as a blueprint for implementation. This means</a:t>
            </a:r>
          </a:p>
          <a:p>
            <a:pPr lvl="1"/>
            <a:r>
              <a:rPr lang="en-US" dirty="0"/>
              <a:t>Implementers know what architectural structure they are implementing.</a:t>
            </a:r>
            <a:r>
              <a:rPr lang="en-US" baseline="0" dirty="0"/>
              <a:t> E.g. layer, pub/sub, MVC</a:t>
            </a:r>
            <a:r>
              <a:rPr lang="en-US" dirty="0"/>
              <a:t>, broker, </a:t>
            </a:r>
            <a:r>
              <a:rPr lang="en-US" baseline="0" dirty="0"/>
              <a:t>…</a:t>
            </a:r>
          </a:p>
          <a:p>
            <a:pPr lvl="1"/>
            <a:r>
              <a:rPr lang="en-US" dirty="0"/>
              <a:t>They can document the architectural structure in the code</a:t>
            </a:r>
            <a:r>
              <a:rPr lang="en-US" baseline="0" dirty="0"/>
              <a:t> as comments. Then anyone picking up the code will know some of the constraints.</a:t>
            </a:r>
          </a:p>
          <a:p>
            <a:pPr lvl="1"/>
            <a:r>
              <a:rPr lang="en-US" baseline="0" dirty="0"/>
              <a:t>Projects should have conventions about how to do this. Then tools can automatically relate the code and the architecture.</a:t>
            </a:r>
            <a:endParaRPr lang="en-US" dirty="0"/>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25882818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rtl="0" eaLnBrk="1" latinLnBrk="0" hangingPunct="1"/>
            <a:r>
              <a:rPr lang="en-US" sz="4400" kern="1200" baseline="0" dirty="0">
                <a:solidFill>
                  <a:schemeClr val="tx1"/>
                </a:solidFill>
                <a:effectLst/>
                <a:latin typeface="+mj-lt"/>
                <a:ea typeface="+mj-ea"/>
                <a:cs typeface="+mj-cs"/>
              </a:rPr>
              <a:t>Frameworks</a:t>
            </a:r>
            <a:endParaRPr lang="en-US" dirty="0"/>
          </a:p>
        </p:txBody>
      </p:sp>
      <p:sp>
        <p:nvSpPr>
          <p:cNvPr id="3" name="Content Placeholder 2"/>
          <p:cNvSpPr>
            <a:spLocks noGrp="1"/>
          </p:cNvSpPr>
          <p:nvPr>
            <p:ph idx="1"/>
          </p:nvPr>
        </p:nvSpPr>
        <p:spPr/>
        <p:txBody>
          <a:bodyPr>
            <a:normAutofit fontScale="92500" lnSpcReduction="10000"/>
          </a:bodyPr>
          <a:lstStyle/>
          <a:p>
            <a:r>
              <a:rPr lang="en-US" dirty="0"/>
              <a:t>A framework is a reusable set of classes organized around a particular theme. </a:t>
            </a:r>
          </a:p>
          <a:p>
            <a:r>
              <a:rPr lang="en-US" dirty="0"/>
              <a:t>A programmer uses the services provided by a framework.</a:t>
            </a:r>
          </a:p>
          <a:p>
            <a:r>
              <a:rPr lang="en-US" dirty="0"/>
              <a:t>Examples are</a:t>
            </a:r>
          </a:p>
          <a:p>
            <a:pPr lvl="1"/>
            <a:r>
              <a:rPr lang="en-US" dirty="0"/>
              <a:t>Ruby on Rails is based on MVC is designed for web applications. It offers the ability to gather information from the web server, talk to or query the database, and render templates.</a:t>
            </a:r>
          </a:p>
          <a:p>
            <a:pPr lvl="1"/>
            <a:r>
              <a:rPr lang="en-US" dirty="0"/>
              <a:t>AUTOSAR is designed for the computers inside of automobiles.</a:t>
            </a:r>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4899973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600" y="260648"/>
            <a:ext cx="7715200" cy="778098"/>
          </a:xfrm>
        </p:spPr>
        <p:txBody>
          <a:bodyPr>
            <a:normAutofit/>
          </a:bodyPr>
          <a:lstStyle/>
          <a:p>
            <a:pPr rtl="0" eaLnBrk="1" latinLnBrk="0" hangingPunct="1"/>
            <a:r>
              <a:rPr lang="en-US" sz="4400" kern="1200" baseline="0" dirty="0">
                <a:solidFill>
                  <a:schemeClr val="tx1"/>
                </a:solidFill>
                <a:effectLst/>
                <a:latin typeface="+mj-lt"/>
                <a:ea typeface="+mj-ea"/>
                <a:cs typeface="+mj-cs"/>
              </a:rPr>
              <a:t>Code Templates</a:t>
            </a:r>
            <a:endParaRPr lang="en-US" dirty="0"/>
          </a:p>
        </p:txBody>
      </p:sp>
      <p:sp>
        <p:nvSpPr>
          <p:cNvPr id="3" name="Content Placeholder 2"/>
          <p:cNvSpPr>
            <a:spLocks noGrp="1"/>
          </p:cNvSpPr>
          <p:nvPr>
            <p:ph idx="1"/>
          </p:nvPr>
        </p:nvSpPr>
        <p:spPr/>
        <p:txBody>
          <a:bodyPr>
            <a:normAutofit fontScale="70000" lnSpcReduction="20000"/>
          </a:bodyPr>
          <a:lstStyle/>
          <a:p>
            <a:r>
              <a:rPr lang="en-US" sz="4000" dirty="0"/>
              <a:t>A code template is collection of code within which the programmer provides application specific portions.</a:t>
            </a:r>
          </a:p>
          <a:p>
            <a:r>
              <a:rPr lang="en-US" sz="4000" dirty="0"/>
              <a:t>The example below implements a failover protocol:</a:t>
            </a:r>
          </a:p>
          <a:p>
            <a:endParaRPr lang="en-US" sz="4000" dirty="0"/>
          </a:p>
          <a:p>
            <a:pPr marL="400050" lvl="1" indent="0">
              <a:buNone/>
            </a:pPr>
            <a:r>
              <a:rPr lang="en-US" sz="3600" i="1" dirty="0"/>
              <a:t>In the event that a failure is detected in a critical-application component, a</a:t>
            </a:r>
            <a:r>
              <a:rPr lang="en-US" sz="3600" i="1" baseline="0" dirty="0"/>
              <a:t> </a:t>
            </a:r>
            <a:r>
              <a:rPr lang="en-US" sz="3600" i="1" dirty="0"/>
              <a:t>switchover occurs as follows:</a:t>
            </a:r>
          </a:p>
          <a:p>
            <a:pPr marL="914400" lvl="1" indent="-514350">
              <a:buFont typeface="+mj-lt"/>
              <a:buAutoNum type="arabicPeriod"/>
            </a:pPr>
            <a:r>
              <a:rPr lang="en-US" dirty="0"/>
              <a:t>A secondary copy, executing in parallel in background on a different processor,</a:t>
            </a:r>
            <a:r>
              <a:rPr lang="en-US" baseline="0" dirty="0"/>
              <a:t> </a:t>
            </a:r>
            <a:r>
              <a:rPr lang="en-US" dirty="0"/>
              <a:t>is promoted to the new primary.</a:t>
            </a:r>
          </a:p>
          <a:p>
            <a:pPr marL="914400" lvl="1" indent="-514350">
              <a:buFont typeface="+mj-lt"/>
              <a:buAutoNum type="arabicPeriod"/>
            </a:pPr>
            <a:r>
              <a:rPr lang="en-US" dirty="0"/>
              <a:t>The new primary reconstitutes with the application’s clients </a:t>
            </a:r>
          </a:p>
          <a:p>
            <a:pPr marL="914400" lvl="1" indent="-514350">
              <a:buFont typeface="+mj-lt"/>
              <a:buAutoNum type="arabicPeriod"/>
            </a:pPr>
            <a:r>
              <a:rPr lang="en-US" dirty="0"/>
              <a:t>A new secondary is started to serve as a backup for the new primary. </a:t>
            </a:r>
          </a:p>
          <a:p>
            <a:pPr marL="914400" lvl="1" indent="-514350">
              <a:buFont typeface="+mj-lt"/>
              <a:buAutoNum type="arabicPeriod"/>
            </a:pPr>
            <a:r>
              <a:rPr lang="en-US" dirty="0"/>
              <a:t>The newly started secondary announces itself to the new primary.</a:t>
            </a:r>
          </a:p>
          <a:p>
            <a:pPr marL="400050" lvl="1" indent="0">
              <a:buNone/>
            </a:pPr>
            <a:r>
              <a:rPr lang="en-US" sz="3400" i="1" dirty="0"/>
              <a:t>If failure is detected within a secondary, a new one is started on some other processor. </a:t>
            </a:r>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40921107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Process:</a:t>
            </a:r>
          </a:p>
          <a:p>
            <a:pPr lvl="1"/>
            <a:r>
              <a:rPr lang="en-US" baseline="0" dirty="0"/>
              <a:t>Use the code template for every critical component that must have a hot standby.</a:t>
            </a:r>
          </a:p>
          <a:p>
            <a:pPr lvl="1"/>
            <a:r>
              <a:rPr lang="en-US" baseline="0" dirty="0"/>
              <a:t>Place application specific code in fixed places within the template.</a:t>
            </a:r>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
        <p:nvSpPr>
          <p:cNvPr id="6" name="Title 1"/>
          <p:cNvSpPr>
            <a:spLocks noGrp="1"/>
          </p:cNvSpPr>
          <p:nvPr>
            <p:ph type="title"/>
          </p:nvPr>
        </p:nvSpPr>
        <p:spPr>
          <a:xfrm>
            <a:off x="971600" y="274638"/>
            <a:ext cx="7715200" cy="778098"/>
          </a:xfrm>
        </p:spPr>
        <p:txBody>
          <a:bodyPr>
            <a:normAutofit/>
          </a:bodyPr>
          <a:lstStyle/>
          <a:p>
            <a:pPr rtl="0" eaLnBrk="1" latinLnBrk="0" hangingPunct="1"/>
            <a:r>
              <a:rPr lang="en-US" sz="4400" kern="1200" baseline="0" dirty="0">
                <a:solidFill>
                  <a:schemeClr val="tx1"/>
                </a:solidFill>
                <a:effectLst/>
                <a:latin typeface="+mj-lt"/>
                <a:ea typeface="+mj-ea"/>
                <a:cs typeface="+mj-cs"/>
              </a:rPr>
              <a:t>Code Templates</a:t>
            </a:r>
            <a:endParaRPr lang="en-US" dirty="0"/>
          </a:p>
        </p:txBody>
      </p:sp>
    </p:spTree>
    <p:extLst>
      <p:ext uri="{BB962C8B-B14F-4D97-AF65-F5344CB8AC3E}">
        <p14:creationId xmlns:p14="http://schemas.microsoft.com/office/powerpoint/2010/main" val="5015721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Advantages of Code Templates</a:t>
            </a:r>
          </a:p>
        </p:txBody>
      </p:sp>
      <p:sp>
        <p:nvSpPr>
          <p:cNvPr id="3" name="Content Placeholder 2"/>
          <p:cNvSpPr>
            <a:spLocks noGrp="1"/>
          </p:cNvSpPr>
          <p:nvPr>
            <p:ph idx="1"/>
          </p:nvPr>
        </p:nvSpPr>
        <p:spPr/>
        <p:txBody>
          <a:bodyPr/>
          <a:lstStyle/>
          <a:p>
            <a:r>
              <a:rPr lang="en-US" dirty="0"/>
              <a:t>Components</a:t>
            </a:r>
            <a:r>
              <a:rPr lang="en-US" baseline="0" dirty="0"/>
              <a:t> with similar properties behave in a similar fashion.</a:t>
            </a:r>
          </a:p>
          <a:p>
            <a:r>
              <a:rPr lang="en-US" baseline="0" dirty="0"/>
              <a:t>Template only needs to be debugged once.</a:t>
            </a:r>
          </a:p>
          <a:p>
            <a:r>
              <a:rPr lang="en-US" baseline="0" dirty="0"/>
              <a:t>Complicated portions can be completed by skilled personnel and handed off to less skilled personnel.</a:t>
            </a:r>
            <a:endParaRPr lang="en-US" dirty="0"/>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17208992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Architecture and Testing</a:t>
            </a:r>
          </a:p>
        </p:txBody>
      </p:sp>
      <p:sp>
        <p:nvSpPr>
          <p:cNvPr id="3" name="Content Placeholder 2"/>
          <p:cNvSpPr>
            <a:spLocks noGrp="1"/>
          </p:cNvSpPr>
          <p:nvPr>
            <p:ph idx="1"/>
          </p:nvPr>
        </p:nvSpPr>
        <p:spPr/>
        <p:txBody>
          <a:bodyPr/>
          <a:lstStyle/>
          <a:p>
            <a:r>
              <a:rPr lang="en-US" dirty="0"/>
              <a:t>Unit test</a:t>
            </a:r>
          </a:p>
          <a:p>
            <a:r>
              <a:rPr lang="en-US" dirty="0"/>
              <a:t>Integration test</a:t>
            </a:r>
          </a:p>
          <a:p>
            <a:r>
              <a:rPr lang="en-US" dirty="0"/>
              <a:t>Network effects</a:t>
            </a:r>
          </a:p>
          <a:p>
            <a:r>
              <a:rPr lang="en-US" dirty="0"/>
              <a:t>Test activities </a:t>
            </a:r>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14103698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Unit Test</a:t>
            </a:r>
          </a:p>
        </p:txBody>
      </p:sp>
      <p:sp>
        <p:nvSpPr>
          <p:cNvPr id="3" name="Content Placeholder 2"/>
          <p:cNvSpPr>
            <a:spLocks noGrp="1"/>
          </p:cNvSpPr>
          <p:nvPr>
            <p:ph idx="1"/>
          </p:nvPr>
        </p:nvSpPr>
        <p:spPr/>
        <p:txBody>
          <a:bodyPr>
            <a:normAutofit fontScale="85000" lnSpcReduction="20000"/>
          </a:bodyPr>
          <a:lstStyle/>
          <a:p>
            <a:r>
              <a:rPr lang="en-US" dirty="0"/>
              <a:t>Architecture defines the units that are to be tested. They are components or modules.</a:t>
            </a:r>
          </a:p>
          <a:p>
            <a:r>
              <a:rPr lang="en-US" dirty="0"/>
              <a:t>Architecture defines the responsibilities and interactions of the units.</a:t>
            </a:r>
          </a:p>
          <a:p>
            <a:r>
              <a:rPr lang="en-US" dirty="0"/>
              <a:t>Test harness will drive the element to be tested. The test harness can test:</a:t>
            </a:r>
          </a:p>
          <a:p>
            <a:pPr lvl="1"/>
            <a:r>
              <a:rPr lang="en-US" dirty="0"/>
              <a:t>Responsibilities for functional correctness</a:t>
            </a:r>
          </a:p>
          <a:p>
            <a:pPr lvl="1"/>
            <a:r>
              <a:rPr lang="en-US" dirty="0"/>
              <a:t>Performance through synthetic loads</a:t>
            </a:r>
          </a:p>
          <a:p>
            <a:pPr lvl="1"/>
            <a:r>
              <a:rPr lang="en-US" dirty="0"/>
              <a:t>Availability through fault injection. i.e. what happens if a component on which the component</a:t>
            </a:r>
            <a:r>
              <a:rPr lang="en-US" baseline="0" dirty="0"/>
              <a:t> being tested does not respond.</a:t>
            </a:r>
          </a:p>
          <a:p>
            <a:pPr lvl="0"/>
            <a:r>
              <a:rPr lang="en-US" baseline="0" dirty="0"/>
              <a:t>Modifiability requirements can also be tested by assigning changes to test teams.</a:t>
            </a:r>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39370773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Integration Test</a:t>
            </a:r>
          </a:p>
        </p:txBody>
      </p:sp>
      <p:sp>
        <p:nvSpPr>
          <p:cNvPr id="3" name="Content Placeholder 2"/>
          <p:cNvSpPr>
            <a:spLocks noGrp="1"/>
          </p:cNvSpPr>
          <p:nvPr>
            <p:ph idx="1"/>
          </p:nvPr>
        </p:nvSpPr>
        <p:spPr/>
        <p:txBody>
          <a:bodyPr/>
          <a:lstStyle/>
          <a:p>
            <a:r>
              <a:rPr lang="en-US" dirty="0"/>
              <a:t>As with unit test, integration test can test functionality,</a:t>
            </a:r>
            <a:r>
              <a:rPr lang="en-US" baseline="0" dirty="0"/>
              <a:t> performance, availability, and security.</a:t>
            </a:r>
          </a:p>
          <a:p>
            <a:r>
              <a:rPr lang="en-US" baseline="0" dirty="0"/>
              <a:t>Security can be tested by having the test harness execute various attack scenarios.</a:t>
            </a:r>
          </a:p>
          <a:p>
            <a:r>
              <a:rPr lang="en-US" baseline="0" dirty="0"/>
              <a:t>Systems may degrade after being run for a long time if resources are not freed</a:t>
            </a:r>
            <a:r>
              <a:rPr lang="en-US" dirty="0"/>
              <a:t> </a:t>
            </a:r>
            <a:r>
              <a:rPr lang="en-US" baseline="0" dirty="0"/>
              <a:t>or a configuration</a:t>
            </a:r>
            <a:r>
              <a:rPr lang="en-US" dirty="0"/>
              <a:t> is incorrectly specified. </a:t>
            </a:r>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30874591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Test Activities</a:t>
            </a:r>
          </a:p>
        </p:txBody>
      </p:sp>
      <p:sp>
        <p:nvSpPr>
          <p:cNvPr id="3" name="Content Placeholder 2"/>
          <p:cNvSpPr>
            <a:spLocks noGrp="1"/>
          </p:cNvSpPr>
          <p:nvPr>
            <p:ph idx="1"/>
          </p:nvPr>
        </p:nvSpPr>
        <p:spPr/>
        <p:txBody>
          <a:bodyPr>
            <a:normAutofit fontScale="92500" lnSpcReduction="10000"/>
          </a:bodyPr>
          <a:lstStyle/>
          <a:p>
            <a:r>
              <a:rPr lang="en-US" dirty="0"/>
              <a:t>The architect should be actively involved in</a:t>
            </a:r>
          </a:p>
          <a:p>
            <a:pPr lvl="1"/>
            <a:r>
              <a:rPr lang="en-US" dirty="0"/>
              <a:t>Test planning, since the architect knows the sensitive areas of the system.</a:t>
            </a:r>
          </a:p>
          <a:p>
            <a:pPr lvl="1"/>
            <a:r>
              <a:rPr lang="en-US" dirty="0"/>
              <a:t>Test development. Test</a:t>
            </a:r>
            <a:r>
              <a:rPr lang="en-US" baseline="0" dirty="0"/>
              <a:t> driven development is a technique where the next increment of the system is developed to satisfy a predetermined test.</a:t>
            </a:r>
          </a:p>
          <a:p>
            <a:pPr lvl="1"/>
            <a:r>
              <a:rPr lang="en-US" baseline="0" dirty="0"/>
              <a:t>Test interpretation. The architect knows what various monitored values should be and is best equipped to interpret test results.</a:t>
            </a:r>
          </a:p>
          <a:p>
            <a:pPr lvl="1"/>
            <a:r>
              <a:rPr lang="en-US" baseline="0" dirty="0"/>
              <a:t>Test harness creation. The test harness has to intimately interact with the system and this requires architecture knowledge. </a:t>
            </a:r>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25801874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
        <p:nvSpPr>
          <p:cNvPr id="3" name="Content Placeholder 2"/>
          <p:cNvSpPr>
            <a:spLocks noGrp="1"/>
          </p:cNvSpPr>
          <p:nvPr>
            <p:ph idx="1"/>
          </p:nvPr>
        </p:nvSpPr>
        <p:spPr/>
        <p:txBody>
          <a:bodyPr>
            <a:normAutofit fontScale="85000" lnSpcReduction="20000"/>
          </a:bodyPr>
          <a:lstStyle/>
          <a:p>
            <a:r>
              <a:rPr lang="en-US" dirty="0"/>
              <a:t>Implementation</a:t>
            </a:r>
          </a:p>
          <a:p>
            <a:pPr lvl="1"/>
            <a:r>
              <a:rPr lang="en-US" dirty="0"/>
              <a:t>Implementation</a:t>
            </a:r>
            <a:r>
              <a:rPr lang="en-US" baseline="0" dirty="0"/>
              <a:t> activities can embed architecture knowledge in the code</a:t>
            </a:r>
          </a:p>
          <a:p>
            <a:pPr lvl="1"/>
            <a:r>
              <a:rPr lang="en-US" baseline="0" dirty="0"/>
              <a:t>Templates can be used for critical sections that reoccur</a:t>
            </a:r>
          </a:p>
          <a:p>
            <a:pPr lvl="1" rtl="0" eaLnBrk="1" latinLnBrk="0" hangingPunct="1"/>
            <a:r>
              <a:rPr lang="en-US" sz="2800" kern="1200" dirty="0">
                <a:solidFill>
                  <a:schemeClr val="tx1"/>
                </a:solidFill>
                <a:effectLst/>
                <a:latin typeface="+mn-lt"/>
                <a:ea typeface="+mn-ea"/>
                <a:cs typeface="+mn-cs"/>
              </a:rPr>
              <a:t>Architecture erosion can be prevented through use of tools and management processes</a:t>
            </a:r>
            <a:endParaRPr lang="en-US" baseline="0" dirty="0"/>
          </a:p>
          <a:p>
            <a:pPr rtl="0" eaLnBrk="1" latinLnBrk="0" hangingPunct="1"/>
            <a:r>
              <a:rPr lang="en-US" sz="3200" kern="1200" dirty="0">
                <a:solidFill>
                  <a:schemeClr val="tx1"/>
                </a:solidFill>
                <a:effectLst/>
                <a:latin typeface="+mn-lt"/>
                <a:ea typeface="+mn-ea"/>
                <a:cs typeface="+mn-cs"/>
              </a:rPr>
              <a:t>Testing</a:t>
            </a:r>
          </a:p>
          <a:p>
            <a:pPr lvl="1" rtl="0" eaLnBrk="1" latinLnBrk="0" hangingPunct="1"/>
            <a:r>
              <a:rPr lang="en-US" sz="2800" kern="1200" dirty="0">
                <a:solidFill>
                  <a:schemeClr val="tx1"/>
                </a:solidFill>
                <a:effectLst/>
                <a:latin typeface="+mn-lt"/>
                <a:ea typeface="+mn-ea"/>
                <a:cs typeface="+mn-cs"/>
              </a:rPr>
              <a:t>Unit and integration tests depend</a:t>
            </a:r>
            <a:r>
              <a:rPr lang="en-US" sz="2800" kern="1200" baseline="0" dirty="0">
                <a:solidFill>
                  <a:schemeClr val="tx1"/>
                </a:solidFill>
                <a:effectLst/>
                <a:latin typeface="+mn-lt"/>
                <a:ea typeface="+mn-ea"/>
                <a:cs typeface="+mn-cs"/>
              </a:rPr>
              <a:t> </a:t>
            </a:r>
            <a:r>
              <a:rPr lang="en-US" sz="2800" kern="1200" dirty="0">
                <a:solidFill>
                  <a:schemeClr val="tx1"/>
                </a:solidFill>
                <a:effectLst/>
                <a:latin typeface="+mn-lt"/>
                <a:ea typeface="+mn-ea"/>
                <a:cs typeface="+mn-cs"/>
              </a:rPr>
              <a:t>on architectural knowledge and a test harness.</a:t>
            </a:r>
            <a:endParaRPr lang="en-US" dirty="0">
              <a:effectLst/>
            </a:endParaRPr>
          </a:p>
          <a:p>
            <a:pPr lvl="1" rtl="0" eaLnBrk="1" latinLnBrk="0" hangingPunct="1"/>
            <a:r>
              <a:rPr lang="en-US" sz="2800" kern="1200" dirty="0">
                <a:solidFill>
                  <a:schemeClr val="tx1"/>
                </a:solidFill>
                <a:effectLst/>
                <a:latin typeface="+mn-lt"/>
                <a:ea typeface="+mn-ea"/>
                <a:cs typeface="+mn-cs"/>
              </a:rPr>
              <a:t>Network effects are difficult to discover when deploying a</a:t>
            </a:r>
            <a:r>
              <a:rPr lang="en-US" sz="2800" kern="1200" baseline="0" dirty="0">
                <a:solidFill>
                  <a:schemeClr val="tx1"/>
                </a:solidFill>
                <a:effectLst/>
                <a:latin typeface="+mn-lt"/>
                <a:ea typeface="+mn-ea"/>
                <a:cs typeface="+mn-cs"/>
              </a:rPr>
              <a:t> system to 1000s of servers.</a:t>
            </a:r>
            <a:endParaRPr lang="en-US" dirty="0">
              <a:effectLst/>
            </a:endParaRPr>
          </a:p>
          <a:p>
            <a:pPr lvl="1" rtl="0" eaLnBrk="1" latinLnBrk="0" hangingPunct="1"/>
            <a:r>
              <a:rPr lang="en-US" sz="2800" kern="1200" dirty="0">
                <a:solidFill>
                  <a:schemeClr val="tx1"/>
                </a:solidFill>
                <a:effectLst/>
                <a:latin typeface="+mn-lt"/>
                <a:ea typeface="+mn-ea"/>
                <a:cs typeface="+mn-cs"/>
              </a:rPr>
              <a:t>The</a:t>
            </a:r>
            <a:r>
              <a:rPr lang="en-US" sz="2800" kern="1200" baseline="0" dirty="0">
                <a:solidFill>
                  <a:schemeClr val="tx1"/>
                </a:solidFill>
                <a:effectLst/>
                <a:latin typeface="+mn-lt"/>
                <a:ea typeface="+mn-ea"/>
                <a:cs typeface="+mn-cs"/>
              </a:rPr>
              <a:t> architect should be involved in a wide variety of test activities.</a:t>
            </a:r>
            <a:endParaRPr lang="en-US" dirty="0">
              <a:effectLst/>
            </a:endParaRPr>
          </a:p>
          <a:p>
            <a:pPr marL="0" indent="0">
              <a:buNone/>
            </a:pPr>
            <a:endParaRPr lang="en-US" dirty="0"/>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33359940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121</TotalTime>
  <Words>928</Words>
  <Application>Microsoft Office PowerPoint</Application>
  <PresentationFormat>全屏显示(4:3)</PresentationFormat>
  <Paragraphs>85</Paragraphs>
  <Slides>13</Slides>
  <Notes>0</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13</vt:i4>
      </vt:variant>
    </vt:vector>
  </HeadingPairs>
  <TitlesOfParts>
    <vt:vector size="16" baseType="lpstr">
      <vt:lpstr>Arial</vt:lpstr>
      <vt:lpstr>Calibri</vt:lpstr>
      <vt:lpstr>Office Theme</vt:lpstr>
      <vt:lpstr>Chapter 19: Architecture, Implementation, and Testing</vt:lpstr>
      <vt:lpstr>Chapter Outline</vt:lpstr>
      <vt:lpstr>Architecture and Implementation</vt:lpstr>
      <vt:lpstr>Embedding the Design in the Code</vt:lpstr>
      <vt:lpstr>Frameworks</vt:lpstr>
      <vt:lpstr>Code Templates</vt:lpstr>
      <vt:lpstr>Code Templates</vt:lpstr>
      <vt:lpstr>Advantages of Code Templates</vt:lpstr>
      <vt:lpstr>Architecture and Testing</vt:lpstr>
      <vt:lpstr>Unit Test</vt:lpstr>
      <vt:lpstr>Integration Test</vt:lpstr>
      <vt:lpstr>Test Activities</vt:lpstr>
      <vt:lpstr>Summary</vt:lpstr>
    </vt:vector>
  </TitlesOfParts>
  <Company>NICTA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Len Bass</dc:creator>
  <cp:lastModifiedBy>七七 许</cp:lastModifiedBy>
  <cp:revision>20</cp:revision>
  <dcterms:created xsi:type="dcterms:W3CDTF">2012-04-18T22:57:58Z</dcterms:created>
  <dcterms:modified xsi:type="dcterms:W3CDTF">2025-11-03T07:25:30Z</dcterms:modified>
</cp:coreProperties>
</file>