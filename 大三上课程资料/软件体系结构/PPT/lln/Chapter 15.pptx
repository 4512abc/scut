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275" r:id="rId3"/>
    <p:sldId id="276" r:id="rId4"/>
    <p:sldId id="260" r:id="rId5"/>
    <p:sldId id="261" r:id="rId6"/>
    <p:sldId id="262" r:id="rId7"/>
    <p:sldId id="264" r:id="rId8"/>
    <p:sldId id="263" r:id="rId9"/>
    <p:sldId id="265" r:id="rId10"/>
    <p:sldId id="266" r:id="rId11"/>
    <p:sldId id="267" r:id="rId12"/>
    <p:sldId id="268" r:id="rId13"/>
    <p:sldId id="269" r:id="rId14"/>
    <p:sldId id="270" r:id="rId15"/>
    <p:sldId id="271" r:id="rId16"/>
    <p:sldId id="272" r:id="rId17"/>
    <p:sldId id="277" r:id="rId18"/>
    <p:sldId id="27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103" d="100"/>
          <a:sy n="103" d="100"/>
        </p:scale>
        <p:origin x="1608" y="10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9B1F14-2969-4234-94C2-84FB01E3AC7A}" type="datetimeFigureOut">
              <a:rPr lang="en-AU" smtClean="0"/>
              <a:t>3/11/2025</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5789E-32BF-4BCD-9509-3BAE69BCF054}" type="slidenum">
              <a:rPr lang="en-AU" smtClean="0"/>
              <a:t>‹#›</a:t>
            </a:fld>
            <a:endParaRPr lang="en-AU"/>
          </a:p>
        </p:txBody>
      </p:sp>
    </p:spTree>
    <p:extLst>
      <p:ext uri="{BB962C8B-B14F-4D97-AF65-F5344CB8AC3E}">
        <p14:creationId xmlns:p14="http://schemas.microsoft.com/office/powerpoint/2010/main" val="119235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0F0CDB67-B98A-4AC5-929D-81BD9B8E0ED5}"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Kazman,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879723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dirty="0"/>
              <a:t>© Len Bass, Paul Clements, Rick </a:t>
            </a:r>
            <a:r>
              <a:rPr lang="en-AU" dirty="0" err="1"/>
              <a:t>Kazman</a:t>
            </a:r>
            <a:r>
              <a:rPr lang="en-AU" dirty="0"/>
              <a:t>, distributed under Creative Commons Attribution License</a:t>
            </a:r>
          </a:p>
        </p:txBody>
      </p:sp>
    </p:spTree>
    <p:extLst>
      <p:ext uri="{BB962C8B-B14F-4D97-AF65-F5344CB8AC3E}">
        <p14:creationId xmlns:p14="http://schemas.microsoft.com/office/powerpoint/2010/main" val="31718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FD9AFD-92D5-4F38-81E5-3FBC268DED4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pic>
        <p:nvPicPr>
          <p:cNvPr id="7"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1872208" cy="187220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259306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Content Placeholder 2"/>
          <p:cNvSpPr>
            <a:spLocks noGrp="1"/>
          </p:cNvSpPr>
          <p:nvPr>
            <p:ph sz="half" idx="1"/>
          </p:nvPr>
        </p:nvSpPr>
        <p:spPr>
          <a:xfrm>
            <a:off x="457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268760"/>
            <a:ext cx="4038600" cy="485740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AADA7F1-F5F6-4965-B98A-1EF216FC21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pic>
        <p:nvPicPr>
          <p:cNvPr id="8"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1935669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F0D0951D-1B64-4AD7-951D-395C8B37DA62}" type="datetime1">
              <a:rPr lang="en-AU" smtClean="0"/>
              <a:t>3/11/2025</a:t>
            </a:fld>
            <a:endParaRPr lang="en-AU"/>
          </a:p>
        </p:txBody>
      </p:sp>
      <p:sp>
        <p:nvSpPr>
          <p:cNvPr id="8" name="Footer Placeholder 7"/>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9" name="Slide Number Placeholder 8"/>
          <p:cNvSpPr>
            <a:spLocks noGrp="1"/>
          </p:cNvSpPr>
          <p:nvPr>
            <p:ph type="sldNum" sz="quarter" idx="12"/>
          </p:nvPr>
        </p:nvSpPr>
        <p:spPr/>
        <p:txBody>
          <a:bodyPr/>
          <a:lstStyle/>
          <a:p>
            <a:fld id="{D0E8C58C-0836-46C6-8F9A-AF87B5CA09C9}" type="slidenum">
              <a:rPr lang="en-AU" smtClean="0"/>
              <a:t>‹#›</a:t>
            </a:fld>
            <a:endParaRPr lang="en-AU"/>
          </a:p>
        </p:txBody>
      </p:sp>
      <p:pic>
        <p:nvPicPr>
          <p:cNvPr id="10"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32745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99592" y="274638"/>
            <a:ext cx="7787208" cy="778098"/>
          </a:xfrm>
        </p:spPr>
        <p:txBody>
          <a:bodyPr/>
          <a:lstStyle/>
          <a:p>
            <a:r>
              <a:rPr lang="en-US" dirty="0"/>
              <a:t>Click to edit Master title style</a:t>
            </a:r>
            <a:endParaRPr lang="en-AU" dirty="0"/>
          </a:p>
        </p:txBody>
      </p:sp>
      <p:sp>
        <p:nvSpPr>
          <p:cNvPr id="3" name="Date Placeholder 2"/>
          <p:cNvSpPr>
            <a:spLocks noGrp="1"/>
          </p:cNvSpPr>
          <p:nvPr>
            <p:ph type="dt" sz="half" idx="10"/>
          </p:nvPr>
        </p:nvSpPr>
        <p:spPr/>
        <p:txBody>
          <a:bodyPr/>
          <a:lstStyle/>
          <a:p>
            <a:fld id="{3054D5B1-B0B7-4FEE-A636-82BBB8DC2F24}" type="datetime1">
              <a:rPr lang="en-AU" smtClean="0"/>
              <a:t>3/11/2025</a:t>
            </a:fld>
            <a:endParaRPr lang="en-AU"/>
          </a:p>
        </p:txBody>
      </p:sp>
      <p:sp>
        <p:nvSpPr>
          <p:cNvPr id="4" name="Footer Placeholder 3"/>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5" name="Slide Number Placeholder 4"/>
          <p:cNvSpPr>
            <a:spLocks noGrp="1"/>
          </p:cNvSpPr>
          <p:nvPr>
            <p:ph type="sldNum" sz="quarter" idx="12"/>
          </p:nvPr>
        </p:nvSpPr>
        <p:spPr/>
        <p:txBody>
          <a:bodyPr/>
          <a:lstStyle/>
          <a:p>
            <a:fld id="{D0E8C58C-0836-46C6-8F9A-AF87B5CA09C9}" type="slidenum">
              <a:rPr lang="en-AU" smtClean="0"/>
              <a:t>‹#›</a:t>
            </a:fld>
            <a:endParaRPr lang="en-AU"/>
          </a:p>
        </p:txBody>
      </p:sp>
      <p:pic>
        <p:nvPicPr>
          <p:cNvPr id="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43795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83E332-3D0B-4932-A3B1-41A6E16690E0}" type="datetime1">
              <a:rPr lang="en-AU" smtClean="0"/>
              <a:t>3/11/2025</a:t>
            </a:fld>
            <a:endParaRPr lang="en-AU"/>
          </a:p>
        </p:txBody>
      </p:sp>
      <p:sp>
        <p:nvSpPr>
          <p:cNvPr id="3" name="Footer Placeholder 2"/>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4" name="Slide Number Placeholder 3"/>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6675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5EB9C4-EF48-4255-A3A3-972222EC13E9}"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2500744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3C94F8-BF1B-412F-A811-124AF48AB6BD}" type="datetime1">
              <a:rPr lang="en-AU" smtClean="0"/>
              <a:t>3/11/2025</a:t>
            </a:fld>
            <a:endParaRPr lang="en-AU"/>
          </a:p>
        </p:txBody>
      </p:sp>
      <p:sp>
        <p:nvSpPr>
          <p:cNvPr id="6" name="Footer Placeholder 5"/>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7" name="Slide Number Placeholder 6"/>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99041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0368C8F9-EC1D-4BA9-A60E-999AFF963F40}"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36831151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sz="half" idx="10"/>
          </p:nvPr>
        </p:nvSpPr>
        <p:spPr/>
        <p:txBody>
          <a:bodyPr/>
          <a:lstStyle/>
          <a:p>
            <a:fld id="{07FB916B-826A-4DC1-AF36-AFE8D11DE3BA}" type="datetime1">
              <a:rPr lang="en-AU" smtClean="0"/>
              <a:t>3/11/2025</a:t>
            </a:fld>
            <a:endParaRPr lang="en-AU"/>
          </a:p>
        </p:txBody>
      </p:sp>
      <p:sp>
        <p:nvSpPr>
          <p:cNvPr id="5" name="Footer Placeholder 4"/>
          <p:cNvSpPr>
            <a:spLocks noGrp="1"/>
          </p:cNvSpPr>
          <p:nvPr>
            <p:ph type="ftr" sz="quarter" idx="11"/>
          </p:nvPr>
        </p:nvSpPr>
        <p:spPr/>
        <p:txBody>
          <a:bodyPr/>
          <a:lstStyle/>
          <a:p>
            <a:r>
              <a:rPr lang="en-AU" dirty="0"/>
              <a:t>© Len Bass, Paul 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12"/>
          </p:nvPr>
        </p:nvSpPr>
        <p:spPr/>
        <p:txBody>
          <a:bodyPr/>
          <a:lstStyle/>
          <a:p>
            <a:fld id="{D0E8C58C-0836-46C6-8F9A-AF87B5CA09C9}" type="slidenum">
              <a:rPr lang="en-AU" smtClean="0"/>
              <a:t>‹#›</a:t>
            </a:fld>
            <a:endParaRPr lang="en-AU"/>
          </a:p>
        </p:txBody>
      </p:sp>
    </p:spTree>
    <p:extLst>
      <p:ext uri="{BB962C8B-B14F-4D97-AF65-F5344CB8AC3E}">
        <p14:creationId xmlns:p14="http://schemas.microsoft.com/office/powerpoint/2010/main" val="90717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78098"/>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268760"/>
            <a:ext cx="8229600" cy="48574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3DB84-98FB-4B92-9E59-12D7CC27F3EE}" type="datetime1">
              <a:rPr lang="en-AU" smtClean="0"/>
              <a:t>3/11/2025</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AU" dirty="0"/>
              <a:t>© Len Bass</a:t>
            </a:r>
            <a:r>
              <a:rPr lang="en-AU"/>
              <a:t>, Paul </a:t>
            </a:r>
            <a:r>
              <a:rPr lang="en-AU" dirty="0"/>
              <a:t>Clements, Rick </a:t>
            </a:r>
            <a:r>
              <a:rPr lang="en-AU" dirty="0" err="1"/>
              <a:t>Kazman</a:t>
            </a:r>
            <a:r>
              <a:rPr lang="en-AU" dirty="0"/>
              <a:t>, distributed under Creative Commons Attribution License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E8C58C-0836-46C6-8F9A-AF87B5CA09C9}" type="slidenum">
              <a:rPr lang="en-AU" smtClean="0"/>
              <a:t>‹#›</a:t>
            </a:fld>
            <a:endParaRPr lang="en-AU"/>
          </a:p>
        </p:txBody>
      </p:sp>
    </p:spTree>
    <p:extLst>
      <p:ext uri="{BB962C8B-B14F-4D97-AF65-F5344CB8AC3E}">
        <p14:creationId xmlns:p14="http://schemas.microsoft.com/office/powerpoint/2010/main" val="3701178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Chapter 15: Architectures in Agile Projects</a:t>
            </a:r>
          </a:p>
        </p:txBody>
      </p:sp>
      <p:sp>
        <p:nvSpPr>
          <p:cNvPr id="3" name="Subtitle 2"/>
          <p:cNvSpPr>
            <a:spLocks noGrp="1"/>
          </p:cNvSpPr>
          <p:nvPr>
            <p:ph type="subTitle" idx="1"/>
          </p:nvPr>
        </p:nvSpPr>
        <p:spPr/>
        <p:txBody>
          <a:bodyPr/>
          <a:lstStyle/>
          <a:p>
            <a:endParaRPr lang="en-AU"/>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763539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Outline</a:t>
            </a:r>
          </a:p>
        </p:txBody>
      </p:sp>
      <p:sp>
        <p:nvSpPr>
          <p:cNvPr id="3" name="Content Placeholder 2"/>
          <p:cNvSpPr>
            <a:spLocks noGrp="1"/>
          </p:cNvSpPr>
          <p:nvPr>
            <p:ph idx="1"/>
          </p:nvPr>
        </p:nvSpPr>
        <p:spPr/>
        <p:txBody>
          <a:bodyPr/>
          <a:lstStyle/>
          <a:p>
            <a:r>
              <a:rPr lang="en-US" dirty="0"/>
              <a:t>How Much Architecture? </a:t>
            </a:r>
          </a:p>
          <a:p>
            <a:r>
              <a:rPr lang="en-US" dirty="0"/>
              <a:t>Agility and Architecture Methods </a:t>
            </a:r>
          </a:p>
          <a:p>
            <a:r>
              <a:rPr lang="en-US" dirty="0"/>
              <a:t>A Brief Example of Agile Architecting </a:t>
            </a:r>
          </a:p>
          <a:p>
            <a:r>
              <a:rPr lang="en-US" dirty="0"/>
              <a:t>Guidelines for the Agile Architect </a:t>
            </a:r>
          </a:p>
          <a:p>
            <a:r>
              <a:rPr lang="en-US"/>
              <a:t>Summary</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622006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Agility</a:t>
            </a:r>
          </a:p>
        </p:txBody>
      </p:sp>
      <p:sp>
        <p:nvSpPr>
          <p:cNvPr id="3" name="Content Placeholder 2"/>
          <p:cNvSpPr>
            <a:spLocks noGrp="1"/>
          </p:cNvSpPr>
          <p:nvPr>
            <p:ph idx="1"/>
          </p:nvPr>
        </p:nvSpPr>
        <p:spPr>
          <a:xfrm>
            <a:off x="457200" y="1268760"/>
            <a:ext cx="8229600" cy="5112568"/>
          </a:xfrm>
        </p:spPr>
        <p:txBody>
          <a:bodyPr>
            <a:normAutofit fontScale="70000" lnSpcReduction="20000"/>
          </a:bodyPr>
          <a:lstStyle/>
          <a:p>
            <a:r>
              <a:rPr lang="en-US" dirty="0"/>
              <a:t>Agile processes were a response to a need for projects to</a:t>
            </a:r>
          </a:p>
          <a:p>
            <a:pPr lvl="1"/>
            <a:r>
              <a:rPr lang="en-US" dirty="0"/>
              <a:t>be more responsive to their stakeholders</a:t>
            </a:r>
          </a:p>
          <a:p>
            <a:pPr lvl="1"/>
            <a:r>
              <a:rPr lang="en-US" dirty="0"/>
              <a:t>be quicker to develop functionality that users care about</a:t>
            </a:r>
          </a:p>
          <a:p>
            <a:pPr lvl="1"/>
            <a:r>
              <a:rPr lang="en-US" dirty="0"/>
              <a:t>show more and earlier progress in a project’s life cycle </a:t>
            </a:r>
          </a:p>
          <a:p>
            <a:pPr lvl="1"/>
            <a:r>
              <a:rPr lang="en-US" dirty="0"/>
              <a:t>be less burdened by documenting aspects of a project that would inevitably change. </a:t>
            </a:r>
          </a:p>
          <a:p>
            <a:r>
              <a:rPr lang="en-US" dirty="0"/>
              <a:t>These needs are not in conflict with architecture.</a:t>
            </a:r>
          </a:p>
          <a:p>
            <a:r>
              <a:rPr lang="en-US" dirty="0"/>
              <a:t>The question for a software project is not “Should I do Agile or architecture?” Instead ask:</a:t>
            </a:r>
          </a:p>
          <a:p>
            <a:pPr lvl="1"/>
            <a:r>
              <a:rPr lang="en-US" dirty="0"/>
              <a:t>“How much architecture should I do up front versus how much should I defer until the project’s requirements have solidified somewhat?”</a:t>
            </a:r>
          </a:p>
          <a:p>
            <a:pPr lvl="1"/>
            <a:r>
              <a:rPr lang="en-US" dirty="0"/>
              <a:t>“How much of the architecture should I formally document, and when?” </a:t>
            </a:r>
          </a:p>
          <a:p>
            <a:r>
              <a:rPr lang="en-US" dirty="0"/>
              <a:t>Agile and architecture are happy companions for many software projects.</a:t>
            </a:r>
            <a:endParaRPr lang="en-AU"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110409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Manifesto</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5" name="Picture 4" descr="agile.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290" y="1772816"/>
            <a:ext cx="8790206" cy="4339469"/>
          </a:xfrm>
          <a:prstGeom prst="rect">
            <a:avLst/>
          </a:prstGeom>
        </p:spPr>
      </p:pic>
    </p:spTree>
    <p:extLst>
      <p:ext uri="{BB962C8B-B14F-4D97-AF65-F5344CB8AC3E}">
        <p14:creationId xmlns:p14="http://schemas.microsoft.com/office/powerpoint/2010/main" val="351790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Twelve Agile Principles</a:t>
            </a:r>
          </a:p>
        </p:txBody>
      </p:sp>
      <p:sp>
        <p:nvSpPr>
          <p:cNvPr id="3" name="Content Placeholder 2"/>
          <p:cNvSpPr>
            <a:spLocks noGrp="1"/>
          </p:cNvSpPr>
          <p:nvPr>
            <p:ph idx="1"/>
          </p:nvPr>
        </p:nvSpPr>
        <p:spPr>
          <a:xfrm>
            <a:off x="457200" y="1268760"/>
            <a:ext cx="8229600" cy="5040560"/>
          </a:xfrm>
        </p:spPr>
        <p:txBody>
          <a:bodyPr>
            <a:normAutofit lnSpcReduction="10000"/>
          </a:bodyPr>
          <a:lstStyle/>
          <a:p>
            <a:pPr marL="514350" indent="-514350">
              <a:buFont typeface="+mj-lt"/>
              <a:buAutoNum type="arabicPeriod"/>
            </a:pPr>
            <a:r>
              <a:rPr lang="en-US" sz="1600" dirty="0"/>
              <a:t>Our highest priority is to satisfy the customer through early and continuous delivery of valuable software.</a:t>
            </a:r>
          </a:p>
          <a:p>
            <a:pPr marL="514350" indent="-514350">
              <a:buFont typeface="+mj-lt"/>
              <a:buAutoNum type="arabicPeriod"/>
            </a:pPr>
            <a:r>
              <a:rPr lang="en-US" sz="1600" dirty="0"/>
              <a:t>Welcome changing requirements, even late in development. Agile processes harness change for the customer’s competitive advantage.</a:t>
            </a:r>
          </a:p>
          <a:p>
            <a:pPr marL="514350" indent="-514350">
              <a:buFont typeface="+mj-lt"/>
              <a:buAutoNum type="arabicPeriod"/>
            </a:pPr>
            <a:r>
              <a:rPr lang="en-US" sz="1600" dirty="0"/>
              <a:t>Deliver working software frequently, from a couple of weeks to a couple of months, with a preference to the shorter timescale.</a:t>
            </a:r>
          </a:p>
          <a:p>
            <a:pPr marL="514350" indent="-514350">
              <a:buFont typeface="+mj-lt"/>
              <a:buAutoNum type="arabicPeriod"/>
            </a:pPr>
            <a:r>
              <a:rPr lang="en-US" sz="1600" dirty="0"/>
              <a:t>Business people and developers must work together daily throughout the project.</a:t>
            </a:r>
          </a:p>
          <a:p>
            <a:pPr marL="514350" indent="-514350">
              <a:buFont typeface="+mj-lt"/>
              <a:buAutoNum type="arabicPeriod"/>
            </a:pPr>
            <a:r>
              <a:rPr lang="en-US" sz="1600" dirty="0"/>
              <a:t>Build projects around motivated individuals. Give them the environment and support they need, and trust them to get the job done.</a:t>
            </a:r>
          </a:p>
          <a:p>
            <a:pPr marL="514350" indent="-514350">
              <a:buFont typeface="+mj-lt"/>
              <a:buAutoNum type="arabicPeriod"/>
            </a:pPr>
            <a:r>
              <a:rPr lang="en-US" sz="1600" dirty="0"/>
              <a:t>The most efficient and effective method of conveying information to and within a development team is face-to-face conversation.</a:t>
            </a:r>
          </a:p>
          <a:p>
            <a:pPr marL="514350" indent="-514350">
              <a:buFont typeface="+mj-lt"/>
              <a:buAutoNum type="arabicPeriod"/>
            </a:pPr>
            <a:r>
              <a:rPr lang="en-US" sz="1600" dirty="0"/>
              <a:t>Working software is the primary measure of progress.</a:t>
            </a:r>
          </a:p>
          <a:p>
            <a:pPr marL="514350" indent="-514350">
              <a:buFont typeface="+mj-lt"/>
              <a:buAutoNum type="arabicPeriod"/>
            </a:pPr>
            <a:r>
              <a:rPr lang="en-US" sz="1600" dirty="0"/>
              <a:t>Agile processes promote sustainable development. The sponsors, developers, and users should be able to maintain a constant pace indefinitely.</a:t>
            </a:r>
          </a:p>
          <a:p>
            <a:pPr marL="514350" indent="-514350">
              <a:buFont typeface="+mj-lt"/>
              <a:buAutoNum type="arabicPeriod"/>
            </a:pPr>
            <a:r>
              <a:rPr lang="en-US" sz="1600" dirty="0"/>
              <a:t>Continuous attention to technical excellence and good design enhances agility.</a:t>
            </a:r>
          </a:p>
          <a:p>
            <a:pPr marL="514350" indent="-514350">
              <a:buFont typeface="+mj-lt"/>
              <a:buAutoNum type="arabicPeriod"/>
            </a:pPr>
            <a:r>
              <a:rPr lang="en-US" sz="1600" dirty="0"/>
              <a:t>Simplicity—the art of maximizing the amount of work not done—is essential.</a:t>
            </a:r>
          </a:p>
          <a:p>
            <a:pPr marL="514350" indent="-514350">
              <a:buFont typeface="+mj-lt"/>
              <a:buAutoNum type="arabicPeriod"/>
            </a:pPr>
            <a:r>
              <a:rPr lang="en-US" sz="1600" dirty="0"/>
              <a:t>The best architectures, requirements, and designs emerge from self-organizing teams.</a:t>
            </a:r>
          </a:p>
          <a:p>
            <a:pPr marL="514350" indent="-514350">
              <a:buFont typeface="+mj-lt"/>
              <a:buAutoNum type="arabicPeriod"/>
            </a:pPr>
            <a:r>
              <a:rPr lang="en-US" sz="1600" dirty="0"/>
              <a:t>At regular intervals, the team reflects on how to become more effective, then tunes and adjusts its behavior accordingly.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284545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a:t>
            </a:r>
          </a:p>
        </p:txBody>
      </p:sp>
      <p:sp>
        <p:nvSpPr>
          <p:cNvPr id="3" name="Content Placeholder 2"/>
          <p:cNvSpPr>
            <a:spLocks noGrp="1"/>
          </p:cNvSpPr>
          <p:nvPr>
            <p:ph idx="1"/>
          </p:nvPr>
        </p:nvSpPr>
        <p:spPr/>
        <p:txBody>
          <a:bodyPr>
            <a:normAutofit/>
          </a:bodyPr>
          <a:lstStyle/>
          <a:p>
            <a:r>
              <a:rPr lang="en-US" dirty="0"/>
              <a:t>These processes </a:t>
            </a:r>
            <a:r>
              <a:rPr lang="pl-PL" dirty="0" err="1"/>
              <a:t>were</a:t>
            </a:r>
            <a:r>
              <a:rPr lang="pl-PL" dirty="0"/>
              <a:t> </a:t>
            </a:r>
            <a:r>
              <a:rPr lang="pl-PL" dirty="0" err="1"/>
              <a:t>initially</a:t>
            </a:r>
            <a:r>
              <a:rPr lang="pl-PL" dirty="0"/>
              <a:t> </a:t>
            </a:r>
            <a:r>
              <a:rPr lang="pl-PL" dirty="0" err="1"/>
              <a:t>employed</a:t>
            </a:r>
            <a:r>
              <a:rPr lang="pl-PL" dirty="0"/>
              <a:t> on small- to medium-</a:t>
            </a:r>
            <a:r>
              <a:rPr lang="pl-PL" dirty="0" err="1"/>
              <a:t>sized</a:t>
            </a:r>
            <a:r>
              <a:rPr lang="pl-PL" dirty="0"/>
              <a:t> </a:t>
            </a:r>
            <a:r>
              <a:rPr lang="pl-PL" dirty="0" err="1"/>
              <a:t>projects</a:t>
            </a:r>
            <a:r>
              <a:rPr lang="pl-PL" dirty="0"/>
              <a:t> with </a:t>
            </a:r>
            <a:r>
              <a:rPr lang="pl-PL" dirty="0" err="1"/>
              <a:t>short</a:t>
            </a:r>
            <a:r>
              <a:rPr lang="pl-PL" dirty="0"/>
              <a:t> </a:t>
            </a:r>
            <a:r>
              <a:rPr lang="pl-PL" dirty="0" err="1"/>
              <a:t>time</a:t>
            </a:r>
            <a:r>
              <a:rPr lang="pl-PL" dirty="0"/>
              <a:t> </a:t>
            </a:r>
            <a:r>
              <a:rPr lang="pl-PL" dirty="0" err="1"/>
              <a:t>frames</a:t>
            </a:r>
            <a:r>
              <a:rPr lang="pl-PL" dirty="0"/>
              <a:t> and </a:t>
            </a:r>
            <a:r>
              <a:rPr lang="pl-PL" dirty="0" err="1"/>
              <a:t>enjoyed</a:t>
            </a:r>
            <a:r>
              <a:rPr lang="pl-PL" dirty="0"/>
              <a:t> </a:t>
            </a:r>
            <a:r>
              <a:rPr lang="pl-PL" dirty="0" err="1"/>
              <a:t>considerable</a:t>
            </a:r>
            <a:r>
              <a:rPr lang="pl-PL" dirty="0"/>
              <a:t> </a:t>
            </a:r>
            <a:r>
              <a:rPr lang="pl-PL" dirty="0" err="1"/>
              <a:t>success</a:t>
            </a:r>
            <a:r>
              <a:rPr lang="pl-PL" dirty="0"/>
              <a:t>. </a:t>
            </a:r>
          </a:p>
          <a:p>
            <a:r>
              <a:rPr lang="pl-PL" dirty="0" err="1"/>
              <a:t>They</a:t>
            </a:r>
            <a:r>
              <a:rPr lang="pl-PL" dirty="0"/>
              <a:t> </a:t>
            </a:r>
            <a:r>
              <a:rPr lang="pl-PL" dirty="0" err="1"/>
              <a:t>were</a:t>
            </a:r>
            <a:r>
              <a:rPr lang="pl-PL" dirty="0"/>
              <a:t> not </a:t>
            </a:r>
            <a:r>
              <a:rPr lang="pl-PL" dirty="0" err="1"/>
              <a:t>often</a:t>
            </a:r>
            <a:r>
              <a:rPr lang="pl-PL" dirty="0"/>
              <a:t> </a:t>
            </a:r>
            <a:r>
              <a:rPr lang="pl-PL" dirty="0" err="1"/>
              <a:t>used</a:t>
            </a:r>
            <a:r>
              <a:rPr lang="pl-PL" dirty="0"/>
              <a:t> for </a:t>
            </a:r>
            <a:r>
              <a:rPr lang="pl-PL" dirty="0" err="1"/>
              <a:t>larger</a:t>
            </a:r>
            <a:r>
              <a:rPr lang="pl-PL" dirty="0"/>
              <a:t> </a:t>
            </a:r>
            <a:r>
              <a:rPr lang="pl-PL" dirty="0" err="1"/>
              <a:t>projects</a:t>
            </a:r>
            <a:r>
              <a:rPr lang="pl-PL" dirty="0"/>
              <a:t>, </a:t>
            </a:r>
            <a:r>
              <a:rPr lang="pl-PL" dirty="0" err="1"/>
              <a:t>particularly</a:t>
            </a:r>
            <a:r>
              <a:rPr lang="pl-PL" dirty="0"/>
              <a:t> </a:t>
            </a:r>
            <a:r>
              <a:rPr lang="pl-PL" dirty="0" err="1"/>
              <a:t>those</a:t>
            </a:r>
            <a:r>
              <a:rPr lang="pl-PL" dirty="0"/>
              <a:t> with </a:t>
            </a:r>
            <a:r>
              <a:rPr lang="pl-PL" dirty="0" err="1"/>
              <a:t>distributed</a:t>
            </a:r>
            <a:r>
              <a:rPr lang="pl-PL" dirty="0"/>
              <a:t> development. </a:t>
            </a:r>
            <a:endParaRPr lang="en-US" dirty="0"/>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634606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Much Architecture?</a:t>
            </a:r>
          </a:p>
        </p:txBody>
      </p:sp>
      <p:sp>
        <p:nvSpPr>
          <p:cNvPr id="3" name="Content Placeholder 2"/>
          <p:cNvSpPr>
            <a:spLocks noGrp="1"/>
          </p:cNvSpPr>
          <p:nvPr>
            <p:ph idx="1"/>
          </p:nvPr>
        </p:nvSpPr>
        <p:spPr/>
        <p:txBody>
          <a:bodyPr>
            <a:normAutofit fontScale="85000" lnSpcReduction="10000"/>
          </a:bodyPr>
          <a:lstStyle/>
          <a:p>
            <a:r>
              <a:rPr lang="en-US" dirty="0"/>
              <a:t>There are two activities that can add time to the project schedule:</a:t>
            </a:r>
          </a:p>
          <a:p>
            <a:pPr lvl="1"/>
            <a:r>
              <a:rPr lang="en-US" dirty="0"/>
              <a:t>Up-front design work on the architecture and up-front risk identification, planning, and resolution work</a:t>
            </a:r>
          </a:p>
          <a:p>
            <a:pPr lvl="1"/>
            <a:r>
              <a:rPr lang="en-US" dirty="0"/>
              <a:t>Rework due to fixing defects and addressing modification requests.</a:t>
            </a:r>
          </a:p>
          <a:p>
            <a:r>
              <a:rPr lang="en-US" dirty="0"/>
              <a:t>Intuitively, these two trade off against each other.</a:t>
            </a:r>
          </a:p>
          <a:p>
            <a:r>
              <a:rPr lang="en-US" dirty="0"/>
              <a:t>Boehm and Turner plotted these two values against each other for three hypothetical projects:</a:t>
            </a:r>
          </a:p>
          <a:p>
            <a:pPr lvl="1"/>
            <a:r>
              <a:rPr lang="en-US" dirty="0"/>
              <a:t>One project of 10 KSLOC</a:t>
            </a:r>
          </a:p>
          <a:p>
            <a:pPr lvl="1"/>
            <a:r>
              <a:rPr lang="en-US" dirty="0"/>
              <a:t>One project of 100 KSLOC</a:t>
            </a:r>
          </a:p>
          <a:p>
            <a:pPr lvl="1"/>
            <a:r>
              <a:rPr lang="en-US" dirty="0"/>
              <a:t>One project of 1,000 KSLOC</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895366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pic>
        <p:nvPicPr>
          <p:cNvPr id="5" name="Picture 4" descr="graph.tif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340767"/>
            <a:ext cx="4680520" cy="5078119"/>
          </a:xfrm>
          <a:prstGeom prst="rect">
            <a:avLst/>
          </a:prstGeom>
        </p:spPr>
      </p:pic>
      <p:pic>
        <p:nvPicPr>
          <p:cNvPr id="6" name="Picture 5" descr="key.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040" y="1556792"/>
            <a:ext cx="3623444" cy="1783849"/>
          </a:xfrm>
          <a:prstGeom prst="rect">
            <a:avLst/>
          </a:prstGeom>
        </p:spPr>
      </p:pic>
      <p:sp>
        <p:nvSpPr>
          <p:cNvPr id="7" name="Title 1"/>
          <p:cNvSpPr>
            <a:spLocks noGrp="1"/>
          </p:cNvSpPr>
          <p:nvPr>
            <p:ph type="title"/>
          </p:nvPr>
        </p:nvSpPr>
        <p:spPr>
          <a:xfrm>
            <a:off x="971600" y="274638"/>
            <a:ext cx="7715200" cy="778098"/>
          </a:xfrm>
        </p:spPr>
        <p:txBody>
          <a:bodyPr/>
          <a:lstStyle/>
          <a:p>
            <a:r>
              <a:rPr lang="en-US" dirty="0"/>
              <a:t>How Much Architecture?</a:t>
            </a:r>
          </a:p>
        </p:txBody>
      </p:sp>
    </p:spTree>
    <p:extLst>
      <p:ext uri="{BB962C8B-B14F-4D97-AF65-F5344CB8AC3E}">
        <p14:creationId xmlns:p14="http://schemas.microsoft.com/office/powerpoint/2010/main" val="11227019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r>
              <a:rPr lang="en-US" dirty="0"/>
              <a:t>These lines show that there is a sweet spot for each project. </a:t>
            </a:r>
          </a:p>
          <a:p>
            <a:pPr lvl="1"/>
            <a:r>
              <a:rPr lang="en-US" dirty="0"/>
              <a:t>For the 10KSLOC project, the sweet spot is at the far left. Devoting much time to up-front work is a waste for a small project.</a:t>
            </a:r>
          </a:p>
          <a:p>
            <a:pPr lvl="1"/>
            <a:r>
              <a:rPr lang="en-US" dirty="0"/>
              <a:t>For the 100 KSLOC project, the sweet spot is around 20 percent of the project schedule. </a:t>
            </a:r>
          </a:p>
          <a:p>
            <a:pPr lvl="1"/>
            <a:r>
              <a:rPr lang="en-US" dirty="0"/>
              <a:t>For the 1,000 KSLOC project, the sweet spot is around 40 percent of the project schedule. </a:t>
            </a:r>
          </a:p>
          <a:p>
            <a:r>
              <a:rPr lang="en-US" dirty="0"/>
              <a:t>A project with a million lines of code is enormously complex.</a:t>
            </a:r>
          </a:p>
          <a:p>
            <a:r>
              <a:rPr lang="en-US" dirty="0"/>
              <a:t>It is difficult to imagine how Agile principles alone can cope with this complexity if there is no architecture to guide and organize the effort.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
        <p:nvSpPr>
          <p:cNvPr id="6" name="Title 1"/>
          <p:cNvSpPr>
            <a:spLocks noGrp="1"/>
          </p:cNvSpPr>
          <p:nvPr>
            <p:ph type="title"/>
          </p:nvPr>
        </p:nvSpPr>
        <p:spPr>
          <a:xfrm>
            <a:off x="971600" y="274638"/>
            <a:ext cx="7715200" cy="778098"/>
          </a:xfrm>
        </p:spPr>
        <p:txBody>
          <a:bodyPr/>
          <a:lstStyle/>
          <a:p>
            <a:r>
              <a:rPr lang="en-US" dirty="0"/>
              <a:t>How Much Architecture?</a:t>
            </a:r>
          </a:p>
        </p:txBody>
      </p:sp>
    </p:spTree>
    <p:extLst>
      <p:ext uri="{BB962C8B-B14F-4D97-AF65-F5344CB8AC3E}">
        <p14:creationId xmlns:p14="http://schemas.microsoft.com/office/powerpoint/2010/main" val="2190435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Agility and Documentation</a:t>
            </a:r>
          </a:p>
        </p:txBody>
      </p:sp>
      <p:sp>
        <p:nvSpPr>
          <p:cNvPr id="3" name="Content Placeholder 2"/>
          <p:cNvSpPr>
            <a:spLocks noGrp="1"/>
          </p:cNvSpPr>
          <p:nvPr>
            <p:ph idx="1"/>
          </p:nvPr>
        </p:nvSpPr>
        <p:spPr/>
        <p:txBody>
          <a:bodyPr/>
          <a:lstStyle/>
          <a:p>
            <a:r>
              <a:rPr lang="en-US" dirty="0"/>
              <a:t>Write for the reader!</a:t>
            </a:r>
          </a:p>
          <a:p>
            <a:r>
              <a:rPr lang="en-US" dirty="0"/>
              <a:t>If the reader doesn’t need it, don’t write it.</a:t>
            </a:r>
          </a:p>
          <a:p>
            <a:pPr lvl="1"/>
            <a:r>
              <a:rPr lang="en-US" dirty="0"/>
              <a:t>But remember that the reader may be a maintainer or other newcomer not yet on the project!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384737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Agility and Architecture Evaluation</a:t>
            </a:r>
          </a:p>
        </p:txBody>
      </p:sp>
      <p:sp>
        <p:nvSpPr>
          <p:cNvPr id="3" name="Content Placeholder 2"/>
          <p:cNvSpPr>
            <a:spLocks noGrp="1"/>
          </p:cNvSpPr>
          <p:nvPr>
            <p:ph idx="1"/>
          </p:nvPr>
        </p:nvSpPr>
        <p:spPr/>
        <p:txBody>
          <a:bodyPr>
            <a:normAutofit fontScale="85000" lnSpcReduction="10000"/>
          </a:bodyPr>
          <a:lstStyle/>
          <a:p>
            <a:r>
              <a:rPr lang="en-US" dirty="0"/>
              <a:t>Architecture evaluation work as part of an Agile process? Absolutely.</a:t>
            </a:r>
          </a:p>
          <a:p>
            <a:r>
              <a:rPr lang="en-US" dirty="0"/>
              <a:t>Meeting stakeholders’ important concerns is a cornerstone of Agile philosophy.</a:t>
            </a:r>
          </a:p>
          <a:p>
            <a:r>
              <a:rPr lang="en-US" dirty="0"/>
              <a:t>Our approach to architecture evaluation is exemplified by the Architecture Tradeoff Analysis Method (ATAM).</a:t>
            </a:r>
          </a:p>
          <a:p>
            <a:pPr lvl="1"/>
            <a:r>
              <a:rPr lang="en-US" dirty="0"/>
              <a:t>ATAM does not endeavor to analyze all, or even most, of an architecture. </a:t>
            </a:r>
          </a:p>
          <a:p>
            <a:pPr lvl="1"/>
            <a:r>
              <a:rPr lang="en-US" dirty="0"/>
              <a:t>The focus is determined by a set of quality attribute scenarios that represent the most important of the concerns of the stakeholders. </a:t>
            </a:r>
          </a:p>
          <a:p>
            <a:r>
              <a:rPr lang="en-US" dirty="0"/>
              <a:t>It is easy to tailor a lightweight architecture evaluation.</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360301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An Example of Agile Architecting</a:t>
            </a:r>
          </a:p>
        </p:txBody>
      </p:sp>
      <p:sp>
        <p:nvSpPr>
          <p:cNvPr id="3" name="Content Placeholder 2"/>
          <p:cNvSpPr>
            <a:spLocks noGrp="1"/>
          </p:cNvSpPr>
          <p:nvPr>
            <p:ph idx="1"/>
          </p:nvPr>
        </p:nvSpPr>
        <p:spPr>
          <a:xfrm>
            <a:off x="457200" y="1412776"/>
            <a:ext cx="8229600" cy="4713387"/>
          </a:xfrm>
        </p:spPr>
        <p:txBody>
          <a:bodyPr>
            <a:normAutofit fontScale="92500"/>
          </a:bodyPr>
          <a:lstStyle/>
          <a:p>
            <a:r>
              <a:rPr lang="en-US" dirty="0"/>
              <a:t>WebArrow Web-conferencing system</a:t>
            </a:r>
          </a:p>
          <a:p>
            <a:r>
              <a:rPr lang="en-US" dirty="0"/>
              <a:t>To meet stakeholder needs, architect and developers found that they needed to think and work in two different modes at the same time:</a:t>
            </a:r>
          </a:p>
          <a:p>
            <a:pPr lvl="1"/>
            <a:r>
              <a:rPr lang="en-US" i="1" dirty="0"/>
              <a:t>Top-down</a:t>
            </a:r>
            <a:r>
              <a:rPr lang="en-US" dirty="0"/>
              <a:t>—designing and analyzing architectural structures to meet the demanding quality attribute requirements and tradeoffs</a:t>
            </a:r>
          </a:p>
          <a:p>
            <a:pPr lvl="1"/>
            <a:r>
              <a:rPr lang="en-US" i="1" dirty="0"/>
              <a:t>Bottom-up</a:t>
            </a:r>
            <a:r>
              <a:rPr lang="en-US" dirty="0"/>
              <a:t>—analyzing a wide array of implementation-specific and environment-specific constraints and fashioning solutions to them</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242531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Experiments to Make Tradeoffs</a:t>
            </a:r>
          </a:p>
        </p:txBody>
      </p:sp>
      <p:sp>
        <p:nvSpPr>
          <p:cNvPr id="3" name="Content Placeholder 2"/>
          <p:cNvSpPr>
            <a:spLocks noGrp="1"/>
          </p:cNvSpPr>
          <p:nvPr>
            <p:ph idx="1"/>
          </p:nvPr>
        </p:nvSpPr>
        <p:spPr/>
        <p:txBody>
          <a:bodyPr>
            <a:normAutofit/>
          </a:bodyPr>
          <a:lstStyle/>
          <a:p>
            <a:r>
              <a:rPr lang="en-US" dirty="0"/>
              <a:t>To analyze architectural tradeoffs, the team adopted an agile architecture discipline combined with a rigorous program of experiments.</a:t>
            </a:r>
          </a:p>
          <a:p>
            <a:pPr lvl="1"/>
            <a:r>
              <a:rPr lang="en-US" dirty="0"/>
              <a:t>These experiments are called “spikes” in Agile terminology. </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975006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Experiments to Make Tradeoffs</a:t>
            </a:r>
          </a:p>
        </p:txBody>
      </p:sp>
      <p:sp>
        <p:nvSpPr>
          <p:cNvPr id="3" name="Content Placeholder 2"/>
          <p:cNvSpPr>
            <a:spLocks noGrp="1"/>
          </p:cNvSpPr>
          <p:nvPr>
            <p:ph idx="1"/>
          </p:nvPr>
        </p:nvSpPr>
        <p:spPr/>
        <p:txBody>
          <a:bodyPr>
            <a:normAutofit fontScale="92500" lnSpcReduction="20000"/>
          </a:bodyPr>
          <a:lstStyle/>
          <a:p>
            <a:r>
              <a:rPr lang="en-US" dirty="0"/>
              <a:t>The experiments (spikes) answered questions such as:</a:t>
            </a:r>
          </a:p>
          <a:p>
            <a:pPr lvl="1"/>
            <a:r>
              <a:rPr lang="en-US" dirty="0"/>
              <a:t>Would moving to a distributed database from local flat files negatively impact feedback time (latency) for users?</a:t>
            </a:r>
          </a:p>
          <a:p>
            <a:pPr lvl="1"/>
            <a:r>
              <a:rPr lang="en-US" dirty="0"/>
              <a:t>What (if any) scalability improvement would result from using </a:t>
            </a:r>
            <a:r>
              <a:rPr lang="en-US" dirty="0" err="1"/>
              <a:t>mod_perl</a:t>
            </a:r>
            <a:r>
              <a:rPr lang="en-US" dirty="0"/>
              <a:t> versus standard Perl? </a:t>
            </a:r>
          </a:p>
          <a:p>
            <a:pPr lvl="1"/>
            <a:r>
              <a:rPr lang="en-US" dirty="0"/>
              <a:t>How difficult would the development and quality assurance effort be to convert to </a:t>
            </a:r>
            <a:r>
              <a:rPr lang="en-US" dirty="0" err="1"/>
              <a:t>mod_perl</a:t>
            </a:r>
            <a:r>
              <a:rPr lang="en-US" dirty="0"/>
              <a:t>?</a:t>
            </a:r>
          </a:p>
          <a:p>
            <a:pPr lvl="1"/>
            <a:r>
              <a:rPr lang="en-US" dirty="0"/>
              <a:t>How many participants could be hosted by a single meeting server?</a:t>
            </a:r>
          </a:p>
          <a:p>
            <a:pPr lvl="1"/>
            <a:r>
              <a:rPr lang="en-US" dirty="0"/>
              <a:t>What was the correct ratio between database servers and meeting servers?</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1652898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a:t>
            </a:r>
          </a:p>
        </p:txBody>
      </p:sp>
      <p:sp>
        <p:nvSpPr>
          <p:cNvPr id="3" name="Content Placeholder 2"/>
          <p:cNvSpPr>
            <a:spLocks noGrp="1"/>
          </p:cNvSpPr>
          <p:nvPr>
            <p:ph idx="1"/>
          </p:nvPr>
        </p:nvSpPr>
        <p:spPr/>
        <p:txBody>
          <a:bodyPr>
            <a:normAutofit/>
          </a:bodyPr>
          <a:lstStyle/>
          <a:p>
            <a:r>
              <a:rPr lang="en-US" dirty="0"/>
              <a:t>Making architecture processes agile does not require radical re-invention of either Agile practices or architecture methods. </a:t>
            </a:r>
          </a:p>
          <a:p>
            <a:r>
              <a:rPr lang="en-US" dirty="0"/>
              <a:t>The </a:t>
            </a:r>
            <a:r>
              <a:rPr lang="en-US" dirty="0" err="1"/>
              <a:t>WebArrow</a:t>
            </a:r>
            <a:r>
              <a:rPr lang="en-US" dirty="0"/>
              <a:t> team’s emphasis on experimentation proved the key factor.</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2580542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Guidelines for the Agile Architect</a:t>
            </a:r>
          </a:p>
        </p:txBody>
      </p:sp>
      <p:sp>
        <p:nvSpPr>
          <p:cNvPr id="3" name="Content Placeholder 2"/>
          <p:cNvSpPr>
            <a:spLocks noGrp="1"/>
          </p:cNvSpPr>
          <p:nvPr>
            <p:ph idx="1"/>
          </p:nvPr>
        </p:nvSpPr>
        <p:spPr/>
        <p:txBody>
          <a:bodyPr>
            <a:noAutofit/>
          </a:bodyPr>
          <a:lstStyle/>
          <a:p>
            <a:pPr>
              <a:spcBef>
                <a:spcPts val="0"/>
              </a:spcBef>
            </a:pPr>
            <a:r>
              <a:rPr lang="en-US" sz="2400" dirty="0"/>
              <a:t>Barry Boehm and colleagues have developed the Incremental Commitment Model to blend agility and architecture.</a:t>
            </a:r>
          </a:p>
          <a:p>
            <a:pPr>
              <a:spcBef>
                <a:spcPts val="0"/>
              </a:spcBef>
            </a:pPr>
            <a:r>
              <a:rPr lang="en-US" sz="2400" dirty="0"/>
              <a:t>This model is based upon the following principles:</a:t>
            </a:r>
          </a:p>
          <a:p>
            <a:pPr lvl="1">
              <a:spcBef>
                <a:spcPts val="0"/>
              </a:spcBef>
            </a:pPr>
            <a:r>
              <a:rPr lang="en-US" sz="2000" dirty="0"/>
              <a:t>Commitment and accountability of success-critical stakeholders</a:t>
            </a:r>
          </a:p>
          <a:p>
            <a:pPr lvl="1">
              <a:spcBef>
                <a:spcPts val="0"/>
              </a:spcBef>
            </a:pPr>
            <a:r>
              <a:rPr lang="en-US" sz="2000" dirty="0"/>
              <a:t>Stakeholder “satisficing” (meeting an acceptability threshold) based on success-based negotiations and tradeoffs</a:t>
            </a:r>
          </a:p>
          <a:p>
            <a:pPr lvl="1">
              <a:spcBef>
                <a:spcPts val="0"/>
              </a:spcBef>
            </a:pPr>
            <a:r>
              <a:rPr lang="en-US" sz="2000" dirty="0"/>
              <a:t>Incremental and evolutionary growth of system definition and stakeholder commitment</a:t>
            </a:r>
          </a:p>
          <a:p>
            <a:pPr lvl="1">
              <a:spcBef>
                <a:spcPts val="0"/>
              </a:spcBef>
            </a:pPr>
            <a:r>
              <a:rPr lang="en-US" sz="2000" dirty="0"/>
              <a:t>Iterative system development and definition</a:t>
            </a:r>
          </a:p>
          <a:p>
            <a:pPr lvl="1">
              <a:spcBef>
                <a:spcPts val="0"/>
              </a:spcBef>
            </a:pPr>
            <a:r>
              <a:rPr lang="en-US" sz="2000" dirty="0"/>
              <a:t>Interleaved system definition and development allowing early fielding of core capabilities, continual adaptation to change, and timely growth of complex systems without waiting for every requirement and subsystem to be defined</a:t>
            </a:r>
          </a:p>
          <a:p>
            <a:pPr lvl="1">
              <a:spcBef>
                <a:spcPts val="0"/>
              </a:spcBef>
            </a:pPr>
            <a:r>
              <a:rPr lang="en-US" sz="2000" dirty="0"/>
              <a:t>Risk management—risk-driven anchor point milestones, which are key to synchronizing and stabilizing all of this concurrent activity</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026978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Our Advice</a:t>
            </a:r>
          </a:p>
        </p:txBody>
      </p:sp>
      <p:sp>
        <p:nvSpPr>
          <p:cNvPr id="3" name="Content Placeholder 2"/>
          <p:cNvSpPr>
            <a:spLocks noGrp="1"/>
          </p:cNvSpPr>
          <p:nvPr>
            <p:ph idx="1"/>
          </p:nvPr>
        </p:nvSpPr>
        <p:spPr/>
        <p:txBody>
          <a:bodyPr>
            <a:normAutofit fontScale="77500" lnSpcReduction="20000"/>
          </a:bodyPr>
          <a:lstStyle/>
          <a:p>
            <a:r>
              <a:rPr lang="en-US" dirty="0"/>
              <a:t>If you are building a large, complex system with relatively stable and well-understood requirements and/or distributed development, doing a large amount of architecture work up front will pay off.</a:t>
            </a:r>
          </a:p>
          <a:p>
            <a:r>
              <a:rPr lang="en-US" dirty="0"/>
              <a:t>On larger projects with </a:t>
            </a:r>
            <a:r>
              <a:rPr lang="en-US" i="1" dirty="0"/>
              <a:t>unstable</a:t>
            </a:r>
            <a:r>
              <a:rPr lang="en-US" dirty="0"/>
              <a:t> requirements, start by quickly designing a candidate architecture even if it leaves out many details. </a:t>
            </a:r>
          </a:p>
          <a:p>
            <a:pPr lvl="1"/>
            <a:r>
              <a:rPr lang="en-US" dirty="0"/>
              <a:t>Be prepared to change and elaborate this architecture as circumstances dictate, as you perform your spikes and experiments, and as functional and quality attribute requirements emerge and solidify. </a:t>
            </a:r>
          </a:p>
          <a:p>
            <a:r>
              <a:rPr lang="en-US" dirty="0"/>
              <a:t>On smaller projects with uncertain requirements, at least try to get agreement on the major patterns to be employed.  Don’t spend too much time on architecture design, documentation, or analysis up front.</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108116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
        <p:nvSpPr>
          <p:cNvPr id="3" name="Content Placeholder 2"/>
          <p:cNvSpPr>
            <a:spLocks noGrp="1"/>
          </p:cNvSpPr>
          <p:nvPr>
            <p:ph idx="1"/>
          </p:nvPr>
        </p:nvSpPr>
        <p:spPr/>
        <p:txBody>
          <a:bodyPr>
            <a:noAutofit/>
          </a:bodyPr>
          <a:lstStyle/>
          <a:p>
            <a:r>
              <a:rPr lang="en-US" sz="2400" dirty="0"/>
              <a:t>The Agile Manifesto and principles value close-knit teams, with continuous, frequent delivery of working software. </a:t>
            </a:r>
          </a:p>
          <a:p>
            <a:r>
              <a:rPr lang="en-US" sz="2400" dirty="0"/>
              <a:t>Agile processes were initially employed on small- to medium-sized projects with short time frames. They were seldom used for larger projects, particularly with distributed development.</a:t>
            </a:r>
          </a:p>
          <a:p>
            <a:r>
              <a:rPr lang="en-US" sz="2400" dirty="0"/>
              <a:t>Large-scale successful projects need a blend of agile and architecture.</a:t>
            </a:r>
          </a:p>
          <a:p>
            <a:r>
              <a:rPr lang="en-US" sz="2400" dirty="0"/>
              <a:t>Agile architects take a middle ground, proposing an initial architecture and running with that, until its technical debt becomes too great, at which point they need to refactor.</a:t>
            </a:r>
          </a:p>
          <a:p>
            <a:r>
              <a:rPr lang="pl-PL" sz="2400" dirty="0" err="1"/>
              <a:t>Boehm</a:t>
            </a:r>
            <a:r>
              <a:rPr lang="pl-PL" sz="2400" dirty="0"/>
              <a:t> and Turner </a:t>
            </a:r>
            <a:r>
              <a:rPr lang="pl-PL" sz="2400" dirty="0" err="1"/>
              <a:t>found</a:t>
            </a:r>
            <a:r>
              <a:rPr lang="pl-PL" sz="2400" dirty="0"/>
              <a:t> </a:t>
            </a:r>
            <a:r>
              <a:rPr lang="pl-PL" sz="2400" dirty="0" err="1"/>
              <a:t>that</a:t>
            </a:r>
            <a:r>
              <a:rPr lang="pl-PL" sz="2400" dirty="0"/>
              <a:t> </a:t>
            </a:r>
            <a:r>
              <a:rPr lang="pl-PL" sz="2400" dirty="0" err="1"/>
              <a:t>projects</a:t>
            </a:r>
            <a:r>
              <a:rPr lang="pl-PL" sz="2400" dirty="0"/>
              <a:t> </a:t>
            </a:r>
            <a:r>
              <a:rPr lang="pl-PL" sz="2400" dirty="0" err="1"/>
              <a:t>have</a:t>
            </a:r>
            <a:r>
              <a:rPr lang="pl-PL" sz="2400" dirty="0"/>
              <a:t> a “</a:t>
            </a:r>
            <a:r>
              <a:rPr lang="pl-PL" sz="2400" dirty="0" err="1"/>
              <a:t>sweet</a:t>
            </a:r>
            <a:r>
              <a:rPr lang="pl-PL" sz="2400" dirty="0"/>
              <a:t> spot” </a:t>
            </a:r>
            <a:r>
              <a:rPr lang="pl-PL" sz="2400" dirty="0" err="1"/>
              <a:t>where</a:t>
            </a:r>
            <a:r>
              <a:rPr lang="pl-PL" sz="2400" dirty="0"/>
              <a:t> </a:t>
            </a:r>
            <a:r>
              <a:rPr lang="pl-PL" sz="2400" dirty="0" err="1"/>
              <a:t>up</a:t>
            </a:r>
            <a:r>
              <a:rPr lang="pl-PL" sz="2400" dirty="0"/>
              <a:t>-front </a:t>
            </a:r>
            <a:r>
              <a:rPr lang="pl-PL" sz="2400" dirty="0" err="1"/>
              <a:t>architecture</a:t>
            </a:r>
            <a:r>
              <a:rPr lang="pl-PL" sz="2400" dirty="0"/>
              <a:t> </a:t>
            </a:r>
            <a:r>
              <a:rPr lang="pl-PL" sz="2400" dirty="0" err="1"/>
              <a:t>planning</a:t>
            </a:r>
            <a:r>
              <a:rPr lang="pl-PL" sz="2400" dirty="0"/>
              <a:t> </a:t>
            </a:r>
            <a:r>
              <a:rPr lang="pl-PL" sz="2400" dirty="0" err="1"/>
              <a:t>pays</a:t>
            </a:r>
            <a:r>
              <a:rPr lang="pl-PL" sz="2400" dirty="0"/>
              <a:t> off.</a:t>
            </a:r>
          </a:p>
        </p:txBody>
      </p:sp>
      <p:sp>
        <p:nvSpPr>
          <p:cNvPr id="4" name="Footer Placeholder 3"/>
          <p:cNvSpPr>
            <a:spLocks noGrp="1"/>
          </p:cNvSpPr>
          <p:nvPr>
            <p:ph type="ftr" sz="quarter" idx="11"/>
          </p:nvPr>
        </p:nvSpPr>
        <p:spPr/>
        <p:txBody>
          <a:bodyPr/>
          <a:lstStyle/>
          <a:p>
            <a:r>
              <a:rPr lang="en-AU"/>
              <a:t>© Len Bass, Paul Clements, Rick Kazman, distributed under Creative Commons Attribution License</a:t>
            </a:r>
            <a:endParaRPr lang="en-AU" dirty="0"/>
          </a:p>
        </p:txBody>
      </p:sp>
    </p:spTree>
    <p:extLst>
      <p:ext uri="{BB962C8B-B14F-4D97-AF65-F5344CB8AC3E}">
        <p14:creationId xmlns:p14="http://schemas.microsoft.com/office/powerpoint/2010/main" val="4209972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TotalTime>
  <Words>1606</Words>
  <Application>Microsoft Office PowerPoint</Application>
  <PresentationFormat>全屏显示(4:3)</PresentationFormat>
  <Paragraphs>119</Paragraphs>
  <Slides>18</Slides>
  <Notes>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Arial</vt:lpstr>
      <vt:lpstr>Calibri</vt:lpstr>
      <vt:lpstr>Office Theme</vt:lpstr>
      <vt:lpstr>Chapter 15: Architectures in Agile Projects</vt:lpstr>
      <vt:lpstr>Chapter Outline</vt:lpstr>
      <vt:lpstr>Agility</vt:lpstr>
      <vt:lpstr>Agile Manifesto</vt:lpstr>
      <vt:lpstr>Twelve Agile Principles</vt:lpstr>
      <vt:lpstr>Agile</vt:lpstr>
      <vt:lpstr>How Much Architecture?</vt:lpstr>
      <vt:lpstr>How Much Architecture?</vt:lpstr>
      <vt:lpstr>How Much Architecture?</vt:lpstr>
      <vt:lpstr>Agility and Documentation</vt:lpstr>
      <vt:lpstr>Agility and Architecture Evaluation</vt:lpstr>
      <vt:lpstr>An Example of Agile Architecting</vt:lpstr>
      <vt:lpstr>Experiments to Make Tradeoffs</vt:lpstr>
      <vt:lpstr>Experiments to Make Tradeoffs</vt:lpstr>
      <vt:lpstr>Lesson</vt:lpstr>
      <vt:lpstr>Guidelines for the Agile Architect</vt:lpstr>
      <vt:lpstr>Our Advice</vt:lpstr>
      <vt:lpstr>Summary</vt:lpstr>
    </vt:vector>
  </TitlesOfParts>
  <Company>NICTA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 Bass</dc:creator>
  <cp:lastModifiedBy>七七 许</cp:lastModifiedBy>
  <cp:revision>29</cp:revision>
  <dcterms:created xsi:type="dcterms:W3CDTF">2012-04-18T22:57:58Z</dcterms:created>
  <dcterms:modified xsi:type="dcterms:W3CDTF">2025-11-03T05:49:00Z</dcterms:modified>
</cp:coreProperties>
</file>