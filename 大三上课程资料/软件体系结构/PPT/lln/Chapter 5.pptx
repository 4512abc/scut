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9" r:id="rId2"/>
    <p:sldId id="274" r:id="rId3"/>
    <p:sldId id="260" r:id="rId4"/>
    <p:sldId id="261" r:id="rId5"/>
    <p:sldId id="262" r:id="rId6"/>
    <p:sldId id="263" r:id="rId7"/>
    <p:sldId id="266" r:id="rId8"/>
    <p:sldId id="264" r:id="rId9"/>
    <p:sldId id="276" r:id="rId10"/>
    <p:sldId id="267" r:id="rId11"/>
    <p:sldId id="275" r:id="rId12"/>
    <p:sldId id="268" r:id="rId13"/>
    <p:sldId id="277" r:id="rId14"/>
    <p:sldId id="278" r:id="rId15"/>
    <p:sldId id="271" r:id="rId16"/>
    <p:sldId id="270" r:id="rId17"/>
    <p:sldId id="279" r:id="rId18"/>
    <p:sldId id="272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038" autoAdjust="0"/>
    <p:restoredTop sz="94660" autoAdjust="0"/>
  </p:normalViewPr>
  <p:slideViewPr>
    <p:cSldViewPr>
      <p:cViewPr varScale="1">
        <p:scale>
          <a:sx n="51" d="100"/>
          <a:sy n="51" d="100"/>
        </p:scale>
        <p:origin x="64" y="9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B1F14-2969-4234-94C2-84FB01E3AC7A}" type="datetimeFigureOut">
              <a:rPr lang="en-AU" smtClean="0"/>
              <a:t>3/11/2025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5789E-32BF-4BCD-9509-3BAE69BCF0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235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DB67-B98A-4AC5-929D-81BD9B8E0ED5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Kazman,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72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02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403648" y="6356350"/>
            <a:ext cx="6336704" cy="365125"/>
          </a:xfrm>
        </p:spPr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</p:spTree>
    <p:extLst>
      <p:ext uri="{BB962C8B-B14F-4D97-AF65-F5344CB8AC3E}">
        <p14:creationId xmlns:p14="http://schemas.microsoft.com/office/powerpoint/2010/main" val="317183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9AFD-92D5-4F38-81E5-3FBC268DED4A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30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DA7F1-F5F6-4965-B98A-1EF216FC21E9}" type="datetime1">
              <a:rPr lang="en-AU" smtClean="0"/>
              <a:t>3/11/2025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566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951D-1B64-4AD7-951D-395C8B37DA62}" type="datetime1">
              <a:rPr lang="en-AU" smtClean="0"/>
              <a:t>3/11/2025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10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45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D5B1-B0B7-4FEE-A636-82BBB8DC2F24}" type="datetime1">
              <a:rPr lang="en-AU" smtClean="0"/>
              <a:t>3/11/2025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9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E332-3D0B-4932-A3B1-41A6E16690E0}" type="datetime1">
              <a:rPr lang="en-AU" smtClean="0"/>
              <a:t>3/11/2025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75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B9C4-EF48-4255-A3A3-972222EC13E9}" type="datetime1">
              <a:rPr lang="en-AU" smtClean="0"/>
              <a:t>3/11/2025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074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94F8-BF1B-412F-A811-124AF48AB6BD}" type="datetime1">
              <a:rPr lang="en-AU" smtClean="0"/>
              <a:t>3/11/2025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4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8C8F9-EC1D-4BA9-A60E-999AFF963F40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11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916B-826A-4DC1-AF36-AFE8D11DE3BA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17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3DB84-98FB-4B92-9E59-12D7CC27F3EE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 dirty="0"/>
              <a:t>© Len Bass</a:t>
            </a:r>
            <a:r>
              <a:rPr lang="en-AU"/>
              <a:t>, Paul </a:t>
            </a:r>
            <a:r>
              <a:rPr lang="en-AU" dirty="0"/>
              <a:t>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1178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Chapter 5: Availability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353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Chapter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Availability?</a:t>
            </a:r>
          </a:p>
          <a:p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Availability General Scenario</a:t>
            </a:r>
          </a:p>
          <a:p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Tactics for Availability</a:t>
            </a:r>
          </a:p>
          <a:p>
            <a:r>
              <a:rPr lang="en-US" dirty="0"/>
              <a:t>A Design Checklist for Availability</a:t>
            </a:r>
            <a:endParaRPr lang="en-US" sz="3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Summary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686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Availability?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Availability refers to a property of software that it is there and ready to carry out its task when you need it to be. </a:t>
            </a:r>
          </a:p>
          <a:p>
            <a:r>
              <a:rPr lang="en-US" dirty="0"/>
              <a:t>This is a broad perspective and encompasses what is normally called reliability.</a:t>
            </a:r>
          </a:p>
          <a:p>
            <a:r>
              <a:rPr lang="en-US" dirty="0"/>
              <a:t>Availability builds on reliability by adding the notion of recovery (repair).</a:t>
            </a:r>
          </a:p>
          <a:p>
            <a:r>
              <a:rPr lang="en-US" dirty="0"/>
              <a:t>Fundamentally, availability is about minimizing service outage time by mitigating faults.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3817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General Scenario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3648" y="6376243"/>
            <a:ext cx="6336704" cy="365125"/>
          </a:xfrm>
        </p:spPr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14810"/>
              </p:ext>
            </p:extLst>
          </p:nvPr>
        </p:nvGraphicFramePr>
        <p:xfrm>
          <a:off x="467544" y="1407346"/>
          <a:ext cx="8316416" cy="53265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640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 b="1" dirty="0">
                          <a:effectLst/>
                        </a:rPr>
                        <a:t>Portion of </a:t>
                      </a:r>
                      <a:br>
                        <a:rPr lang="en-US" sz="1400" b="1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Scenario</a:t>
                      </a:r>
                      <a:endParaRPr lang="en-US" sz="1400" b="1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 b="1" dirty="0">
                          <a:effectLst/>
                        </a:rPr>
                        <a:t>Possible Values	</a:t>
                      </a:r>
                      <a:endParaRPr lang="en-US" sz="1400" b="1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063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Source</a:t>
                      </a:r>
                      <a:endParaRPr lang="en-US" sz="140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Internal/external: people, hardware, software, physical infrastructure, physical environment</a:t>
                      </a:r>
                      <a:endParaRPr lang="en-US" sz="140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825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Stimulus</a:t>
                      </a:r>
                      <a:endParaRPr lang="en-US" sz="140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Fault: omission, crash, incorrect timing, incorrect response</a:t>
                      </a:r>
                      <a:endParaRPr lang="en-US" sz="140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063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Artifact</a:t>
                      </a:r>
                      <a:endParaRPr lang="en-US" sz="140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System’s processors, communication channels, persistent storage, processes</a:t>
                      </a:r>
                      <a:endParaRPr lang="en-US" sz="140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063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Environment</a:t>
                      </a:r>
                      <a:endParaRPr lang="en-US" sz="140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Normal operation, startup, shutdown, repair mode, degraded operation, overloaded operation</a:t>
                      </a:r>
                      <a:endParaRPr lang="en-US" sz="140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0450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Response</a:t>
                      </a:r>
                      <a:endParaRPr lang="en-US" sz="140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tabLst>
                          <a:tab pos="228600" algn="l"/>
                          <a:tab pos="27432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Prevent the fault from becoming a failure</a:t>
                      </a:r>
                    </a:p>
                    <a:p>
                      <a:pPr marL="0" marR="0" indent="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tabLst>
                          <a:tab pos="228600" algn="l"/>
                          <a:tab pos="27432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Detect the fault: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 log the fault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 notify appropriate entities (people or systems)</a:t>
                      </a:r>
                    </a:p>
                    <a:p>
                      <a:pPr marL="0" marR="0" indent="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tabLst>
                          <a:tab pos="228600" algn="l"/>
                          <a:tab pos="27432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Recover from the fault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 disable source of events causing the fault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 be temporarily unavailable while repair is being effected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 fix or mask the fault/failure or contain the damage it causes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 operate in a degraded mode while repair is being effected</a:t>
                      </a:r>
                      <a:endParaRPr lang="en-US" sz="1400" kern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1984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Response 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en-US" sz="1400">
                          <a:effectLst/>
                        </a:rPr>
                        <a:t>Measure</a:t>
                      </a:r>
                      <a:endParaRPr lang="en-US" sz="140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Time or time interval when the system must be available</a:t>
                      </a:r>
                    </a:p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Availability percentage (e.g. 99.999%)</a:t>
                      </a:r>
                    </a:p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Time to detect the fault</a:t>
                      </a:r>
                    </a:p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Time to repair the fault</a:t>
                      </a:r>
                    </a:p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Time or time interval in which system can be in degraded mode</a:t>
                      </a:r>
                    </a:p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 dirty="0">
                          <a:effectLst/>
                        </a:rPr>
                        <a:t>Proportion (e.g., 99%) or rate (e.g., up to 100 per second) of a certain class of faults that the system prevents, or handles without failing</a:t>
                      </a:r>
                      <a:endParaRPr lang="en-US" sz="140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22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Sample Concrete Availability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heartbeat monitor determines that the server is nonresponsive during normal operations. The system informs the operator and continues to operate with no downtime.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038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Availability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failure occurs when the system no longer delivers a service consistent with its specification</a:t>
            </a:r>
          </a:p>
          <a:p>
            <a:pPr lvl="1"/>
            <a:r>
              <a:rPr lang="en-US" dirty="0"/>
              <a:t>this failure is observable by the system’s actors. </a:t>
            </a:r>
          </a:p>
          <a:p>
            <a:r>
              <a:rPr lang="en-US" dirty="0"/>
              <a:t>A fault (or combination of faults) has the potential to cause a failure. </a:t>
            </a:r>
          </a:p>
          <a:p>
            <a:r>
              <a:rPr lang="en-US" dirty="0"/>
              <a:t>Availability tactics enable a system to endure faults so that services remain compliant with their specifications. </a:t>
            </a:r>
          </a:p>
          <a:p>
            <a:r>
              <a:rPr lang="en-US" dirty="0"/>
              <a:t>The tactics keep faults from becoming failures or at least bound the effects of the fault and make repair possible.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835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Availability Tactics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1697" t="39182" r="22295" b="38011"/>
          <a:stretch/>
        </p:blipFill>
        <p:spPr>
          <a:xfrm>
            <a:off x="1691680" y="2060848"/>
            <a:ext cx="5677698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88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Availability Tactics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3648" y="6448251"/>
            <a:ext cx="6336704" cy="365125"/>
          </a:xfrm>
        </p:spPr>
        <p:txBody>
          <a:bodyPr/>
          <a:lstStyle/>
          <a:p>
            <a:r>
              <a:rPr lang="en-AU" dirty="0"/>
              <a:t>© Len Bass, Paul Clements, Rick Kazman, distributed under Creative Commons Attribution License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035496"/>
            <a:ext cx="6264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928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 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Ping/echo: asynchronous request/response message pair exchanged between nodes, used to determine reachability and the round-trip delay through the associated network path. </a:t>
            </a:r>
          </a:p>
          <a:p>
            <a:r>
              <a:rPr lang="en-US" dirty="0"/>
              <a:t>Monitor: a component used to monitor the state of health of other parts of the system. A system monitor can detect failure or congestion in the network or other shared resources, such as from a denial-of-service attack. </a:t>
            </a:r>
          </a:p>
          <a:p>
            <a:r>
              <a:rPr lang="en-US" dirty="0"/>
              <a:t>Heartbeat: a periodic message exchange between a system monitor and a process being monitored.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11429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 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5893"/>
            <a:ext cx="8229600" cy="48574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Timestamp: used to detect incorrect sequences of events, primarily in distributed message-passing systems. </a:t>
            </a:r>
          </a:p>
          <a:p>
            <a:r>
              <a:rPr lang="en-US" dirty="0"/>
              <a:t>Sanity Checking: checks the validity or reasonableness of a component’s operations or outputs; typically based on a knowledge of the internal design, the state of the system, or the nature of the information under scrutiny. </a:t>
            </a:r>
          </a:p>
          <a:p>
            <a:r>
              <a:rPr lang="en-US" dirty="0"/>
              <a:t>Condition Monitoring: checking conditions in a process or device, or validating assumptions made during the design.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01889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 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Voting: to check that replicated components are producing the same results. Comes in various flavors: replication, functional redundancy, analytic redundancy.</a:t>
            </a:r>
          </a:p>
          <a:p>
            <a:r>
              <a:rPr lang="en-US" dirty="0"/>
              <a:t>Exception Detection: detection of a system condition that alters the normal flow of execution, e.g. system exception, parameter fence, parameter typing, timeout.</a:t>
            </a:r>
          </a:p>
          <a:p>
            <a:r>
              <a:rPr lang="en-US" dirty="0"/>
              <a:t>Self-test: procedure for a component to test itself for correct operation.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5239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 from Faults </a:t>
            </a:r>
            <a:br>
              <a:rPr lang="en-US" dirty="0"/>
            </a:br>
            <a:r>
              <a:rPr lang="en-US" dirty="0"/>
              <a:t>(Preparation &amp; Repair)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Active Redundancy (hot spare): all nodes in a </a:t>
            </a:r>
            <a:r>
              <a:rPr lang="en-US" i="1" dirty="0"/>
              <a:t>protection group </a:t>
            </a:r>
            <a:r>
              <a:rPr lang="en-US" dirty="0"/>
              <a:t>receive and process identical inputs in parallel, allowing redundant spare(s) to maintain synchronous state with the active node(s). 	</a:t>
            </a:r>
          </a:p>
          <a:p>
            <a:pPr lvl="1"/>
            <a:r>
              <a:rPr lang="en-US" dirty="0"/>
              <a:t>A protection group is a group of nodes where one or more nodes are “active,” with the remainder serving as redundant spares.</a:t>
            </a:r>
          </a:p>
          <a:p>
            <a:r>
              <a:rPr lang="en-US" dirty="0"/>
              <a:t>Passive Redundancy (warm spare): only the active members of the protection group process input traffic; one of their duties is to provide the redundant spare(s) with periodic state updates. </a:t>
            </a:r>
          </a:p>
          <a:p>
            <a:r>
              <a:rPr lang="en-US" dirty="0"/>
              <a:t>Spare (cold spare): redundant spares of a protection group remain out of service until a fail-over occurs, at which point a power-on-reset procedure is initiated on the redundant spare prior to its being placed in service.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87263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 from Faults </a:t>
            </a:r>
            <a:br>
              <a:rPr lang="en-US" dirty="0"/>
            </a:br>
            <a:r>
              <a:rPr lang="en-US" dirty="0"/>
              <a:t>(Preparation &amp; Repair)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Exception Handling: dealing with the exception by reporting it or handling it, potentially masking the fault by correcting the cause of the exception and retrying.</a:t>
            </a:r>
          </a:p>
          <a:p>
            <a:pPr>
              <a:lnSpc>
                <a:spcPct val="90000"/>
              </a:lnSpc>
            </a:pPr>
            <a:r>
              <a:rPr lang="en-US" dirty="0"/>
              <a:t>Rollback: revert to a previous known good state, referred to as the “rollback line”.</a:t>
            </a:r>
          </a:p>
          <a:p>
            <a:pPr>
              <a:lnSpc>
                <a:spcPct val="90000"/>
              </a:lnSpc>
            </a:pPr>
            <a:r>
              <a:rPr lang="en-US" dirty="0"/>
              <a:t>Software Upgrade: in-service upgrades to executable code images in a non-service-affecting manner.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5885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 from Faults </a:t>
            </a:r>
            <a:br>
              <a:rPr lang="en-US" dirty="0"/>
            </a:br>
            <a:r>
              <a:rPr lang="en-US" dirty="0"/>
              <a:t>(Preparation &amp; Repair)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Retry: where a failure is transient retrying the operation may lead to success.</a:t>
            </a:r>
          </a:p>
          <a:p>
            <a:r>
              <a:rPr lang="en-US" dirty="0"/>
              <a:t>Ignore Faulty Behavior: ignoring messages sent from a source when it is determined that those messages are spurious.</a:t>
            </a:r>
          </a:p>
          <a:p>
            <a:r>
              <a:rPr lang="en-US" dirty="0"/>
              <a:t>Degradation: maintains the most critical system functions in the presence of component failures, dropping less critical functions.</a:t>
            </a:r>
          </a:p>
          <a:p>
            <a:r>
              <a:rPr lang="en-US" dirty="0"/>
              <a:t>Reconfiguration: reassigning responsibilities to the resources left functioning, while maintaining as much functionality as possible.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78780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 from Faults </a:t>
            </a:r>
            <a:br>
              <a:rPr lang="en-US" dirty="0"/>
            </a:br>
            <a:r>
              <a:rPr lang="en-US" dirty="0"/>
              <a:t>(Reintroduction)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Shadow: operating a previously failed or in-service upgraded component in a “shadow mode” for a predefined time prior to reverting the component back to an active role.</a:t>
            </a:r>
          </a:p>
          <a:p>
            <a:r>
              <a:rPr lang="en-US" sz="2400" dirty="0"/>
              <a:t>State Resynchronization: partner to active redundancy and passive redundancy where state information is sent from active to standby components.</a:t>
            </a:r>
          </a:p>
          <a:p>
            <a:r>
              <a:rPr lang="en-US" sz="2400" dirty="0"/>
              <a:t>Escalating Restart: recover from faults by varying the granularity of the component(s) restarted and minimizing the level of service affected.</a:t>
            </a:r>
          </a:p>
          <a:p>
            <a:r>
              <a:rPr lang="en-US" sz="2400" dirty="0"/>
              <a:t>Non-stop Forwarding: functionality is split into supervisory and data. If a supervisor fails, a router continues forwarding packets along known routes while protocol information is recovered and validated.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0267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Prevent 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Removal From Service: temporarily placing a system component in an out-of-service state for the purpose of mitigating potential system failures </a:t>
            </a:r>
          </a:p>
          <a:p>
            <a:r>
              <a:rPr lang="en-US" dirty="0"/>
              <a:t>Transactions: bundling state updates so that asynchronous messages exchanged between distributed components are </a:t>
            </a:r>
            <a:r>
              <a:rPr lang="en-US" i="1" dirty="0"/>
              <a:t>atomic</a:t>
            </a:r>
            <a:r>
              <a:rPr lang="en-US" dirty="0"/>
              <a:t>, </a:t>
            </a:r>
            <a:r>
              <a:rPr lang="en-US" i="1" dirty="0"/>
              <a:t>consistent</a:t>
            </a:r>
            <a:r>
              <a:rPr lang="en-US" dirty="0"/>
              <a:t>, </a:t>
            </a:r>
            <a:r>
              <a:rPr lang="en-US" i="1" dirty="0"/>
              <a:t>isolated</a:t>
            </a:r>
            <a:r>
              <a:rPr lang="en-US" dirty="0"/>
              <a:t>, and </a:t>
            </a:r>
            <a:r>
              <a:rPr lang="en-US" i="1" dirty="0"/>
              <a:t>durable</a:t>
            </a:r>
            <a:r>
              <a:rPr lang="en-US" dirty="0"/>
              <a:t>. </a:t>
            </a:r>
          </a:p>
          <a:p>
            <a:r>
              <a:rPr lang="en-US" dirty="0"/>
              <a:t>Predictive Model: monitor the state of health of a process to ensure that the system is operating within nominal parameters; take corrective action when conditions are detected that are predictive of likely future faults.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3121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Prevent 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Exception Prevention: preventing system exceptions from occurring by masking a fault, or preventing it via smart pointers, abstract data types, wrappers.</a:t>
            </a:r>
          </a:p>
          <a:p>
            <a:r>
              <a:rPr lang="en-US" dirty="0"/>
              <a:t>Increase Competence Set: designing a component to handle more cases—faults—as part of its normal operation.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68490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Availability refers to the ability of the system to be available for use when a fault occurs. </a:t>
            </a:r>
          </a:p>
          <a:p>
            <a:r>
              <a:rPr lang="en-US" dirty="0"/>
              <a:t>The fault must be recognized (or prevented) and then the system must respond. </a:t>
            </a:r>
          </a:p>
          <a:p>
            <a:r>
              <a:rPr lang="en-US" dirty="0"/>
              <a:t>The response will depend on the criticality of the application and the type of fault</a:t>
            </a:r>
          </a:p>
          <a:p>
            <a:pPr lvl="1"/>
            <a:r>
              <a:rPr lang="en-US" dirty="0"/>
              <a:t>can range from “ignore it” to “keep on going as if it didn’t occur.”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0907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Tactics for availability are categorized into detect faults, recover from faults and prevent faults. </a:t>
            </a:r>
          </a:p>
          <a:p>
            <a:r>
              <a:rPr lang="en-US" dirty="0"/>
              <a:t>Detection tactics depend on detecting signs of life from various components. </a:t>
            </a:r>
          </a:p>
          <a:p>
            <a:r>
              <a:rPr lang="en-US" dirty="0"/>
              <a:t>Recovery tactics are retrying an operation or maintaining redundant data or computations. </a:t>
            </a:r>
          </a:p>
          <a:p>
            <a:r>
              <a:rPr lang="en-US" dirty="0"/>
              <a:t>Prevention tactics depend on removing elements from service or limiting the scope of faults. </a:t>
            </a:r>
          </a:p>
          <a:p>
            <a:r>
              <a:rPr lang="en-US" dirty="0"/>
              <a:t>All availability tactics involve the coordination model.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1145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2361</TotalTime>
  <Words>1644</Words>
  <Application>Microsoft Office PowerPoint</Application>
  <PresentationFormat>全屏显示(4:3)</PresentationFormat>
  <Paragraphs>118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Arial</vt:lpstr>
      <vt:lpstr>Calibri</vt:lpstr>
      <vt:lpstr>Symbol</vt:lpstr>
      <vt:lpstr>Times</vt:lpstr>
      <vt:lpstr>Times New Roman</vt:lpstr>
      <vt:lpstr>Office Theme</vt:lpstr>
      <vt:lpstr>Chapter 5: Availability</vt:lpstr>
      <vt:lpstr>Chapter Outline</vt:lpstr>
      <vt:lpstr>What is Availability?</vt:lpstr>
      <vt:lpstr>Availability General Scenario</vt:lpstr>
      <vt:lpstr>Sample Concrete Availability Scenario</vt:lpstr>
      <vt:lpstr>Goal of Availability Tactics</vt:lpstr>
      <vt:lpstr>Goal of Availability Tactics</vt:lpstr>
      <vt:lpstr>Availability Tactics</vt:lpstr>
      <vt:lpstr>Detect Faults</vt:lpstr>
      <vt:lpstr>Detect Faults</vt:lpstr>
      <vt:lpstr>Detect Faults</vt:lpstr>
      <vt:lpstr>Recover from Faults  (Preparation &amp; Repair)</vt:lpstr>
      <vt:lpstr>Recover from Faults  (Preparation &amp; Repair)</vt:lpstr>
      <vt:lpstr>Recover from Faults  (Preparation &amp; Repair)</vt:lpstr>
      <vt:lpstr>Recover from Faults  (Reintroduction)</vt:lpstr>
      <vt:lpstr>Prevent Faults</vt:lpstr>
      <vt:lpstr>Prevent Faults</vt:lpstr>
      <vt:lpstr>Summary</vt:lpstr>
      <vt:lpstr>Summary</vt:lpstr>
    </vt:vector>
  </TitlesOfParts>
  <Company>NICTA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 Bass</dc:creator>
  <cp:lastModifiedBy>七七 许</cp:lastModifiedBy>
  <cp:revision>35</cp:revision>
  <dcterms:created xsi:type="dcterms:W3CDTF">2012-04-18T22:57:58Z</dcterms:created>
  <dcterms:modified xsi:type="dcterms:W3CDTF">2025-11-03T02:15:47Z</dcterms:modified>
</cp:coreProperties>
</file>