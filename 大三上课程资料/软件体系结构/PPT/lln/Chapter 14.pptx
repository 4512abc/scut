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258" r:id="rId3"/>
    <p:sldId id="280" r:id="rId4"/>
    <p:sldId id="260" r:id="rId5"/>
    <p:sldId id="261" r:id="rId6"/>
    <p:sldId id="285" r:id="rId7"/>
    <p:sldId id="263" r:id="rId8"/>
    <p:sldId id="264" r:id="rId9"/>
    <p:sldId id="265" r:id="rId10"/>
    <p:sldId id="284" r:id="rId11"/>
    <p:sldId id="267" r:id="rId12"/>
    <p:sldId id="268" r:id="rId13"/>
    <p:sldId id="282" r:id="rId14"/>
    <p:sldId id="269" r:id="rId15"/>
    <p:sldId id="270" r:id="rId16"/>
    <p:sldId id="286" r:id="rId17"/>
    <p:sldId id="287" r:id="rId18"/>
    <p:sldId id="288" r:id="rId19"/>
    <p:sldId id="276" r:id="rId20"/>
    <p:sldId id="272" r:id="rId21"/>
    <p:sldId id="278" r:id="rId22"/>
    <p:sldId id="273" r:id="rId23"/>
    <p:sldId id="279" r:id="rId24"/>
    <p:sldId id="289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09" autoAdjust="0"/>
    <p:restoredTop sz="86320" autoAdjust="0"/>
  </p:normalViewPr>
  <p:slideViewPr>
    <p:cSldViewPr>
      <p:cViewPr varScale="1">
        <p:scale>
          <a:sx n="94" d="100"/>
          <a:sy n="94" d="100"/>
        </p:scale>
        <p:origin x="145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9" y="1843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35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DB67-B98A-4AC5-929D-81BD9B8E0ED5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Kazman,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2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</p:spTree>
    <p:extLst>
      <p:ext uri="{BB962C8B-B14F-4D97-AF65-F5344CB8AC3E}">
        <p14:creationId xmlns:p14="http://schemas.microsoft.com/office/powerpoint/2010/main" val="317183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9AFD-92D5-4F38-81E5-3FBC268DED4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DA7F1-F5F6-4965-B98A-1EF216FC21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6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951D-1B64-4AD7-951D-395C8B37DA62}" type="datetime1">
              <a:rPr lang="en-AU" smtClean="0"/>
              <a:t>3/11/2025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45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D5B1-B0B7-4FEE-A636-82BBB8DC2F24}" type="datetime1">
              <a:rPr lang="en-AU" smtClean="0"/>
              <a:t>3/11/2025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E332-3D0B-4932-A3B1-41A6E16690E0}" type="datetime1">
              <a:rPr lang="en-AU" smtClean="0"/>
              <a:t>3/11/2025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B9C4-EF48-4255-A3A3-972222EC13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74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94F8-BF1B-412F-A811-124AF48AB6BD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C8F9-EC1D-4BA9-A60E-999AFF963F40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11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916B-826A-4DC1-AF36-AFE8D11DE3B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1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DB84-98FB-4B92-9E59-12D7CC27F3EE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Len Bass</a:t>
            </a:r>
            <a:r>
              <a:rPr lang="en-AU"/>
              <a:t>, Paul </a:t>
            </a:r>
            <a:r>
              <a:rPr lang="en-AU" dirty="0"/>
              <a:t>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17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Quality Attribute </a:t>
            </a:r>
            <a:r>
              <a:rPr lang="en-AU" dirty="0" err="1"/>
              <a:t>Modeling</a:t>
            </a:r>
            <a:r>
              <a:rPr lang="en-AU" dirty="0"/>
              <a:t> and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353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Architectures to Enable Quality Attribute Analysis </a:t>
            </a:r>
          </a:p>
          <a:p>
            <a:r>
              <a:rPr lang="en-US" dirty="0"/>
              <a:t>Quality Attribute Checklists</a:t>
            </a:r>
          </a:p>
          <a:p>
            <a:r>
              <a:rPr lang="en-US" dirty="0"/>
              <a:t>Thought Experiments and Back-of-the-Envelope Analysis </a:t>
            </a:r>
          </a:p>
          <a:p>
            <a:r>
              <a:rPr lang="en-US" dirty="0"/>
              <a:t>Experiments, Simulations, and Prototypes</a:t>
            </a:r>
          </a:p>
          <a:p>
            <a:r>
              <a:rPr lang="en-US" dirty="0"/>
              <a:t>Analysis at Different Stages of the Life Cycle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394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90662"/>
            <a:ext cx="7715200" cy="778098"/>
          </a:xfrm>
        </p:spPr>
        <p:txBody>
          <a:bodyPr>
            <a:noAutofit/>
          </a:bodyPr>
          <a:lstStyle/>
          <a:p>
            <a:r>
              <a:rPr lang="en-US" sz="3600" dirty="0"/>
              <a:t>Modeling Architectures to Enable Quality Attribute Analysis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quality attributes, most notably performance and availability, have well-understood, time-tested analytic models that can be used to assist in an analysis. </a:t>
            </a:r>
          </a:p>
          <a:p>
            <a:r>
              <a:rPr lang="en-US" dirty="0"/>
              <a:t>By </a:t>
            </a:r>
            <a:r>
              <a:rPr lang="en-US" i="1" dirty="0"/>
              <a:t>analytic model</a:t>
            </a:r>
            <a:r>
              <a:rPr lang="en-US" dirty="0"/>
              <a:t>, we mean one that supports quantitative analysis. Let us first consider performance.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204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r>
              <a:rPr lang="en-US" baseline="0" dirty="0"/>
              <a:t>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93096"/>
            <a:ext cx="8229600" cy="18330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Parameters:</a:t>
            </a:r>
            <a:r>
              <a:rPr lang="en-US" baseline="0" dirty="0"/>
              <a:t> </a:t>
            </a: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arrival rate of events, chosen queuing discipline, chosen scheduling algorithm, service time for events, network topology,  network bandwidth, routing algorithm chosen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grpSp>
        <p:nvGrpSpPr>
          <p:cNvPr id="5" name="Group 4"/>
          <p:cNvGrpSpPr/>
          <p:nvPr/>
        </p:nvGrpSpPr>
        <p:grpSpPr>
          <a:xfrm>
            <a:off x="609600" y="1124744"/>
            <a:ext cx="7848600" cy="2978150"/>
            <a:chOff x="76200" y="1371600"/>
            <a:chExt cx="7848600" cy="2978150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76200" y="2986088"/>
              <a:ext cx="9207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sz="1800"/>
                <a:t>arrivals</a:t>
              </a:r>
            </a:p>
          </p:txBody>
        </p:sp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168275" y="2895600"/>
              <a:ext cx="11430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1341438" y="2446338"/>
              <a:ext cx="527050" cy="682625"/>
              <a:chOff x="1200" y="1488"/>
              <a:chExt cx="480" cy="480"/>
            </a:xfrm>
          </p:grpSpPr>
          <p:sp>
            <p:nvSpPr>
              <p:cNvPr id="38" name="Rectangle 6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7"/>
              <p:cNvSpPr>
                <a:spLocks noChangeArrowheads="1"/>
              </p:cNvSpPr>
              <p:nvPr/>
            </p:nvSpPr>
            <p:spPr bwMode="auto">
              <a:xfrm>
                <a:off x="1296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8"/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9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Rectangle 10"/>
              <p:cNvSpPr>
                <a:spLocks noChangeArrowheads="1"/>
              </p:cNvSpPr>
              <p:nvPr/>
            </p:nvSpPr>
            <p:spPr bwMode="auto">
              <a:xfrm>
                <a:off x="1584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009650" y="3230563"/>
              <a:ext cx="8191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sz="1800"/>
                <a:t>queue</a:t>
              </a: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1868488" y="2035175"/>
              <a:ext cx="1636712" cy="1504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057400" y="3516313"/>
              <a:ext cx="8191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sz="1800"/>
                <a:t>server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6883400" y="3048000"/>
              <a:ext cx="8572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428" tIns="45714" rIns="91428" bIns="45714">
              <a:spAutoFit/>
            </a:bodyPr>
            <a:lstStyle/>
            <a:p>
              <a:pPr algn="r">
                <a:buFontTx/>
                <a:buNone/>
              </a:pPr>
              <a:r>
                <a:rPr lang="en-US" sz="1800"/>
                <a:t>results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1889125" y="2438400"/>
              <a:ext cx="1463675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sz="1800" dirty="0">
                  <a:solidFill>
                    <a:srgbClr val="FFFFFF"/>
                  </a:solidFill>
                </a:rPr>
                <a:t>Scheduling algorithm</a:t>
              </a:r>
            </a:p>
          </p:txBody>
        </p: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3505200" y="2133600"/>
              <a:ext cx="762000" cy="1296988"/>
              <a:chOff x="3744" y="1344"/>
              <a:chExt cx="480" cy="816"/>
            </a:xfrm>
          </p:grpSpPr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374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3936" y="1344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3936" y="134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22"/>
              <p:cNvSpPr>
                <a:spLocks noChangeShapeType="1"/>
              </p:cNvSpPr>
              <p:nvPr/>
            </p:nvSpPr>
            <p:spPr bwMode="auto">
              <a:xfrm>
                <a:off x="3936" y="216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23"/>
            <p:cNvGrpSpPr>
              <a:grpSpLocks/>
            </p:cNvGrpSpPr>
            <p:nvPr/>
          </p:nvGrpSpPr>
          <p:grpSpPr bwMode="auto">
            <a:xfrm>
              <a:off x="4238625" y="1371600"/>
              <a:ext cx="2543175" cy="1373188"/>
              <a:chOff x="2670" y="966"/>
              <a:chExt cx="1602" cy="865"/>
            </a:xfrm>
          </p:grpSpPr>
          <p:grpSp>
            <p:nvGrpSpPr>
              <p:cNvPr id="27" name="Group 24"/>
              <p:cNvGrpSpPr>
                <a:grpSpLocks/>
              </p:cNvGrpSpPr>
              <p:nvPr/>
            </p:nvGrpSpPr>
            <p:grpSpPr bwMode="auto">
              <a:xfrm>
                <a:off x="2668" y="1202"/>
                <a:ext cx="390" cy="393"/>
                <a:chOff x="1200" y="1488"/>
                <a:chExt cx="480" cy="480"/>
              </a:xfrm>
            </p:grpSpPr>
            <p:sp>
              <p:nvSpPr>
                <p:cNvPr id="29" name="Rectangle 25"/>
                <p:cNvSpPr>
                  <a:spLocks noChangeArrowheads="1"/>
                </p:cNvSpPr>
                <p:nvPr/>
              </p:nvSpPr>
              <p:spPr bwMode="auto">
                <a:xfrm>
                  <a:off x="1200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Rectangle 26"/>
                <p:cNvSpPr>
                  <a:spLocks noChangeArrowheads="1"/>
                </p:cNvSpPr>
                <p:nvPr/>
              </p:nvSpPr>
              <p:spPr bwMode="auto">
                <a:xfrm>
                  <a:off x="1296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Rectangle 27"/>
                <p:cNvSpPr>
                  <a:spLocks noChangeArrowheads="1"/>
                </p:cNvSpPr>
                <p:nvPr/>
              </p:nvSpPr>
              <p:spPr bwMode="auto">
                <a:xfrm>
                  <a:off x="1392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Rectangle 29"/>
                <p:cNvSpPr>
                  <a:spLocks noChangeArrowheads="1"/>
                </p:cNvSpPr>
                <p:nvPr/>
              </p:nvSpPr>
              <p:spPr bwMode="auto">
                <a:xfrm>
                  <a:off x="1584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" name="Rectangle 30"/>
              <p:cNvSpPr>
                <a:spLocks noChangeArrowheads="1"/>
              </p:cNvSpPr>
              <p:nvPr/>
            </p:nvSpPr>
            <p:spPr bwMode="auto">
              <a:xfrm>
                <a:off x="3061" y="966"/>
                <a:ext cx="1211" cy="86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31"/>
            <p:cNvGrpSpPr>
              <a:grpSpLocks/>
            </p:cNvGrpSpPr>
            <p:nvPr/>
          </p:nvGrpSpPr>
          <p:grpSpPr bwMode="auto">
            <a:xfrm>
              <a:off x="4238625" y="2894013"/>
              <a:ext cx="2543175" cy="1373187"/>
              <a:chOff x="2670" y="966"/>
              <a:chExt cx="1602" cy="865"/>
            </a:xfrm>
          </p:grpSpPr>
          <p:grpSp>
            <p:nvGrpSpPr>
              <p:cNvPr id="20" name="Group 32"/>
              <p:cNvGrpSpPr>
                <a:grpSpLocks/>
              </p:cNvGrpSpPr>
              <p:nvPr/>
            </p:nvGrpSpPr>
            <p:grpSpPr bwMode="auto">
              <a:xfrm>
                <a:off x="2668" y="1202"/>
                <a:ext cx="390" cy="393"/>
                <a:chOff x="1200" y="1488"/>
                <a:chExt cx="480" cy="480"/>
              </a:xfrm>
            </p:grpSpPr>
            <p:sp>
              <p:nvSpPr>
                <p:cNvPr id="22" name="Rectangle 33"/>
                <p:cNvSpPr>
                  <a:spLocks noChangeArrowheads="1"/>
                </p:cNvSpPr>
                <p:nvPr/>
              </p:nvSpPr>
              <p:spPr bwMode="auto">
                <a:xfrm>
                  <a:off x="1200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Rectangle 34"/>
                <p:cNvSpPr>
                  <a:spLocks noChangeArrowheads="1"/>
                </p:cNvSpPr>
                <p:nvPr/>
              </p:nvSpPr>
              <p:spPr bwMode="auto">
                <a:xfrm>
                  <a:off x="1296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Rectangle 35"/>
                <p:cNvSpPr>
                  <a:spLocks noChangeArrowheads="1"/>
                </p:cNvSpPr>
                <p:nvPr/>
              </p:nvSpPr>
              <p:spPr bwMode="auto">
                <a:xfrm>
                  <a:off x="1392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Rectangle 36"/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Rectangle 37"/>
                <p:cNvSpPr>
                  <a:spLocks noChangeArrowheads="1"/>
                </p:cNvSpPr>
                <p:nvPr/>
              </p:nvSpPr>
              <p:spPr bwMode="auto">
                <a:xfrm>
                  <a:off x="1584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1" name="Rectangle 38"/>
              <p:cNvSpPr>
                <a:spLocks noChangeArrowheads="1"/>
              </p:cNvSpPr>
              <p:nvPr/>
            </p:nvSpPr>
            <p:spPr bwMode="auto">
              <a:xfrm>
                <a:off x="3061" y="966"/>
                <a:ext cx="1211" cy="86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" name="Line 39"/>
            <p:cNvSpPr>
              <a:spLocks noChangeShapeType="1"/>
            </p:cNvSpPr>
            <p:nvPr/>
          </p:nvSpPr>
          <p:spPr bwMode="auto">
            <a:xfrm>
              <a:off x="6781800" y="1827213"/>
              <a:ext cx="11430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0"/>
            <p:cNvSpPr>
              <a:spLocks noChangeShapeType="1"/>
            </p:cNvSpPr>
            <p:nvPr/>
          </p:nvSpPr>
          <p:spPr bwMode="auto">
            <a:xfrm>
              <a:off x="6781800" y="3810000"/>
              <a:ext cx="11430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41"/>
            <p:cNvSpPr txBox="1">
              <a:spLocks noChangeArrowheads="1"/>
            </p:cNvSpPr>
            <p:nvPr/>
          </p:nvSpPr>
          <p:spPr bwMode="auto">
            <a:xfrm>
              <a:off x="3086100" y="3708400"/>
              <a:ext cx="1373188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sz="1800"/>
                <a:t>Routing of messages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02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</a:t>
            </a:r>
            <a:r>
              <a:rPr lang="en-US" baseline="0" dirty="0"/>
              <a:t> Model for MVC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771262" cy="453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704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Queuing Model for 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4365104"/>
            <a:ext cx="4267609" cy="176105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Arrivals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View</a:t>
            </a:r>
            <a:r>
              <a:rPr lang="en-US" sz="2400" baseline="0" dirty="0"/>
              <a:t> sends requests to Controller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Actions returned to 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grpSp>
        <p:nvGrpSpPr>
          <p:cNvPr id="5" name="Group 4"/>
          <p:cNvGrpSpPr/>
          <p:nvPr/>
        </p:nvGrpSpPr>
        <p:grpSpPr>
          <a:xfrm>
            <a:off x="1187624" y="1306424"/>
            <a:ext cx="6978523" cy="2770648"/>
            <a:chOff x="52473" y="76200"/>
            <a:chExt cx="7262727" cy="4565650"/>
          </a:xfrm>
        </p:grpSpPr>
        <p:sp>
          <p:nvSpPr>
            <p:cNvPr id="6" name="Line 3"/>
            <p:cNvSpPr>
              <a:spLocks noChangeShapeType="1"/>
            </p:cNvSpPr>
            <p:nvPr/>
          </p:nvSpPr>
          <p:spPr bwMode="auto">
            <a:xfrm>
              <a:off x="990601" y="3268664"/>
              <a:ext cx="93694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1874838" y="2820988"/>
              <a:ext cx="527050" cy="682625"/>
              <a:chOff x="1200" y="1488"/>
              <a:chExt cx="480" cy="480"/>
            </a:xfrm>
          </p:grpSpPr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1296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Rectangle 9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10"/>
              <p:cNvSpPr>
                <a:spLocks noChangeArrowheads="1"/>
              </p:cNvSpPr>
              <p:nvPr/>
            </p:nvSpPr>
            <p:spPr bwMode="auto">
              <a:xfrm>
                <a:off x="1584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2401888" y="2409825"/>
              <a:ext cx="1636712" cy="1504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2850593" y="2977640"/>
              <a:ext cx="731837" cy="36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dirty="0">
                  <a:solidFill>
                    <a:srgbClr val="FFFFFF"/>
                  </a:solidFill>
                </a:rPr>
                <a:t>View</a:t>
              </a: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Line 22"/>
            <p:cNvSpPr>
              <a:spLocks noChangeShapeType="1"/>
            </p:cNvSpPr>
            <p:nvPr/>
          </p:nvSpPr>
          <p:spPr bwMode="auto">
            <a:xfrm>
              <a:off x="4038600" y="3886200"/>
              <a:ext cx="762000" cy="166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31"/>
            <p:cNvGrpSpPr>
              <a:grpSpLocks/>
            </p:cNvGrpSpPr>
            <p:nvPr/>
          </p:nvGrpSpPr>
          <p:grpSpPr bwMode="auto">
            <a:xfrm>
              <a:off x="4772025" y="3268663"/>
              <a:ext cx="2543175" cy="1373187"/>
              <a:chOff x="2670" y="966"/>
              <a:chExt cx="1602" cy="865"/>
            </a:xfrm>
          </p:grpSpPr>
          <p:grpSp>
            <p:nvGrpSpPr>
              <p:cNvPr id="35" name="Group 32"/>
              <p:cNvGrpSpPr>
                <a:grpSpLocks/>
              </p:cNvGrpSpPr>
              <p:nvPr/>
            </p:nvGrpSpPr>
            <p:grpSpPr bwMode="auto">
              <a:xfrm>
                <a:off x="2668" y="1202"/>
                <a:ext cx="390" cy="393"/>
                <a:chOff x="1200" y="1488"/>
                <a:chExt cx="480" cy="480"/>
              </a:xfrm>
            </p:grpSpPr>
            <p:sp>
              <p:nvSpPr>
                <p:cNvPr id="37" name="Rectangle 33"/>
                <p:cNvSpPr>
                  <a:spLocks noChangeArrowheads="1"/>
                </p:cNvSpPr>
                <p:nvPr/>
              </p:nvSpPr>
              <p:spPr bwMode="auto">
                <a:xfrm>
                  <a:off x="1200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Rectangle 34"/>
                <p:cNvSpPr>
                  <a:spLocks noChangeArrowheads="1"/>
                </p:cNvSpPr>
                <p:nvPr/>
              </p:nvSpPr>
              <p:spPr bwMode="auto">
                <a:xfrm>
                  <a:off x="1296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Rectangle 35"/>
                <p:cNvSpPr>
                  <a:spLocks noChangeArrowheads="1"/>
                </p:cNvSpPr>
                <p:nvPr/>
              </p:nvSpPr>
              <p:spPr bwMode="auto">
                <a:xfrm>
                  <a:off x="1392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Rectangle 36"/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Rectangle 37"/>
                <p:cNvSpPr>
                  <a:spLocks noChangeArrowheads="1"/>
                </p:cNvSpPr>
                <p:nvPr/>
              </p:nvSpPr>
              <p:spPr bwMode="auto">
                <a:xfrm>
                  <a:off x="1584" y="1488"/>
                  <a:ext cx="96" cy="48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6" name="Rectangle 38"/>
              <p:cNvSpPr>
                <a:spLocks noChangeArrowheads="1"/>
              </p:cNvSpPr>
              <p:nvPr/>
            </p:nvSpPr>
            <p:spPr bwMode="auto">
              <a:xfrm>
                <a:off x="3061" y="966"/>
                <a:ext cx="1211" cy="86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12" name="Picture 2" descr="C:\Users\lbass\AppData\Local\Microsoft\Windows\Temporary Internet Files\Content.IE5\SO1TGOFZ\MP900400641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274" y="2014038"/>
              <a:ext cx="632707" cy="791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3" descr="C:\Users\lbass\AppData\Local\Microsoft\Windows\Temporary Internet Files\Content.IE5\RKU5GRI5\MC900432629[1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73" y="2909094"/>
              <a:ext cx="879475" cy="879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C:\Users\lbass\AppData\Local\Microsoft\Windows\Temporary Internet Files\Content.IE5\SO1TGOFZ\MP900400641[1]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684" y="3727449"/>
              <a:ext cx="632707" cy="791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 flipH="1">
              <a:off x="147886" y="425041"/>
              <a:ext cx="1097281" cy="1977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Users </a:t>
              </a:r>
              <a:r>
                <a:rPr lang="en-US" dirty="0"/>
                <a:t>Generate Requests</a:t>
              </a:r>
            </a:p>
            <a:p>
              <a:endParaRPr lang="en-AU" dirty="0"/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5715001" y="3669280"/>
              <a:ext cx="1371600" cy="36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dirty="0">
                  <a:solidFill>
                    <a:srgbClr val="FFFFFF"/>
                  </a:solidFill>
                </a:rPr>
                <a:t>Controller</a:t>
              </a: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 rot="16200000">
              <a:off x="6088062" y="2669381"/>
              <a:ext cx="12017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 flipH="1">
              <a:off x="1295398" y="2133599"/>
              <a:ext cx="4296171" cy="63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rot="5400000" flipV="1">
              <a:off x="5033201" y="2710293"/>
              <a:ext cx="11167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rot="5400000" flipV="1">
              <a:off x="711991" y="2685257"/>
              <a:ext cx="1166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5116513" y="76200"/>
              <a:ext cx="1922463" cy="13731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5562600" y="699068"/>
              <a:ext cx="914400" cy="36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1428" tIns="45714" rIns="91428" bIns="45714">
              <a:spAutoFit/>
            </a:bodyPr>
            <a:lstStyle/>
            <a:p>
              <a:pPr>
                <a:buFontTx/>
                <a:buNone/>
              </a:pPr>
              <a:r>
                <a:rPr lang="en-US" dirty="0">
                  <a:solidFill>
                    <a:srgbClr val="FFFFFF"/>
                  </a:solidFill>
                </a:rPr>
                <a:t>Model</a:t>
              </a:r>
              <a:endParaRPr lang="en-US" sz="1800" dirty="0">
                <a:solidFill>
                  <a:srgbClr val="FFFFFF"/>
                </a:solidFill>
              </a:endParaRPr>
            </a:p>
          </p:txBody>
        </p:sp>
        <p:grpSp>
          <p:nvGrpSpPr>
            <p:cNvPr id="23" name="Group 24"/>
            <p:cNvGrpSpPr>
              <a:grpSpLocks/>
            </p:cNvGrpSpPr>
            <p:nvPr/>
          </p:nvGrpSpPr>
          <p:grpSpPr bwMode="auto">
            <a:xfrm rot="5400000">
              <a:off x="6409489" y="1447007"/>
              <a:ext cx="619125" cy="623888"/>
              <a:chOff x="1200" y="1488"/>
              <a:chExt cx="480" cy="480"/>
            </a:xfrm>
          </p:grpSpPr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1296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27"/>
              <p:cNvSpPr>
                <a:spLocks noChangeArrowheads="1"/>
              </p:cNvSpPr>
              <p:nvPr/>
            </p:nvSpPr>
            <p:spPr bwMode="auto">
              <a:xfrm>
                <a:off x="1392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1488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Rectangle 29"/>
              <p:cNvSpPr>
                <a:spLocks noChangeArrowheads="1"/>
              </p:cNvSpPr>
              <p:nvPr/>
            </p:nvSpPr>
            <p:spPr bwMode="auto">
              <a:xfrm>
                <a:off x="1584" y="1488"/>
                <a:ext cx="9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rot="5400000" flipV="1">
              <a:off x="5265341" y="1825691"/>
              <a:ext cx="6524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52749" y="32739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37114" y="2526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4114" y="3821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708714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296912" y="13743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5</a:t>
              </a:r>
            </a:p>
          </p:txBody>
        </p:sp>
      </p:grpSp>
      <p:sp>
        <p:nvSpPr>
          <p:cNvPr id="47" name="Content Placeholder 2"/>
          <p:cNvSpPr txBox="1">
            <a:spLocks/>
          </p:cNvSpPr>
          <p:nvPr/>
        </p:nvSpPr>
        <p:spPr>
          <a:xfrm>
            <a:off x="4624871" y="4365104"/>
            <a:ext cx="4267609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Actions returned to model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Model sends actions to View</a:t>
            </a:r>
          </a:p>
        </p:txBody>
      </p:sp>
    </p:spTree>
    <p:extLst>
      <p:ext uri="{BB962C8B-B14F-4D97-AF65-F5344CB8AC3E}">
        <p14:creationId xmlns:p14="http://schemas.microsoft.com/office/powerpoint/2010/main" val="197167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To solve a queuing model for MVC performance, the following</a:t>
            </a:r>
            <a:r>
              <a:rPr lang="en-US" baseline="0" dirty="0"/>
              <a:t> parameters must be known or estimated: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frequency of arrivals from outside the system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queuing discipline used at the view queue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time to process a message within the view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and size of messages that the view sends to the controller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bandwidth of the network that connects the view and the controller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queuing discipline used by the controller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time to process a message within the controller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and size of messages that the controller sends back to the view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bandwidth of the network from the controller to the view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and size of messages that the controller sends to the model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queuing discipline used by the model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time to process a message within the model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and size of messages the model sends to the view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bandwidth of the network connecting the model and the 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516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Cost/benefit of Performance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Cost: determining the parameters previously mentioned</a:t>
            </a:r>
          </a:p>
          <a:p>
            <a:r>
              <a:rPr lang="en-US" dirty="0"/>
              <a:t>Benefit: estimate of the latency</a:t>
            </a:r>
          </a:p>
          <a:p>
            <a:r>
              <a:rPr lang="en-US" dirty="0"/>
              <a:t>The more accurately</a:t>
            </a:r>
            <a:r>
              <a:rPr lang="en-US" baseline="0" dirty="0"/>
              <a:t> the parameters can be estimated, the better the predication of latency.</a:t>
            </a:r>
          </a:p>
          <a:p>
            <a:r>
              <a:rPr lang="en-US" baseline="0" dirty="0"/>
              <a:t>This is worthwhile when latency is important and questionable.</a:t>
            </a:r>
          </a:p>
          <a:p>
            <a:r>
              <a:rPr lang="en-US" baseline="0" dirty="0"/>
              <a:t>This is not worthwhile when it is obvious there is sufficient capacity to satisfy the demand.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13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different tactics for increasing the availability of the broker are: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active redundancy</a:t>
            </a:r>
            <a:r>
              <a:rPr lang="en-US" sz="28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(hot spare)</a:t>
            </a:r>
            <a:endParaRPr lang="en-US" sz="2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passive redundancy</a:t>
            </a:r>
            <a:r>
              <a:rPr lang="en-US" dirty="0"/>
              <a:t> (warm spare)</a:t>
            </a:r>
            <a:endParaRPr lang="en-US" sz="2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spare (cold spare).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363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8172400" cy="778098"/>
          </a:xfrm>
        </p:spPr>
        <p:txBody>
          <a:bodyPr>
            <a:normAutofit/>
          </a:bodyPr>
          <a:lstStyle/>
          <a:p>
            <a:r>
              <a:rPr lang="en-US" dirty="0"/>
              <a:t>Making Broker More Available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9" r="26593"/>
          <a:stretch/>
        </p:blipFill>
        <p:spPr bwMode="auto">
          <a:xfrm>
            <a:off x="1481618" y="1124744"/>
            <a:ext cx="4314518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769920" y="1556792"/>
            <a:ext cx="1978544" cy="12557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AU" sz="1100">
                <a:effectLst/>
                <a:latin typeface="Calibri"/>
                <a:ea typeface="Calibri"/>
                <a:cs typeface="Times New Roman"/>
              </a:rPr>
              <a:t>Key: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AU" sz="1100">
                <a:effectLst/>
                <a:latin typeface="Calibri"/>
                <a:ea typeface="Calibri"/>
                <a:cs typeface="Times New Roman"/>
              </a:rPr>
              <a:t>process: 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AU" sz="1100">
                <a:effectLst/>
                <a:latin typeface="Calibri"/>
                <a:ea typeface="Calibri"/>
                <a:cs typeface="Times New Roman"/>
              </a:rPr>
              <a:t>message: 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AU" sz="1100">
                <a:effectLst/>
                <a:latin typeface="Calibri"/>
                <a:ea typeface="Calibri"/>
                <a:cs typeface="Times New Roman"/>
              </a:rPr>
              <a:t> 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96336" y="1916832"/>
            <a:ext cx="576064" cy="2678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596336" y="2420888"/>
            <a:ext cx="7389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7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Probabilities </a:t>
            </a:r>
            <a:r>
              <a:rPr lang="en-US"/>
              <a:t>to Tactics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Using probabilities to model different tactics</a:t>
            </a:r>
          </a:p>
          <a:p>
            <a:pPr lvl="1"/>
            <a:r>
              <a:rPr lang="en-US" sz="2600" dirty="0"/>
              <a:t>When two events A and B are independent, the probability that A or B will occur is the sum of the probability of each event: P(A or B) = P(A)+ P(B).</a:t>
            </a:r>
          </a:p>
          <a:p>
            <a:pPr lvl="1"/>
            <a:r>
              <a:rPr lang="en-US" sz="2600" dirty="0"/>
              <a:t>When two events A and B are independent, the probability of both occurring is P(A and B) = P(A) • P(B).</a:t>
            </a:r>
          </a:p>
          <a:p>
            <a:pPr lvl="1"/>
            <a:r>
              <a:rPr lang="en-US" sz="2600" dirty="0"/>
              <a:t>When two events A and B are dependent, the probability of both occurring is P(A and B) = P(A) • P(B|A), where the last term means “the probability of B occurring, given that A occurs.”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817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Assume </a:t>
            </a:r>
          </a:p>
          <a:p>
            <a:pPr lvl="1"/>
            <a:r>
              <a:rPr lang="en-US" dirty="0"/>
              <a:t>failure of a component (primary or backup) is independent of the failure of its counterpart </a:t>
            </a:r>
          </a:p>
          <a:p>
            <a:pPr lvl="1"/>
            <a:r>
              <a:rPr lang="en-US" dirty="0"/>
              <a:t>assume failure probability of both is the same: </a:t>
            </a:r>
            <a:r>
              <a:rPr lang="en-US" baseline="0" dirty="0"/>
              <a:t> </a:t>
            </a:r>
            <a:r>
              <a:rPr lang="en-US" dirty="0"/>
              <a:t>P(F)</a:t>
            </a:r>
          </a:p>
          <a:p>
            <a:pPr lvl="0"/>
            <a:r>
              <a:rPr lang="en-US" dirty="0"/>
              <a:t>Then probability</a:t>
            </a:r>
            <a:r>
              <a:rPr lang="en-US" baseline="0" dirty="0"/>
              <a:t> that both will fail is: 1 - P(F)</a:t>
            </a:r>
            <a:r>
              <a:rPr lang="en-US" baseline="30000" dirty="0"/>
              <a:t>2</a:t>
            </a:r>
          </a:p>
          <a:p>
            <a:pPr lvl="0"/>
            <a:r>
              <a:rPr lang="en-US" dirty="0"/>
              <a:t>Can also estimate probability of failure given  other tactics.</a:t>
            </a:r>
          </a:p>
          <a:p>
            <a:pPr lvl="0"/>
            <a:r>
              <a:rPr lang="en-US" dirty="0"/>
              <a:t>Then given a cost of implementing appropriate tactic we can do cost/benefit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0728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Calculated Availability for an Availability-Enhanced Broker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041856"/>
              </p:ext>
            </p:extLst>
          </p:nvPr>
        </p:nvGraphicFramePr>
        <p:xfrm>
          <a:off x="207777" y="2207518"/>
          <a:ext cx="8756711" cy="3021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10200" imgH="1866900" progId="Word.Document.12">
                  <p:embed/>
                </p:oleObj>
              </mc:Choice>
              <mc:Fallback>
                <p:oleObj name="Document" r:id="rId2" imgW="5410200" imgH="18669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777" y="2207518"/>
                        <a:ext cx="8756711" cy="30216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0330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Maturity of Quality</a:t>
            </a:r>
            <a:r>
              <a:rPr lang="en-US" baseline="0" dirty="0"/>
              <a:t> Attribute Models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021196"/>
              </p:ext>
            </p:extLst>
          </p:nvPr>
        </p:nvGraphicFramePr>
        <p:xfrm>
          <a:off x="539552" y="1452018"/>
          <a:ext cx="8064896" cy="5152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177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</a:rPr>
                        <a:t>Quality Attribute</a:t>
                      </a:r>
                      <a:endParaRPr lang="en-US" sz="105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</a:rPr>
                        <a:t>Intellectual Basis</a:t>
                      </a:r>
                      <a:endParaRPr lang="en-US" sz="105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b="1" dirty="0">
                          <a:effectLst/>
                        </a:rPr>
                        <a:t>Maturity / Gaps</a:t>
                      </a:r>
                      <a:endParaRPr lang="en-US" sz="1050" b="1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461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Availability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Markov models; Statistical models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Moderate maturity in the hardware reliability domain, less mature in the software domain. Requires models that speak to state recovery and for which failure percentages can be attributed to software.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442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Interoperability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Conceptual framework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tabLst>
                          <a:tab pos="830580" algn="ctr"/>
                        </a:tabLst>
                      </a:pPr>
                      <a:r>
                        <a:rPr lang="en-US" sz="1800">
                          <a:effectLst/>
                        </a:rPr>
                        <a:t>Low maturity; models require substantial human interpretation and input.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240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Modifiability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Coupling and cohesion metrics; Cost models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Substantial research in academia; still requires more empirical support in real-world environments.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887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Performance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Queuing theory; Real time scheduling theory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High maturity; requires considerable education and training to use properly.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588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Security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No architectural models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 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628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Testability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Component Interaction Metrics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Low maturity; little empirical validation.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145"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Usability</a:t>
                      </a:r>
                      <a:endParaRPr lang="en-US" sz="105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No architectural models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8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 </a:t>
                      </a:r>
                      <a:endParaRPr lang="en-US" sz="1050" dirty="0">
                        <a:effectLst/>
                        <a:latin typeface="Times"/>
                        <a:ea typeface="Times New Roman"/>
                        <a:cs typeface="Times New Roman"/>
                      </a:endParaRPr>
                    </a:p>
                  </a:txBody>
                  <a:tcPr marL="56413" marR="5641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691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Attribute</a:t>
            </a:r>
            <a:r>
              <a:rPr lang="en-US" baseline="0" dirty="0"/>
              <a:t> Checklists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quality attribute checklist provides a means of:</a:t>
            </a:r>
          </a:p>
          <a:p>
            <a:pPr lvl="1"/>
            <a:r>
              <a:rPr lang="en-US" dirty="0"/>
              <a:t>Checking requirements.  Do</a:t>
            </a:r>
            <a:r>
              <a:rPr lang="en-US" baseline="0" dirty="0"/>
              <a:t> the requirements capture all of the nuances of a particular quality attribute?</a:t>
            </a:r>
          </a:p>
          <a:p>
            <a:pPr lvl="1"/>
            <a:r>
              <a:rPr lang="en-US" baseline="0" dirty="0"/>
              <a:t>Auditing. Does the design satisfy all of the aspects necessary for a certification process.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179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  <a:r>
              <a:rPr lang="en-US" baseline="0" dirty="0"/>
              <a:t> Checklists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Security checklists are common.</a:t>
            </a:r>
          </a:p>
          <a:p>
            <a:pPr lvl="1"/>
            <a:r>
              <a:rPr lang="en-US" dirty="0"/>
              <a:t>Vendors</a:t>
            </a:r>
            <a:r>
              <a:rPr lang="en-US" baseline="0" dirty="0"/>
              <a:t> who accept credit cards should conform to the PCI (Personal Credit Information) standard</a:t>
            </a:r>
          </a:p>
          <a:p>
            <a:pPr lvl="1"/>
            <a:r>
              <a:rPr lang="en-US" baseline="0" dirty="0"/>
              <a:t>Electricity producers have security checklists to prevent attacks on critical infrastructure</a:t>
            </a:r>
          </a:p>
          <a:p>
            <a:pPr lvl="0"/>
            <a:r>
              <a:rPr lang="en-US" dirty="0"/>
              <a:t>Checklists have both:</a:t>
            </a:r>
          </a:p>
          <a:p>
            <a:pPr lvl="1"/>
            <a:r>
              <a:rPr lang="en-US" i="1" dirty="0"/>
              <a:t>Product requirements</a:t>
            </a:r>
            <a:r>
              <a:rPr lang="en-US" dirty="0"/>
              <a:t>.</a:t>
            </a:r>
            <a:r>
              <a:rPr lang="en-US" baseline="0" dirty="0"/>
              <a:t> E.g. the PCI checklist states that the security code on the back of the credit card should never be stored.</a:t>
            </a:r>
          </a:p>
          <a:p>
            <a:pPr lvl="1"/>
            <a:r>
              <a:rPr lang="en-US" i="1" baseline="0" dirty="0"/>
              <a:t>Process requirements</a:t>
            </a:r>
            <a:r>
              <a:rPr lang="en-US" baseline="0" dirty="0"/>
              <a:t>. E.g. patches should be applied promptly and there should be someone who has the organizational responsibility to ensure that they are.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6345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Thought Experiments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thought experiment</a:t>
            </a:r>
            <a:r>
              <a:rPr lang="en-US" baseline="0" dirty="0"/>
              <a:t> is </a:t>
            </a:r>
            <a:r>
              <a:rPr lang="en-US" dirty="0"/>
              <a:t>mentally or verbally working </a:t>
            </a:r>
            <a:r>
              <a:rPr lang="en-US" baseline="0" dirty="0"/>
              <a:t>through a particular scenario.</a:t>
            </a:r>
          </a:p>
          <a:p>
            <a:pPr lvl="1"/>
            <a:r>
              <a:rPr lang="en-US" baseline="0" dirty="0"/>
              <a:t>Commonly done by the architect during design to explore alternatives. </a:t>
            </a:r>
          </a:p>
          <a:p>
            <a:pPr lvl="1"/>
            <a:r>
              <a:rPr lang="en-US" baseline="0" dirty="0"/>
              <a:t>Also done during evaluation/documentation to convince third parties</a:t>
            </a:r>
            <a:r>
              <a:rPr lang="en-US" dirty="0"/>
              <a:t> of the wisdom of particular design choices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7600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Experiment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Enumerate</a:t>
            </a:r>
            <a:r>
              <a:rPr lang="en-US" baseline="0" dirty="0"/>
              <a:t> the steps of a use case</a:t>
            </a:r>
          </a:p>
          <a:p>
            <a:r>
              <a:rPr lang="en-US" baseline="0" dirty="0"/>
              <a:t>At each step, ask {yourself, the architect}</a:t>
            </a:r>
          </a:p>
          <a:p>
            <a:pPr lvl="1"/>
            <a:r>
              <a:rPr lang="en-US" dirty="0"/>
              <a:t>What mechanism is being implemented to support the achievement of which particular quality requirement?</a:t>
            </a:r>
          </a:p>
          <a:p>
            <a:pPr lvl="1"/>
            <a:r>
              <a:rPr lang="en-US" dirty="0"/>
              <a:t>Does</a:t>
            </a:r>
            <a:r>
              <a:rPr lang="en-US" baseline="0" dirty="0"/>
              <a:t> this mechanism hinder</a:t>
            </a:r>
            <a:r>
              <a:rPr lang="en-US" dirty="0"/>
              <a:t> the achievement of other quality attribute requirements?</a:t>
            </a:r>
          </a:p>
          <a:p>
            <a:pPr lvl="0"/>
            <a:r>
              <a:rPr lang="en-US" dirty="0"/>
              <a:t>Record problems for later deeper analysis or prototype</a:t>
            </a:r>
            <a:r>
              <a:rPr lang="en-US" baseline="0" dirty="0"/>
              <a:t> building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046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Back-of-the-Envelope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does not need to be precise or detailed.</a:t>
            </a:r>
          </a:p>
          <a:p>
            <a:r>
              <a:rPr lang="en-US" dirty="0"/>
              <a:t>Rough</a:t>
            </a:r>
            <a:r>
              <a:rPr lang="en-US" baseline="0" dirty="0"/>
              <a:t> analysis serves for many purposes. E.g. “the volume of traffic generated by this source should be well within the bounds handled by modern infrastructure”</a:t>
            </a:r>
          </a:p>
          <a:p>
            <a:r>
              <a:rPr lang="en-US" baseline="0" dirty="0"/>
              <a:t>Only do deeper analysis for questionable areas or important requirements.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4289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Experiments, Simulations, and Prototypes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</a:t>
            </a:r>
            <a:r>
              <a:rPr lang="en-US" baseline="0" dirty="0"/>
              <a:t> tools can help perform experiments to determine behavior of a design</a:t>
            </a:r>
          </a:p>
          <a:p>
            <a:pPr lvl="1"/>
            <a:r>
              <a:rPr lang="en-US" dirty="0"/>
              <a:t>Request generators can create synthetic loads to test scalability</a:t>
            </a:r>
          </a:p>
          <a:p>
            <a:pPr lvl="1"/>
            <a:r>
              <a:rPr lang="en-US" dirty="0"/>
              <a:t>Monitors</a:t>
            </a:r>
            <a:r>
              <a:rPr lang="en-US" baseline="0" dirty="0"/>
              <a:t> can perform non-intrusive resource usage detection.</a:t>
            </a:r>
          </a:p>
          <a:p>
            <a:pPr lvl="0"/>
            <a:r>
              <a:rPr lang="en-US" dirty="0"/>
              <a:t>These depend on having</a:t>
            </a:r>
            <a:r>
              <a:rPr lang="en-US" baseline="0" dirty="0"/>
              <a:t> a partial or prototype implementation.</a:t>
            </a:r>
          </a:p>
          <a:p>
            <a:pPr lvl="1"/>
            <a:r>
              <a:rPr lang="en-US" dirty="0"/>
              <a:t>Prototype</a:t>
            </a:r>
            <a:r>
              <a:rPr lang="en-US" baseline="0" dirty="0"/>
              <a:t> alternatives for the most important decisions</a:t>
            </a:r>
          </a:p>
          <a:p>
            <a:pPr lvl="1"/>
            <a:r>
              <a:rPr lang="en-US" baseline="0" dirty="0"/>
              <a:t>If possible, implement prototype in a fashion so that some of it can be re-used.</a:t>
            </a:r>
          </a:p>
          <a:p>
            <a:pPr lvl="1"/>
            <a:r>
              <a:rPr lang="en-US" baseline="0" dirty="0"/>
              <a:t>Fault injection tools can induce faults to determine response of system under failure conditions.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0180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</a:t>
            </a:r>
            <a:r>
              <a:rPr lang="en-US" baseline="0" dirty="0"/>
              <a:t> based simulators exist that can be used to simulate behavior of system under various loads</a:t>
            </a:r>
          </a:p>
          <a:p>
            <a:pPr lvl="1"/>
            <a:r>
              <a:rPr lang="en-US" baseline="0" dirty="0"/>
              <a:t>Must create the simulation.</a:t>
            </a:r>
          </a:p>
          <a:p>
            <a:pPr lvl="1"/>
            <a:r>
              <a:rPr lang="en-US" baseline="0" dirty="0"/>
              <a:t>Must have a variety of different loads and responses to check for.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0816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Analysis During Requirements and Design</a:t>
            </a:r>
            <a:r>
              <a:rPr lang="en-US" sz="440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Different types</a:t>
            </a:r>
            <a:r>
              <a:rPr lang="en-US" baseline="0" dirty="0"/>
              <a:t> of analysis are done at different stages of the life cycle</a:t>
            </a:r>
          </a:p>
          <a:p>
            <a:r>
              <a:rPr lang="en-US" baseline="0" dirty="0"/>
              <a:t>Requirements:</a:t>
            </a:r>
          </a:p>
          <a:p>
            <a:pPr lvl="1"/>
            <a:r>
              <a:rPr lang="en-US" dirty="0"/>
              <a:t>Analytic models/back of the envelope</a:t>
            </a:r>
            <a:r>
              <a:rPr lang="en-US" baseline="0" dirty="0"/>
              <a:t> analysis</a:t>
            </a:r>
            <a:r>
              <a:rPr lang="en-US" dirty="0"/>
              <a:t> can help capacity planning</a:t>
            </a:r>
          </a:p>
          <a:p>
            <a:pPr lvl="1"/>
            <a:r>
              <a:rPr lang="en-US" dirty="0"/>
              <a:t>Checklists can help ensure</a:t>
            </a:r>
            <a:r>
              <a:rPr lang="en-US" baseline="0" dirty="0"/>
              <a:t> capture correct set of requirements</a:t>
            </a:r>
          </a:p>
          <a:p>
            <a:pPr lvl="0"/>
            <a:r>
              <a:rPr lang="en-US" dirty="0"/>
              <a:t>Design:</a:t>
            </a:r>
          </a:p>
          <a:p>
            <a:pPr lvl="1"/>
            <a:r>
              <a:rPr lang="en-US" dirty="0"/>
              <a:t>Prototypes</a:t>
            </a:r>
            <a:r>
              <a:rPr lang="en-US" baseline="0" dirty="0"/>
              <a:t> can help explore design options</a:t>
            </a:r>
          </a:p>
          <a:p>
            <a:pPr lvl="1"/>
            <a:r>
              <a:rPr lang="en-US" baseline="0" dirty="0"/>
              <a:t>Analytic models or simulation can help understand potential bottlenecks</a:t>
            </a:r>
          </a:p>
          <a:p>
            <a:pPr lvl="1"/>
            <a:r>
              <a:rPr lang="en-US" baseline="0" dirty="0"/>
              <a:t>Checklists can help determine if used a correct mechanism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5653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During Implementation or Fielding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Experiments and synthetic</a:t>
            </a:r>
            <a:r>
              <a:rPr lang="en-US" baseline="0" dirty="0"/>
              <a:t> load tests can be used during the implementation process or after fielding</a:t>
            </a:r>
          </a:p>
          <a:p>
            <a:r>
              <a:rPr lang="en-US" baseline="0" dirty="0"/>
              <a:t>Monitors can be used after fielding to determine actual behavior and find bottlenecks.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8564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at Different Stages of the Lifecycle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59678"/>
              </p:ext>
            </p:extLst>
          </p:nvPr>
        </p:nvGraphicFramePr>
        <p:xfrm>
          <a:off x="611560" y="1988840"/>
          <a:ext cx="799288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Life-Cycle</a:t>
                      </a:r>
                      <a:r>
                        <a:rPr lang="en-US" baseline="0" dirty="0"/>
                        <a:t> Stage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 of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Experience-based 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Back-of-the-envelope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Thought</a:t>
                      </a:r>
                      <a:r>
                        <a:rPr lang="en-US" baseline="0" dirty="0"/>
                        <a:t> experiment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512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dirty="0">
                <a:effectLst/>
              </a:rPr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rtl="0" eaLnBrk="1" latinLnBrk="0" hangingPunct="1"/>
            <a:r>
              <a:rPr lang="en-US" dirty="0">
                <a:effectLst/>
              </a:rPr>
              <a:t>Analysis is always a cost/benefit activity</a:t>
            </a:r>
          </a:p>
          <a:p>
            <a:pPr lvl="1" rtl="0" eaLnBrk="1" latinLnBrk="0" hangingPunct="1"/>
            <a:r>
              <a:rPr lang="en-US" dirty="0">
                <a:effectLst/>
              </a:rPr>
              <a:t>Cost is measure of creating and executing the analysis models and tools</a:t>
            </a:r>
          </a:p>
          <a:p>
            <a:pPr lvl="1" rtl="0" eaLnBrk="1" latinLnBrk="0" hangingPunct="1"/>
            <a:r>
              <a:rPr lang="en-US" dirty="0">
                <a:effectLst/>
              </a:rPr>
              <a:t>Benefit</a:t>
            </a:r>
            <a:r>
              <a:rPr lang="en-US" baseline="0" dirty="0">
                <a:effectLst/>
              </a:rPr>
              <a:t> depends on</a:t>
            </a:r>
          </a:p>
          <a:p>
            <a:pPr lvl="2" rtl="0" eaLnBrk="1" latinLnBrk="0" hangingPunct="1"/>
            <a:r>
              <a:rPr lang="en-US" dirty="0">
                <a:effectLst/>
              </a:rPr>
              <a:t>Accuracy of analysis</a:t>
            </a:r>
          </a:p>
          <a:p>
            <a:pPr lvl="2" rtl="0" eaLnBrk="1" latinLnBrk="0" hangingPunct="1"/>
            <a:r>
              <a:rPr lang="en-US" dirty="0">
                <a:effectLst/>
              </a:rPr>
              <a:t>Importance of what is being analyzed</a:t>
            </a:r>
          </a:p>
          <a:p>
            <a:pPr lvl="0" rtl="0" eaLnBrk="1" latinLnBrk="0" hangingPunct="1"/>
            <a:r>
              <a:rPr lang="en-US" dirty="0">
                <a:effectLst/>
              </a:rPr>
              <a:t>Analysis can be done through</a:t>
            </a:r>
          </a:p>
          <a:p>
            <a:pPr lvl="1" rtl="0" eaLnBrk="1" latinLnBrk="0" hangingPunct="1"/>
            <a:r>
              <a:rPr lang="en-US" dirty="0">
                <a:effectLst/>
              </a:rPr>
              <a:t>Models for some attributes</a:t>
            </a:r>
          </a:p>
          <a:p>
            <a:pPr lvl="1" rtl="0" eaLnBrk="1" latinLnBrk="0" hangingPunct="1"/>
            <a:r>
              <a:rPr lang="en-US" dirty="0">
                <a:effectLst/>
              </a:rPr>
              <a:t>Measurement</a:t>
            </a:r>
          </a:p>
          <a:p>
            <a:pPr lvl="1" rtl="0" eaLnBrk="1" latinLnBrk="0" hangingPunct="1"/>
            <a:r>
              <a:rPr lang="en-US" dirty="0">
                <a:effectLst/>
              </a:rPr>
              <a:t>Thought experiments</a:t>
            </a:r>
          </a:p>
          <a:p>
            <a:pPr lvl="1" rtl="0" eaLnBrk="1" latinLnBrk="0" hangingPunct="1"/>
            <a:r>
              <a:rPr lang="en-US" dirty="0">
                <a:effectLst/>
              </a:rPr>
              <a:t>Simulations</a:t>
            </a:r>
          </a:p>
          <a:p>
            <a:pPr lvl="1" rtl="0" eaLnBrk="1" latinLnBrk="0" hangingPunct="1"/>
            <a:r>
              <a:rPr lang="en-US" dirty="0">
                <a:effectLst/>
              </a:rPr>
              <a:t>Prototypes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615714" y="324152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7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1752</Words>
  <Application>Microsoft Office PowerPoint</Application>
  <PresentationFormat>全屏显示(4:3)</PresentationFormat>
  <Paragraphs>229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</vt:lpstr>
      <vt:lpstr>Office Theme</vt:lpstr>
      <vt:lpstr>Document</vt:lpstr>
      <vt:lpstr>Quality Attribute Modeling and Analysis</vt:lpstr>
      <vt:lpstr>Outline</vt:lpstr>
      <vt:lpstr>Modeling Architectures to Enable Quality Attribute Analysis  </vt:lpstr>
      <vt:lpstr>Performance Models</vt:lpstr>
      <vt:lpstr>Allocation Model for MVC</vt:lpstr>
      <vt:lpstr>Queuing Model for MVC</vt:lpstr>
      <vt:lpstr>Parameters</vt:lpstr>
      <vt:lpstr>Cost/benefit of Performance Modeling</vt:lpstr>
      <vt:lpstr>Availability Modeling</vt:lpstr>
      <vt:lpstr>Making Broker More Available</vt:lpstr>
      <vt:lpstr>Applying Probabilities to Tactics</vt:lpstr>
      <vt:lpstr>Passive Redundancy</vt:lpstr>
      <vt:lpstr>Calculated Availability for an Availability-Enhanced Broker</vt:lpstr>
      <vt:lpstr>Maturity of Quality Attribute Models</vt:lpstr>
      <vt:lpstr>Quality Attribute Checklists</vt:lpstr>
      <vt:lpstr>Security Checklists</vt:lpstr>
      <vt:lpstr>Thought Experiments  </vt:lpstr>
      <vt:lpstr>Thought Experiment Steps</vt:lpstr>
      <vt:lpstr>Back-of-the-Envelope Analysis</vt:lpstr>
      <vt:lpstr>Experiments, Simulations, and Prototypes</vt:lpstr>
      <vt:lpstr>Simulations</vt:lpstr>
      <vt:lpstr>Analysis During Requirements and Design </vt:lpstr>
      <vt:lpstr>Analysis During Implementation or Fielding</vt:lpstr>
      <vt:lpstr>Analysis at Different Stages of the Lifecycle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七七 许</cp:lastModifiedBy>
  <cp:revision>29</cp:revision>
  <dcterms:created xsi:type="dcterms:W3CDTF">2012-04-18T22:57:58Z</dcterms:created>
  <dcterms:modified xsi:type="dcterms:W3CDTF">2025-11-03T05:47:09Z</dcterms:modified>
</cp:coreProperties>
</file>