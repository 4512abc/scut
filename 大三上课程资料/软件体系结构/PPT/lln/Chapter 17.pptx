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sldIdLst>
    <p:sldId id="259" r:id="rId2"/>
    <p:sldId id="258" r:id="rId3"/>
    <p:sldId id="260" r:id="rId4"/>
    <p:sldId id="261" r:id="rId5"/>
    <p:sldId id="263" r:id="rId6"/>
    <p:sldId id="265" r:id="rId7"/>
    <p:sldId id="266" r:id="rId8"/>
    <p:sldId id="267" r:id="rId9"/>
    <p:sldId id="272" r:id="rId10"/>
    <p:sldId id="271" r:id="rId11"/>
    <p:sldId id="269" r:id="rId12"/>
    <p:sldId id="270" r:id="rId13"/>
    <p:sldId id="268" r:id="rId14"/>
    <p:sldId id="276" r:id="rId15"/>
    <p:sldId id="273" r:id="rId16"/>
    <p:sldId id="277" r:id="rId17"/>
    <p:sldId id="278" r:id="rId18"/>
    <p:sldId id="283" r:id="rId19"/>
    <p:sldId id="279" r:id="rId20"/>
    <p:sldId id="284" r:id="rId21"/>
    <p:sldId id="285" r:id="rId22"/>
    <p:sldId id="286" r:id="rId23"/>
    <p:sldId id="281" r:id="rId24"/>
    <p:sldId id="274" r:id="rId2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3893" autoAdjust="0"/>
    <p:restoredTop sz="89689" autoAdjust="0"/>
  </p:normalViewPr>
  <p:slideViewPr>
    <p:cSldViewPr>
      <p:cViewPr varScale="1">
        <p:scale>
          <a:sx n="99" d="100"/>
          <a:sy n="99" d="100"/>
        </p:scale>
        <p:origin x="1536" y="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10" y="19013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45" d="100"/>
        <a:sy n="145" d="100"/>
      </p:scale>
      <p:origin x="0" y="220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9B1F14-2969-4234-94C2-84FB01E3AC7A}" type="datetimeFigureOut">
              <a:rPr lang="en-AU" smtClean="0"/>
              <a:t>3/11/2025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D95789E-32BF-4BCD-9509-3BAE69BCF05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923597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CDB67-B98A-4AC5-929D-81BD9B8E0ED5}" type="datetime1">
              <a:rPr lang="en-AU" smtClean="0"/>
              <a:t>3/11/2025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 dirty="0"/>
              <a:t>© Len Bass, Paul Clements, Rick Kazman, distributed under Creative Commons Attribution License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8C58C-0836-46C6-8F9A-AF87B5CA09C9}" type="slidenum">
              <a:rPr lang="en-AU" smtClean="0"/>
              <a:t>‹#›</a:t>
            </a:fld>
            <a:endParaRPr lang="en-AU"/>
          </a:p>
        </p:txBody>
      </p:sp>
      <p:pic>
        <p:nvPicPr>
          <p:cNvPr id="7" name="Picture 2" descr="C:\Users\lbass\Documents\SAP3\SAP3 cover.jp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96" y="116632"/>
            <a:ext cx="1872208" cy="18722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797237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1600" y="274638"/>
            <a:ext cx="7715200" cy="778098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pic>
        <p:nvPicPr>
          <p:cNvPr id="1026" name="Picture 2" descr="C:\Users\lbass\Documents\SAP3\SAP3 cover.jp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96" y="116632"/>
            <a:ext cx="953592" cy="9535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1403648" y="6356350"/>
            <a:ext cx="6336704" cy="365125"/>
          </a:xfrm>
        </p:spPr>
        <p:txBody>
          <a:bodyPr/>
          <a:lstStyle/>
          <a:p>
            <a:r>
              <a:rPr lang="en-AU" dirty="0"/>
              <a:t>© Len Bass, Paul Clements, Rick </a:t>
            </a:r>
            <a:r>
              <a:rPr lang="en-AU" dirty="0" err="1"/>
              <a:t>Kazman</a:t>
            </a:r>
            <a:r>
              <a:rPr lang="en-AU" dirty="0"/>
              <a:t>, distributed under Creative Commons Attribution License</a:t>
            </a:r>
          </a:p>
        </p:txBody>
      </p:sp>
    </p:spTree>
    <p:extLst>
      <p:ext uri="{BB962C8B-B14F-4D97-AF65-F5344CB8AC3E}">
        <p14:creationId xmlns:p14="http://schemas.microsoft.com/office/powerpoint/2010/main" val="31718312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FD9AFD-92D5-4F38-81E5-3FBC268DED4A}" type="datetime1">
              <a:rPr lang="en-AU" smtClean="0"/>
              <a:t>3/11/2025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 dirty="0"/>
              <a:t>© Len Bass, Paul Clements, Rick </a:t>
            </a:r>
            <a:r>
              <a:rPr lang="en-AU" dirty="0" err="1"/>
              <a:t>Kazman</a:t>
            </a:r>
            <a:r>
              <a:rPr lang="en-AU" dirty="0"/>
              <a:t>, distributed under Creative Commons Attribution License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8C58C-0836-46C6-8F9A-AF87B5CA09C9}" type="slidenum">
              <a:rPr lang="en-AU" smtClean="0"/>
              <a:t>‹#›</a:t>
            </a:fld>
            <a:endParaRPr lang="en-AU"/>
          </a:p>
        </p:txBody>
      </p:sp>
      <p:pic>
        <p:nvPicPr>
          <p:cNvPr id="7" name="Picture 2" descr="C:\Users\lbass\Documents\SAP3\SAP3 cover.jp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96" y="116632"/>
            <a:ext cx="1872208" cy="18722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593061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9592" y="274638"/>
            <a:ext cx="7787208" cy="778098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68760"/>
            <a:ext cx="4038600" cy="485740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68760"/>
            <a:ext cx="4038600" cy="485740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ADA7F1-F5F6-4965-B98A-1EF216FC21E9}" type="datetime1">
              <a:rPr lang="en-AU" smtClean="0"/>
              <a:t>3/11/2025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 dirty="0"/>
              <a:t>© Len Bass, Paul Clements, Rick </a:t>
            </a:r>
            <a:r>
              <a:rPr lang="en-AU" dirty="0" err="1"/>
              <a:t>Kazman</a:t>
            </a:r>
            <a:r>
              <a:rPr lang="en-AU" dirty="0"/>
              <a:t>, distributed under Creative Commons Attribution License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8C58C-0836-46C6-8F9A-AF87B5CA09C9}" type="slidenum">
              <a:rPr lang="en-AU" smtClean="0"/>
              <a:t>‹#›</a:t>
            </a:fld>
            <a:endParaRPr lang="en-AU"/>
          </a:p>
        </p:txBody>
      </p:sp>
      <p:pic>
        <p:nvPicPr>
          <p:cNvPr id="8" name="Picture 2" descr="C:\Users\lbass\Documents\SAP3\SAP3 cover.jp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96" y="116632"/>
            <a:ext cx="953592" cy="9535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935669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1600" y="274638"/>
            <a:ext cx="7715200" cy="778098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0951D-1B64-4AD7-951D-395C8B37DA62}" type="datetime1">
              <a:rPr lang="en-AU" smtClean="0"/>
              <a:t>3/11/2025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 dirty="0"/>
              <a:t>© Len Bass, Paul Clements, Rick </a:t>
            </a:r>
            <a:r>
              <a:rPr lang="en-AU" dirty="0" err="1"/>
              <a:t>Kazman</a:t>
            </a:r>
            <a:r>
              <a:rPr lang="en-AU" dirty="0"/>
              <a:t>, distributed under Creative Commons Attribution License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8C58C-0836-46C6-8F9A-AF87B5CA09C9}" type="slidenum">
              <a:rPr lang="en-AU" smtClean="0"/>
              <a:t>‹#›</a:t>
            </a:fld>
            <a:endParaRPr lang="en-AU"/>
          </a:p>
        </p:txBody>
      </p:sp>
      <p:pic>
        <p:nvPicPr>
          <p:cNvPr id="10" name="Picture 2" descr="C:\Users\lbass\Documents\SAP3\SAP3 cover.jp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96" y="116632"/>
            <a:ext cx="953592" cy="9535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274555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9592" y="274638"/>
            <a:ext cx="7787208" cy="778098"/>
          </a:xfrm>
        </p:spPr>
        <p:txBody>
          <a:bodyPr/>
          <a:lstStyle/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54D5B1-B0B7-4FEE-A636-82BBB8DC2F24}" type="datetime1">
              <a:rPr lang="en-AU" smtClean="0"/>
              <a:t>3/11/2025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 dirty="0"/>
              <a:t>©  Len Bass, Paul Clements, Rick </a:t>
            </a:r>
            <a:r>
              <a:rPr lang="en-AU" dirty="0" err="1"/>
              <a:t>Kazman</a:t>
            </a:r>
            <a:r>
              <a:rPr lang="en-AU" dirty="0"/>
              <a:t>, distributed under Creative Commons Attribution License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8C58C-0836-46C6-8F9A-AF87B5CA09C9}" type="slidenum">
              <a:rPr lang="en-AU" smtClean="0"/>
              <a:t>‹#›</a:t>
            </a:fld>
            <a:endParaRPr lang="en-AU"/>
          </a:p>
        </p:txBody>
      </p:sp>
      <p:pic>
        <p:nvPicPr>
          <p:cNvPr id="6" name="Picture 2" descr="C:\Users\lbass\Documents\SAP3\SAP3 cover.jp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96" y="116632"/>
            <a:ext cx="953592" cy="9535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37959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3E332-3D0B-4932-A3B1-41A6E16690E0}" type="datetime1">
              <a:rPr lang="en-AU" smtClean="0"/>
              <a:t>3/11/2025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 dirty="0"/>
              <a:t>© Len Bass, Paul Clements, Rick </a:t>
            </a:r>
            <a:r>
              <a:rPr lang="en-AU" dirty="0" err="1"/>
              <a:t>Kazman</a:t>
            </a:r>
            <a:r>
              <a:rPr lang="en-AU" dirty="0"/>
              <a:t>, distributed under Creative Commons Attribution License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8C58C-0836-46C6-8F9A-AF87B5CA09C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67587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5EB9C4-EF48-4255-A3A3-972222EC13E9}" type="datetime1">
              <a:rPr lang="en-AU" smtClean="0"/>
              <a:t>3/11/2025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 dirty="0"/>
              <a:t>© Len Bass, Paul Clements, Rick </a:t>
            </a:r>
            <a:r>
              <a:rPr lang="en-AU" dirty="0" err="1"/>
              <a:t>Kazman</a:t>
            </a:r>
            <a:r>
              <a:rPr lang="en-AU" dirty="0"/>
              <a:t>, distributed under Creative Commons Attribution License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8C58C-0836-46C6-8F9A-AF87B5CA09C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007441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3C94F8-BF1B-412F-A811-124AF48AB6BD}" type="datetime1">
              <a:rPr lang="en-AU" smtClean="0"/>
              <a:t>3/11/2025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 dirty="0"/>
              <a:t>© Len Bass, Paul Clements, Rick </a:t>
            </a:r>
            <a:r>
              <a:rPr lang="en-AU" dirty="0" err="1"/>
              <a:t>Kazman</a:t>
            </a:r>
            <a:r>
              <a:rPr lang="en-AU" dirty="0"/>
              <a:t>, distributed under Creative Commons Attribution License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8C58C-0836-46C6-8F9A-AF87B5CA09C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90416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68C8F9-EC1D-4BA9-A60E-999AFF963F40}" type="datetime1">
              <a:rPr lang="en-AU" smtClean="0"/>
              <a:t>3/11/2025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 dirty="0"/>
              <a:t>© Len Bass, Paul Clements, Rick </a:t>
            </a:r>
            <a:r>
              <a:rPr lang="en-AU" dirty="0" err="1"/>
              <a:t>Kazman</a:t>
            </a:r>
            <a:r>
              <a:rPr lang="en-AU" dirty="0"/>
              <a:t>, distributed under Creative Commons Attribution License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8C58C-0836-46C6-8F9A-AF87B5CA09C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831151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AU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FB916B-826A-4DC1-AF36-AFE8D11DE3BA}" type="datetime1">
              <a:rPr lang="en-AU" smtClean="0"/>
              <a:t>3/11/2025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 dirty="0"/>
              <a:t>© Len Bass, Paul Clements, Rick </a:t>
            </a:r>
            <a:r>
              <a:rPr lang="en-AU" dirty="0" err="1"/>
              <a:t>Kazman</a:t>
            </a:r>
            <a:r>
              <a:rPr lang="en-AU" dirty="0"/>
              <a:t>, distributed under Creative Commons Attribution License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E8C58C-0836-46C6-8F9A-AF87B5CA09C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071778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780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AU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68760"/>
            <a:ext cx="8229600" cy="48574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C3DB84-98FB-4B92-9E59-12D7CC27F3EE}" type="datetime1">
              <a:rPr lang="en-AU" smtClean="0"/>
              <a:t>3/11/2025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AU" dirty="0"/>
              <a:t>© Len Bass</a:t>
            </a:r>
            <a:r>
              <a:rPr lang="en-AU"/>
              <a:t>, Paul </a:t>
            </a:r>
            <a:r>
              <a:rPr lang="en-AU" dirty="0"/>
              <a:t>Clements, Rick </a:t>
            </a:r>
            <a:r>
              <a:rPr lang="en-AU" dirty="0" err="1"/>
              <a:t>Kazman</a:t>
            </a:r>
            <a:r>
              <a:rPr lang="en-AU" dirty="0"/>
              <a:t>, distributed under Creative Commons Attribution License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E8C58C-0836-46C6-8F9A-AF87B5CA09C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011788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ctr" defTabSz="914400" rtl="0" eaLnBrk="1" latinLnBrk="0" hangingPunct="1">
        <a:lnSpc>
          <a:spcPct val="8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/>
              <a:t>Chapter 17: Designing an Architecture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Len Bass, Paul Clements, Rick Kazman, distributed under Creative Commons Attribution License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7635391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Chapter Outline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Design Strategy </a:t>
            </a:r>
          </a:p>
          <a:p>
            <a:r>
              <a:rPr lang="en-US" sz="3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Attribute-Driven Design Method </a:t>
            </a:r>
          </a:p>
          <a:p>
            <a:r>
              <a:rPr lang="en-US" sz="3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The Steps of ADD </a:t>
            </a:r>
          </a:p>
          <a:p>
            <a:r>
              <a:rPr lang="en-US" sz="3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Summary 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Len Bass, Paul Clements, Rick Kazman, distributed under Creative Commons Attribution License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2939408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Design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Decomposition</a:t>
            </a:r>
          </a:p>
          <a:p>
            <a:r>
              <a:rPr lang="en-US" dirty="0"/>
              <a:t>Designing</a:t>
            </a:r>
            <a:r>
              <a:rPr lang="en-US" baseline="0" dirty="0"/>
              <a:t> to Architecturally Significant Requirements</a:t>
            </a:r>
          </a:p>
          <a:p>
            <a:r>
              <a:rPr lang="en-US" baseline="0" dirty="0"/>
              <a:t>Generate and Test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Len Bass, Paul Clements, Rick Kazman, distributed under Creative Commons Attribution License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0835933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Decomposition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Architecture determines</a:t>
            </a:r>
            <a:r>
              <a:rPr lang="en-US" baseline="0" dirty="0"/>
              <a:t> quality attributes</a:t>
            </a:r>
          </a:p>
          <a:p>
            <a:r>
              <a:rPr lang="en-US" baseline="0" dirty="0"/>
              <a:t>Important quality attributes are characteristics of the </a:t>
            </a:r>
            <a:r>
              <a:rPr lang="en-US" i="1" baseline="0" dirty="0"/>
              <a:t>whole</a:t>
            </a:r>
            <a:r>
              <a:rPr lang="en-US" baseline="0" dirty="0"/>
              <a:t> system.</a:t>
            </a:r>
          </a:p>
          <a:p>
            <a:r>
              <a:rPr lang="en-US" baseline="0" dirty="0"/>
              <a:t>Design therefore begins with the whole system</a:t>
            </a:r>
          </a:p>
          <a:p>
            <a:pPr lvl="1"/>
            <a:r>
              <a:rPr lang="en-US" dirty="0"/>
              <a:t>The</a:t>
            </a:r>
            <a:r>
              <a:rPr lang="en-US" baseline="0" dirty="0"/>
              <a:t> whole system is decomposed into parts</a:t>
            </a:r>
          </a:p>
          <a:p>
            <a:pPr lvl="1"/>
            <a:r>
              <a:rPr lang="en-US" baseline="0" dirty="0"/>
              <a:t>Each part may inherit all of part of the quality attribute requirements from the whole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Len Bass, Paul Clements, Rick Kazman, distributed under Creative Commons Attribution License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1761426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Designing to Architecturally Significant 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Remember architecturally significant</a:t>
            </a:r>
            <a:r>
              <a:rPr lang="en-US" baseline="0" dirty="0"/>
              <a:t> requirements (ASRs)?</a:t>
            </a:r>
          </a:p>
          <a:p>
            <a:r>
              <a:rPr lang="en-US" dirty="0"/>
              <a:t>These are the requirements that you must</a:t>
            </a:r>
            <a:r>
              <a:rPr lang="en-US" baseline="0" dirty="0"/>
              <a:t> satisfy with the design</a:t>
            </a:r>
          </a:p>
          <a:p>
            <a:pPr lvl="1"/>
            <a:r>
              <a:rPr lang="en-US" dirty="0"/>
              <a:t>There are a small</a:t>
            </a:r>
            <a:r>
              <a:rPr lang="en-US" baseline="0" dirty="0"/>
              <a:t> number of these</a:t>
            </a:r>
          </a:p>
          <a:p>
            <a:pPr lvl="1"/>
            <a:r>
              <a:rPr lang="en-US" baseline="0" dirty="0"/>
              <a:t>They are the most important (by definition)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Len Bass, Paul Clements, Rick Kazman, distributed under Creative Commons Attribution License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639264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How Many ASRs Simultaneously?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If you are inexperienced in design then design for the ASRs one at a time beginning with the most important.</a:t>
            </a:r>
          </a:p>
          <a:p>
            <a:r>
              <a:rPr lang="en-US" dirty="0"/>
              <a:t>As you gain experience,</a:t>
            </a:r>
            <a:r>
              <a:rPr lang="en-US" baseline="0" dirty="0"/>
              <a:t> you will be able to design for multiple ASRs simultaneously.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Len Bass, Paul Clements, Rick Kazman, distributed under Creative Commons Attribution License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0729937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Generate and Test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View the current design as a hypothesis.</a:t>
            </a:r>
          </a:p>
          <a:p>
            <a:r>
              <a:rPr lang="en-US" dirty="0"/>
              <a:t>Ask</a:t>
            </a:r>
            <a:r>
              <a:rPr lang="en-US" baseline="0" dirty="0"/>
              <a:t> whether the current design satisfies the requirements (test)</a:t>
            </a:r>
          </a:p>
          <a:p>
            <a:r>
              <a:rPr lang="en-US" baseline="0" dirty="0"/>
              <a:t>If not, then generate a new hypothesis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Len Bass, Paul Clements, Rick Kazman, distributed under Creative Commons Attribution License</a:t>
            </a:r>
            <a:endParaRPr lang="en-AU" dirty="0"/>
          </a:p>
        </p:txBody>
      </p:sp>
      <p:sp>
        <p:nvSpPr>
          <p:cNvPr id="6" name="Oval 5"/>
          <p:cNvSpPr/>
          <p:nvPr/>
        </p:nvSpPr>
        <p:spPr bwMode="auto">
          <a:xfrm>
            <a:off x="467544" y="4232458"/>
            <a:ext cx="2474757" cy="1932846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rPr>
              <a:t>Generate Initial Hypothesis</a:t>
            </a:r>
          </a:p>
        </p:txBody>
      </p:sp>
      <p:sp>
        <p:nvSpPr>
          <p:cNvPr id="8" name="Oval 7"/>
          <p:cNvSpPr/>
          <p:nvPr/>
        </p:nvSpPr>
        <p:spPr bwMode="auto">
          <a:xfrm>
            <a:off x="6273707" y="4232458"/>
            <a:ext cx="2474757" cy="1932846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rPr>
              <a:t>Generate </a:t>
            </a:r>
            <a:r>
              <a:rPr lang="en-US" sz="2400" dirty="0"/>
              <a:t>Next </a:t>
            </a: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rPr>
              <a:t>Hypothesis</a:t>
            </a:r>
          </a:p>
        </p:txBody>
      </p:sp>
      <p:cxnSp>
        <p:nvCxnSpPr>
          <p:cNvPr id="9" name="Straight Arrow Connector 8"/>
          <p:cNvCxnSpPr/>
          <p:nvPr/>
        </p:nvCxnSpPr>
        <p:spPr bwMode="auto">
          <a:xfrm>
            <a:off x="2942301" y="5134452"/>
            <a:ext cx="475915" cy="268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0" name="Straight Arrow Connector 9"/>
          <p:cNvCxnSpPr/>
          <p:nvPr/>
        </p:nvCxnSpPr>
        <p:spPr bwMode="auto">
          <a:xfrm>
            <a:off x="5702608" y="5134452"/>
            <a:ext cx="571098" cy="268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1" name="Straight Connector 10"/>
          <p:cNvCxnSpPr>
            <a:stCxn id="8" idx="0"/>
          </p:cNvCxnSpPr>
          <p:nvPr/>
        </p:nvCxnSpPr>
        <p:spPr bwMode="auto">
          <a:xfrm flipV="1">
            <a:off x="7511085" y="3717032"/>
            <a:ext cx="0" cy="515426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2" name="Straight Connector 11"/>
          <p:cNvCxnSpPr/>
          <p:nvPr/>
        </p:nvCxnSpPr>
        <p:spPr bwMode="auto">
          <a:xfrm flipH="1">
            <a:off x="4643180" y="3717032"/>
            <a:ext cx="2867905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3" name="Straight Arrow Connector 12"/>
          <p:cNvCxnSpPr>
            <a:endCxn id="7" idx="0"/>
          </p:cNvCxnSpPr>
          <p:nvPr/>
        </p:nvCxnSpPr>
        <p:spPr bwMode="auto">
          <a:xfrm>
            <a:off x="4643180" y="3717031"/>
            <a:ext cx="0" cy="515427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/>
          </a:ln>
          <a:effectLst/>
        </p:spPr>
      </p:cxnSp>
      <p:sp>
        <p:nvSpPr>
          <p:cNvPr id="7" name="Oval 6"/>
          <p:cNvSpPr/>
          <p:nvPr/>
        </p:nvSpPr>
        <p:spPr bwMode="auto">
          <a:xfrm>
            <a:off x="3418216" y="4232458"/>
            <a:ext cx="2449928" cy="1932846"/>
          </a:xfrm>
          <a:prstGeom prst="ellips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</a:rPr>
              <a:t>Test hypothesis</a:t>
            </a:r>
          </a:p>
        </p:txBody>
      </p:sp>
    </p:spTree>
    <p:extLst>
      <p:ext uri="{BB962C8B-B14F-4D97-AF65-F5344CB8AC3E}">
        <p14:creationId xmlns:p14="http://schemas.microsoft.com/office/powerpoint/2010/main" val="34843290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Raises the Following Questions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Where does initial hypothesis come from?</a:t>
            </a:r>
          </a:p>
          <a:p>
            <a:r>
              <a:rPr lang="en-US" dirty="0"/>
              <a:t>How do I test a hypothesis?</a:t>
            </a:r>
          </a:p>
          <a:p>
            <a:r>
              <a:rPr lang="en-US" dirty="0"/>
              <a:t>When</a:t>
            </a:r>
            <a:r>
              <a:rPr lang="en-US" baseline="0" dirty="0"/>
              <a:t> am I done?</a:t>
            </a:r>
          </a:p>
          <a:p>
            <a:r>
              <a:rPr lang="en-US" baseline="0" dirty="0"/>
              <a:t>How do I generate the next hypothesis?</a:t>
            </a:r>
          </a:p>
          <a:p>
            <a:endParaRPr lang="en-US" baseline="0" dirty="0"/>
          </a:p>
          <a:p>
            <a:r>
              <a:rPr lang="en-US" baseline="0" dirty="0"/>
              <a:t>You already know most of the answers; it is just a matter of organizing your knowledge.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Len Bass, Paul Clements, Rick Kazman, distributed under Creative Commons Attribution License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5235392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lvl="0" rtl="0" eaLnBrk="1" latinLnBrk="0" hangingPunct="1"/>
            <a:r>
              <a:rPr lang="en-US" sz="44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Where Does the Initial Hypothesis Come From?</a:t>
            </a:r>
            <a:endParaRPr lang="en-US" sz="4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Desirable sources</a:t>
            </a:r>
          </a:p>
          <a:p>
            <a:pPr lvl="1"/>
            <a:r>
              <a:rPr lang="en-US" dirty="0"/>
              <a:t>Existing systems</a:t>
            </a:r>
          </a:p>
          <a:p>
            <a:pPr lvl="1"/>
            <a:r>
              <a:rPr lang="en-US" dirty="0"/>
              <a:t>Frameworks</a:t>
            </a:r>
          </a:p>
          <a:p>
            <a:r>
              <a:rPr lang="en-US" dirty="0"/>
              <a:t>Less desirable sources</a:t>
            </a:r>
          </a:p>
          <a:p>
            <a:pPr lvl="1"/>
            <a:r>
              <a:rPr lang="en-US" dirty="0"/>
              <a:t>Patterns and tactics</a:t>
            </a:r>
          </a:p>
          <a:p>
            <a:pPr lvl="1"/>
            <a:r>
              <a:rPr lang="en-US" dirty="0"/>
              <a:t>Domain decomposition</a:t>
            </a:r>
          </a:p>
          <a:p>
            <a:pPr lvl="1"/>
            <a:r>
              <a:rPr lang="en-US" dirty="0"/>
              <a:t>Design checklists</a:t>
            </a:r>
          </a:p>
          <a:p>
            <a:pPr lvl="0"/>
            <a:r>
              <a:rPr lang="en-US" dirty="0"/>
              <a:t>Why “less desirable”? </a:t>
            </a:r>
          </a:p>
          <a:p>
            <a:pPr lvl="1"/>
            <a:r>
              <a:rPr lang="en-US" dirty="0"/>
              <a:t>The</a:t>
            </a:r>
            <a:r>
              <a:rPr lang="en-US" baseline="0" dirty="0"/>
              <a:t> less desirable</a:t>
            </a:r>
            <a:r>
              <a:rPr lang="en-US" dirty="0"/>
              <a:t> ones do not cover all of the requirements. They typically omit many of the quality attribute requirements.</a:t>
            </a:r>
          </a:p>
          <a:p>
            <a:pPr lvl="1"/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Len Bass, Paul Clements, Rick Kazman, distributed under Creative Commons Attribution License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67572362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rtl="0" eaLnBrk="1" latinLnBrk="0" hangingPunct="1"/>
            <a:r>
              <a:rPr lang="en-US" sz="44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How Do I Test a Hypothesis?</a:t>
            </a:r>
            <a:endParaRPr lang="en-US" sz="4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 the analysis techniques already covered</a:t>
            </a:r>
          </a:p>
          <a:p>
            <a:r>
              <a:rPr lang="en-US" dirty="0"/>
              <a:t>Design checklists from quality attribute discussion.</a:t>
            </a:r>
          </a:p>
          <a:p>
            <a:r>
              <a:rPr lang="en-US" dirty="0"/>
              <a:t>Architecturally significant requirements</a:t>
            </a:r>
          </a:p>
          <a:p>
            <a:endParaRPr lang="en-US" dirty="0"/>
          </a:p>
          <a:p>
            <a:r>
              <a:rPr lang="en-US" dirty="0"/>
              <a:t>What is the output of the tests?</a:t>
            </a:r>
          </a:p>
          <a:p>
            <a:pPr lvl="1"/>
            <a:r>
              <a:rPr lang="en-US" dirty="0"/>
              <a:t>List of requirements – either responsibilities or quality – not met by current design.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Len Bass, Paul Clements, Rick Kazman, distributed under Creative Commons Attribution License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0770949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lvl="0" rtl="0" eaLnBrk="1" latinLnBrk="0" hangingPunct="1"/>
            <a:r>
              <a:rPr lang="en-US" sz="440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How Do I Generate the Next Hypothesis?</a:t>
            </a:r>
            <a:endParaRPr lang="en-US" sz="4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Add missing</a:t>
            </a:r>
            <a:r>
              <a:rPr lang="en-US" baseline="0" dirty="0"/>
              <a:t> responsibilities.</a:t>
            </a:r>
          </a:p>
          <a:p>
            <a:r>
              <a:rPr lang="en-US" baseline="0" dirty="0"/>
              <a:t>Use tactics to adjust quality attribute behavior of hypothesis.</a:t>
            </a:r>
          </a:p>
          <a:p>
            <a:pPr lvl="1"/>
            <a:r>
              <a:rPr lang="en-US" dirty="0"/>
              <a:t>The choice of tactics</a:t>
            </a:r>
            <a:r>
              <a:rPr lang="en-US" baseline="0" dirty="0"/>
              <a:t> will depend on which quality attribute requirements are not met.</a:t>
            </a:r>
          </a:p>
          <a:p>
            <a:pPr lvl="1"/>
            <a:r>
              <a:rPr lang="en-US" baseline="0" dirty="0"/>
              <a:t>Be mindful of the side effects of a tactic.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Len Bass, Paul Clements, Rick Kazman, distributed under Creative Commons Attribution License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037146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rtl="0" eaLnBrk="1" latinLnBrk="0" hangingPunct="1"/>
            <a:r>
              <a:rPr lang="en-US" sz="44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When</a:t>
            </a:r>
            <a:r>
              <a:rPr lang="en-US" sz="440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Am I Done?</a:t>
            </a:r>
            <a:endParaRPr lang="en-US" sz="4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When…</a:t>
            </a:r>
          </a:p>
          <a:p>
            <a:r>
              <a:rPr lang="en-US" dirty="0"/>
              <a:t>All</a:t>
            </a:r>
            <a:r>
              <a:rPr lang="en-US" baseline="0" dirty="0"/>
              <a:t> ASRs are satisfied and/or…</a:t>
            </a:r>
          </a:p>
          <a:p>
            <a:r>
              <a:rPr lang="en-US" baseline="0" dirty="0"/>
              <a:t>You run out of budget for design activity</a:t>
            </a:r>
          </a:p>
          <a:p>
            <a:pPr lvl="1"/>
            <a:r>
              <a:rPr lang="en-US" dirty="0"/>
              <a:t>In this case, use the best hypothesis so far.</a:t>
            </a:r>
          </a:p>
          <a:p>
            <a:pPr lvl="1"/>
            <a:r>
              <a:rPr lang="en-US" dirty="0"/>
              <a:t>Begin</a:t>
            </a:r>
            <a:r>
              <a:rPr lang="en-US" baseline="0" dirty="0"/>
              <a:t> implementation</a:t>
            </a:r>
          </a:p>
          <a:p>
            <a:pPr lvl="1"/>
            <a:r>
              <a:rPr lang="en-US" baseline="0" dirty="0"/>
              <a:t>Continue with the design effort although it will now be constrained by implementation choices.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Len Bass, Paul Clements, Rick Kazman, distributed under Creative Commons Attribution License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0735752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rtl="0" eaLnBrk="1" latinLnBrk="0" hangingPunct="1"/>
            <a:r>
              <a:rPr lang="en-US" sz="4400" b="0" i="0" kern="1200" baseline="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The Attribute-Driven Design Method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/>
              <a:t>Packaging</a:t>
            </a:r>
            <a:r>
              <a:rPr lang="en-US" baseline="0" dirty="0"/>
              <a:t> of many of the techniques</a:t>
            </a:r>
            <a:r>
              <a:rPr lang="en-US" dirty="0"/>
              <a:t> already </a:t>
            </a:r>
            <a:r>
              <a:rPr lang="en-US" baseline="0" dirty="0"/>
              <a:t>discussed.</a:t>
            </a:r>
          </a:p>
          <a:p>
            <a:r>
              <a:rPr lang="en-US" baseline="0" dirty="0"/>
              <a:t>An</a:t>
            </a:r>
            <a:r>
              <a:rPr lang="en-US" dirty="0"/>
              <a:t> i</a:t>
            </a:r>
            <a:r>
              <a:rPr lang="en-US" baseline="0" dirty="0"/>
              <a:t>terative method. At each iteration you</a:t>
            </a:r>
          </a:p>
          <a:p>
            <a:pPr lvl="1"/>
            <a:r>
              <a:rPr lang="en-US" sz="28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Choose a part of the system to design.</a:t>
            </a:r>
          </a:p>
          <a:p>
            <a:pPr lvl="1"/>
            <a:r>
              <a:rPr lang="en-US" sz="28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Marshal all the architecturally significant requirements for that part.</a:t>
            </a:r>
          </a:p>
          <a:p>
            <a:pPr lvl="1"/>
            <a:r>
              <a:rPr lang="en-US" sz="28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Generate and test a design for that part.</a:t>
            </a:r>
          </a:p>
          <a:p>
            <a:pPr lvl="0"/>
            <a:r>
              <a:rPr lang="en-US" dirty="0"/>
              <a:t>ADD</a:t>
            </a:r>
            <a:r>
              <a:rPr lang="en-US" baseline="0" dirty="0"/>
              <a:t> d</a:t>
            </a:r>
            <a:r>
              <a:rPr lang="en-US" dirty="0"/>
              <a:t>oes not result in a complete design</a:t>
            </a:r>
          </a:p>
          <a:p>
            <a:pPr lvl="1"/>
            <a:r>
              <a:rPr lang="en-US" dirty="0"/>
              <a:t>Set of containers with responsibilities</a:t>
            </a:r>
          </a:p>
          <a:p>
            <a:pPr lvl="1"/>
            <a:r>
              <a:rPr lang="en-US" dirty="0"/>
              <a:t>Interactions</a:t>
            </a:r>
            <a:r>
              <a:rPr lang="en-US" baseline="0" dirty="0"/>
              <a:t> and information flow among containers</a:t>
            </a:r>
          </a:p>
          <a:p>
            <a:r>
              <a:rPr lang="en-US" baseline="0" dirty="0"/>
              <a:t>Does not produce an API or signature for containers.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Len Bass, Paul Clements, Rick Kazman, distributed under Creative Commons Attribution License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0334542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ADD Inputs and Outputs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Len Bass, Paul Clements, Rick Kazman, distributed under Creative Commons Attribution License</a:t>
            </a:r>
            <a:endParaRPr lang="en-AU" dirty="0"/>
          </a:p>
        </p:txBody>
      </p:sp>
      <p:sp>
        <p:nvSpPr>
          <p:cNvPr id="5" name="Rounded Rectangle 4"/>
          <p:cNvSpPr/>
          <p:nvPr/>
        </p:nvSpPr>
        <p:spPr>
          <a:xfrm>
            <a:off x="2699792" y="2708920"/>
            <a:ext cx="3024336" cy="1944216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ADD Process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1276" y="2780928"/>
            <a:ext cx="1932452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Requirements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2400" dirty="0"/>
              <a:t>Functional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2400" dirty="0"/>
              <a:t>Quality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2400" dirty="0"/>
              <a:t>Constraints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4208" y="2780928"/>
            <a:ext cx="284577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Containers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2400" dirty="0"/>
              <a:t>Responsibilities 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2400" dirty="0"/>
              <a:t>Interactions</a:t>
            </a:r>
          </a:p>
          <a:p>
            <a:pPr marL="285750" indent="-285750">
              <a:buFont typeface="Arial" pitchFamily="34" charset="0"/>
              <a:buChar char="•"/>
            </a:pPr>
            <a:r>
              <a:rPr lang="en-US" sz="2400" dirty="0"/>
              <a:t>Information flow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5724128" y="3356992"/>
            <a:ext cx="720080" cy="72008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ight Arrow 11"/>
          <p:cNvSpPr/>
          <p:nvPr/>
        </p:nvSpPr>
        <p:spPr>
          <a:xfrm>
            <a:off x="1979712" y="3356992"/>
            <a:ext cx="720080" cy="72008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60364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rtl="0" eaLnBrk="1" latinLnBrk="0" hangingPunct="1"/>
            <a:r>
              <a:rPr lang="en-US" sz="4400" b="0" i="0" kern="1200" baseline="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The Steps of ADD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sz="3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Choose an element of the system to design.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Identify the ASRs for the chosen element.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Generate a design solution for the chosen element.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Inventory remaining requirements and select the input for the next iteration.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3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Repeat steps 1–4 until all the ASRs have been satisfied.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Len Bass, Paul Clements, Rick Kazman, distributed under Creative Commons Attribution License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5958986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rtl="0" eaLnBrk="1" latinLnBrk="0" hangingPunct="1"/>
            <a:r>
              <a:rPr lang="en-US" dirty="0"/>
              <a:t>Step 1: </a:t>
            </a:r>
            <a:r>
              <a:rPr lang="en-US" sz="4400" b="0" i="0" kern="1200" baseline="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Choose an Element of the System to Design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536" y="1268760"/>
            <a:ext cx="8229600" cy="4857403"/>
          </a:xfrm>
        </p:spPr>
        <p:txBody>
          <a:bodyPr/>
          <a:lstStyle/>
          <a:p>
            <a:r>
              <a:rPr lang="en-US" dirty="0"/>
              <a:t>For green field designs, the</a:t>
            </a:r>
            <a:r>
              <a:rPr lang="en-US" baseline="0" dirty="0"/>
              <a:t> element chosen is usually the whole system.</a:t>
            </a:r>
          </a:p>
          <a:p>
            <a:r>
              <a:rPr lang="en-US" baseline="0" dirty="0"/>
              <a:t>For legacy designs, the element is the portion to be added.</a:t>
            </a:r>
          </a:p>
          <a:p>
            <a:r>
              <a:rPr lang="en-US" baseline="0" dirty="0"/>
              <a:t>After the first iteration:</a:t>
            </a:r>
            <a:endParaRPr lang="en-US" i="1" baseline="0" dirty="0"/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Len Bass, Paul Clements, Rick Kazman, distributed under Creative Commons Attribution License</a:t>
            </a:r>
            <a:endParaRPr lang="en-AU" dirty="0"/>
          </a:p>
        </p:txBody>
      </p:sp>
      <p:sp>
        <p:nvSpPr>
          <p:cNvPr id="23" name="Rectangle 6"/>
          <p:cNvSpPr>
            <a:spLocks noChangeArrowheads="1"/>
          </p:cNvSpPr>
          <p:nvPr/>
        </p:nvSpPr>
        <p:spPr bwMode="auto">
          <a:xfrm>
            <a:off x="4572000" y="5226273"/>
            <a:ext cx="1709885" cy="434975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0000"/>
                </a:solidFill>
                <a:latin typeface="Times New Roman" pitchFamily="18" charset="0"/>
              </a:rPr>
              <a:t>Element 1</a:t>
            </a:r>
            <a:endParaRPr lang="en-US" b="1" baseline="-25000" dirty="0">
              <a:solidFill>
                <a:srgbClr val="000000"/>
              </a:solidFill>
              <a:latin typeface="Times New Roman" pitchFamily="18" charset="0"/>
            </a:endParaRPr>
          </a:p>
        </p:txBody>
      </p:sp>
      <p:sp>
        <p:nvSpPr>
          <p:cNvPr id="27" name="Rectangle 5"/>
          <p:cNvSpPr>
            <a:spLocks noChangeArrowheads="1"/>
          </p:cNvSpPr>
          <p:nvPr/>
        </p:nvSpPr>
        <p:spPr bwMode="auto">
          <a:xfrm>
            <a:off x="5508104" y="3717032"/>
            <a:ext cx="1524000" cy="531813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0000"/>
                </a:solidFill>
                <a:latin typeface="Times New Roman" pitchFamily="18" charset="0"/>
              </a:rPr>
              <a:t>Whole System</a:t>
            </a:r>
          </a:p>
        </p:txBody>
      </p:sp>
      <p:sp>
        <p:nvSpPr>
          <p:cNvPr id="28" name="Rectangle 7"/>
          <p:cNvSpPr>
            <a:spLocks noChangeArrowheads="1"/>
          </p:cNvSpPr>
          <p:nvPr/>
        </p:nvSpPr>
        <p:spPr bwMode="auto">
          <a:xfrm>
            <a:off x="6453336" y="5215161"/>
            <a:ext cx="1575048" cy="446087"/>
          </a:xfrm>
          <a:prstGeom prst="rect">
            <a:avLst/>
          </a:prstGeom>
          <a:solidFill>
            <a:srgbClr val="FFFF99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b="1" dirty="0">
                <a:solidFill>
                  <a:srgbClr val="000000"/>
                </a:solidFill>
                <a:latin typeface="Times New Roman" pitchFamily="18" charset="0"/>
              </a:rPr>
              <a:t>Element N</a:t>
            </a:r>
            <a:endParaRPr lang="en-US" b="1" baseline="-25000" dirty="0">
              <a:latin typeface="Times New Roman" pitchFamily="18" charset="0"/>
            </a:endParaRPr>
          </a:p>
        </p:txBody>
      </p:sp>
      <p:sp>
        <p:nvSpPr>
          <p:cNvPr id="29" name="Freeform 8"/>
          <p:cNvSpPr>
            <a:spLocks/>
          </p:cNvSpPr>
          <p:nvPr/>
        </p:nvSpPr>
        <p:spPr bwMode="auto">
          <a:xfrm>
            <a:off x="5562748" y="4899248"/>
            <a:ext cx="1447800" cy="304800"/>
          </a:xfrm>
          <a:custGeom>
            <a:avLst/>
            <a:gdLst>
              <a:gd name="T0" fmla="*/ 0 w 1824"/>
              <a:gd name="T1" fmla="*/ 96 h 96"/>
              <a:gd name="T2" fmla="*/ 0 w 1824"/>
              <a:gd name="T3" fmla="*/ 0 h 96"/>
              <a:gd name="T4" fmla="*/ 1824 w 1824"/>
              <a:gd name="T5" fmla="*/ 0 h 96"/>
              <a:gd name="T6" fmla="*/ 1824 w 1824"/>
              <a:gd name="T7" fmla="*/ 96 h 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824" h="96">
                <a:moveTo>
                  <a:pt x="0" y="96"/>
                </a:moveTo>
                <a:lnTo>
                  <a:pt x="0" y="0"/>
                </a:lnTo>
                <a:lnTo>
                  <a:pt x="1824" y="0"/>
                </a:lnTo>
                <a:lnTo>
                  <a:pt x="1824" y="96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30" name="Group 9"/>
          <p:cNvGrpSpPr>
            <a:grpSpLocks/>
          </p:cNvGrpSpPr>
          <p:nvPr/>
        </p:nvGrpSpPr>
        <p:grpSpPr bwMode="auto">
          <a:xfrm>
            <a:off x="6167586" y="4257229"/>
            <a:ext cx="228600" cy="641350"/>
            <a:chOff x="4480" y="1304"/>
            <a:chExt cx="144" cy="404"/>
          </a:xfrm>
        </p:grpSpPr>
        <p:sp>
          <p:nvSpPr>
            <p:cNvPr id="33" name="Line 10"/>
            <p:cNvSpPr>
              <a:spLocks noChangeShapeType="1"/>
            </p:cNvSpPr>
            <p:nvPr/>
          </p:nvSpPr>
          <p:spPr bwMode="auto">
            <a:xfrm>
              <a:off x="4552" y="1488"/>
              <a:ext cx="4" cy="22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AutoShape 11"/>
            <p:cNvSpPr>
              <a:spLocks noChangeArrowheads="1"/>
            </p:cNvSpPr>
            <p:nvPr/>
          </p:nvSpPr>
          <p:spPr bwMode="auto">
            <a:xfrm>
              <a:off x="4480" y="1304"/>
              <a:ext cx="144" cy="192"/>
            </a:xfrm>
            <a:prstGeom prst="diamond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53567236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rtl="0" eaLnBrk="1" latinLnBrk="0" hangingPunct="1"/>
            <a:r>
              <a:rPr lang="en-US" sz="4400" b="0" i="0" kern="1200" baseline="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Which Element Comes Next?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Two basic refinement strategies:</a:t>
            </a:r>
          </a:p>
          <a:p>
            <a:pPr lvl="1"/>
            <a:r>
              <a:rPr lang="en-US" dirty="0"/>
              <a:t>Breadth first</a:t>
            </a:r>
          </a:p>
          <a:p>
            <a:pPr lvl="1"/>
            <a:r>
              <a:rPr lang="en-US" dirty="0"/>
              <a:t>Depth first</a:t>
            </a:r>
          </a:p>
          <a:p>
            <a:pPr lvl="0"/>
            <a:r>
              <a:rPr lang="en-US" dirty="0"/>
              <a:t>Which one to choose?</a:t>
            </a:r>
          </a:p>
          <a:p>
            <a:pPr lvl="1"/>
            <a:r>
              <a:rPr lang="en-US" dirty="0"/>
              <a:t>It depends </a:t>
            </a:r>
            <a:r>
              <a:rPr lang="en-US" dirty="0">
                <a:sym typeface="Wingdings" pitchFamily="2" charset="2"/>
              </a:rPr>
              <a:t></a:t>
            </a:r>
          </a:p>
          <a:p>
            <a:pPr lvl="0"/>
            <a:r>
              <a:rPr lang="en-US" dirty="0">
                <a:sym typeface="Wingdings" pitchFamily="2" charset="2"/>
              </a:rPr>
              <a:t>If using new technology =&gt; depth first: explore</a:t>
            </a:r>
            <a:r>
              <a:rPr lang="en-US" baseline="0" dirty="0">
                <a:sym typeface="Wingdings" pitchFamily="2" charset="2"/>
              </a:rPr>
              <a:t> the implications of using that technology.</a:t>
            </a:r>
          </a:p>
          <a:p>
            <a:pPr lvl="0"/>
            <a:r>
              <a:rPr lang="en-US" baseline="0" dirty="0">
                <a:sym typeface="Wingdings" pitchFamily="2" charset="2"/>
              </a:rPr>
              <a:t>If a team needs work =&gt; depth first: generate requirements for that team.</a:t>
            </a:r>
          </a:p>
          <a:p>
            <a:pPr lvl="0"/>
            <a:r>
              <a:rPr lang="en-US" baseline="0" dirty="0">
                <a:sym typeface="Wingdings" pitchFamily="2" charset="2"/>
              </a:rPr>
              <a:t>Otherwise =&gt; breadth first.</a:t>
            </a:r>
            <a:endParaRPr lang="en-US" dirty="0">
              <a:sym typeface="Wingdings" pitchFamily="2" charset="2"/>
            </a:endParaRP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Len Bass, Paul Clements, Rick Kazman, distributed under Creative Commons Attribution License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02798931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0" i="0" kern="1200" baseline="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Step 2: Identify the ASRs for the </a:t>
            </a:r>
            <a:r>
              <a:rPr lang="en-US" dirty="0"/>
              <a:t>C</a:t>
            </a:r>
            <a:r>
              <a:rPr lang="en-US" sz="4400" b="0" i="0" kern="1200" baseline="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hosen </a:t>
            </a:r>
            <a:r>
              <a:rPr lang="en-US" dirty="0"/>
              <a:t>E</a:t>
            </a:r>
            <a:r>
              <a:rPr lang="en-US" sz="4400" b="0" i="0" kern="1200" baseline="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lement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If the chosen element is the whole system, then use a utility tree (as described earlier).</a:t>
            </a:r>
          </a:p>
          <a:p>
            <a:r>
              <a:rPr lang="en-US" dirty="0"/>
              <a:t>If the chosen element is further down the decomposition tree, then generate a utility tree from the requirements for that element</a:t>
            </a:r>
            <a:r>
              <a:rPr lang="en-US" baseline="0" dirty="0"/>
              <a:t>.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Len Bass, Paul Clements, Rick Kazman, distributed under Creative Commons Attribution License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68415892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rtl="0" eaLnBrk="1" latinLnBrk="0" hangingPunct="1"/>
            <a:r>
              <a:rPr lang="en-US" sz="4400" b="0" i="0" kern="1200" baseline="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Step 3: Generate a Design Solution for the Chosen </a:t>
            </a:r>
            <a:r>
              <a:rPr lang="en-US" dirty="0"/>
              <a:t>E</a:t>
            </a:r>
            <a:r>
              <a:rPr lang="en-US" sz="4400" b="0" i="0" kern="1200" baseline="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lement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Apply generate and test to the chosen element with its ASRs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Len Bass, Paul Clements, Rick Kazman, distributed under Creative Commons Attribution License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1113650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3608" y="274638"/>
            <a:ext cx="7488832" cy="778098"/>
          </a:xfrm>
        </p:spPr>
        <p:txBody>
          <a:bodyPr>
            <a:normAutofit fontScale="90000"/>
          </a:bodyPr>
          <a:lstStyle/>
          <a:p>
            <a:pPr lvl="0"/>
            <a:r>
              <a:rPr lang="en-US" sz="4400" b="0" i="0" kern="1200" baseline="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Step 4: Select the Input for the Next </a:t>
            </a:r>
            <a:r>
              <a:rPr lang="en-US" dirty="0"/>
              <a:t>I</a:t>
            </a:r>
            <a:r>
              <a:rPr lang="en-US" sz="4400" b="0" i="0" kern="1200" baseline="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teration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For each functional requirement </a:t>
            </a:r>
          </a:p>
          <a:p>
            <a:pPr lvl="1"/>
            <a:r>
              <a:rPr lang="en-US" dirty="0"/>
              <a:t>Ensure that requirement has been satisfied.</a:t>
            </a:r>
          </a:p>
          <a:p>
            <a:pPr lvl="1"/>
            <a:r>
              <a:rPr lang="en-US" dirty="0"/>
              <a:t>If not, then add responsibilities to satisfy the requirement.</a:t>
            </a:r>
          </a:p>
          <a:p>
            <a:pPr lvl="2"/>
            <a:r>
              <a:rPr lang="en-US" dirty="0"/>
              <a:t>Add them to container with similar requirements</a:t>
            </a:r>
          </a:p>
          <a:p>
            <a:pPr lvl="2"/>
            <a:r>
              <a:rPr lang="en-US" dirty="0"/>
              <a:t>If no such container may need to create new one or add to container with dissimilar responsibilities</a:t>
            </a:r>
            <a:r>
              <a:rPr lang="en-US" baseline="0" dirty="0"/>
              <a:t> (coherence)</a:t>
            </a:r>
          </a:p>
          <a:p>
            <a:pPr lvl="2"/>
            <a:r>
              <a:rPr lang="en-US" baseline="0" dirty="0"/>
              <a:t>If container has too many requirements for a team, split it into two portions. Try to achieve loose coupling when splitting.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Len Bass, Paul Clements, Rick Kazman, distributed under Creative Commons Attribution License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18962199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Quality Attribute Requirements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If the quality attribute requirement has been satisfied, it does not need to be further considered.</a:t>
            </a:r>
          </a:p>
          <a:p>
            <a:pPr marL="0" indent="0">
              <a:buNone/>
            </a:pPr>
            <a:r>
              <a:rPr lang="en-US" dirty="0"/>
              <a:t>If the quality attribute requirement has not been satisfied</a:t>
            </a:r>
            <a:r>
              <a:rPr lang="en-US" baseline="0" dirty="0"/>
              <a:t> then either</a:t>
            </a:r>
          </a:p>
          <a:p>
            <a:pPr marL="857250" lvl="1" indent="-457200"/>
            <a:r>
              <a:rPr lang="en-US" baseline="0" dirty="0"/>
              <a:t>Delegate it to one of the child elements</a:t>
            </a:r>
          </a:p>
          <a:p>
            <a:pPr marL="857250" lvl="1" indent="-457200"/>
            <a:r>
              <a:rPr lang="en-US" baseline="0" dirty="0"/>
              <a:t>Split it among the child elements</a:t>
            </a:r>
          </a:p>
          <a:p>
            <a:pPr marL="0" lvl="0" indent="0">
              <a:buNone/>
            </a:pPr>
            <a:r>
              <a:rPr lang="en-US" baseline="0" dirty="0"/>
              <a:t>If the quality attribute cannot be satisfied, see if it can be weakened. If it cannot be satisfied or weakened then it cannot be met.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Len Bass, Paul Clements, Rick Kazman, distributed under Creative Commons Attribution License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3445907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Constraints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Constraints are treated as quality attribute requirements have been treated.</a:t>
            </a:r>
          </a:p>
          <a:p>
            <a:pPr lvl="1"/>
            <a:r>
              <a:rPr lang="en-US" dirty="0"/>
              <a:t>Satisfied</a:t>
            </a:r>
          </a:p>
          <a:p>
            <a:pPr lvl="1"/>
            <a:r>
              <a:rPr lang="en-US" dirty="0"/>
              <a:t>Delegated</a:t>
            </a:r>
          </a:p>
          <a:p>
            <a:pPr lvl="1"/>
            <a:r>
              <a:rPr lang="en-US" dirty="0"/>
              <a:t>Split</a:t>
            </a:r>
          </a:p>
          <a:p>
            <a:pPr lvl="1"/>
            <a:r>
              <a:rPr lang="en-US" dirty="0" err="1"/>
              <a:t>Unsatisfiable</a:t>
            </a:r>
            <a:r>
              <a:rPr lang="en-US" dirty="0"/>
              <a:t> 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Len Bass, Paul Clements, Rick Kazman, distributed under Creative Commons Attribution License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2620223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rtl="0" eaLnBrk="1" latinLnBrk="0" hangingPunct="1"/>
            <a:r>
              <a:rPr lang="en-US" sz="4400" b="0" i="0" kern="1200" baseline="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Repeat Steps 1–4 Until All ASRs are Satisfied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rtl="0" eaLnBrk="1" latinLnBrk="0" hangingPunct="1"/>
            <a:r>
              <a:rPr lang="en-US" dirty="0">
                <a:effectLst/>
              </a:rPr>
              <a:t>At</a:t>
            </a:r>
            <a:r>
              <a:rPr lang="en-US" baseline="0" dirty="0">
                <a:effectLst/>
              </a:rPr>
              <a:t> end of step 3, each child element will have associated with it a set of: </a:t>
            </a:r>
          </a:p>
          <a:p>
            <a:pPr lvl="1"/>
            <a:r>
              <a:rPr lang="en-US" baseline="0" dirty="0">
                <a:effectLst/>
              </a:rPr>
              <a:t>functional requirements, </a:t>
            </a:r>
          </a:p>
          <a:p>
            <a:pPr lvl="1"/>
            <a:r>
              <a:rPr lang="en-US" baseline="0" dirty="0">
                <a:effectLst/>
              </a:rPr>
              <a:t>quality attribute requirements, and </a:t>
            </a:r>
          </a:p>
          <a:p>
            <a:pPr lvl="1"/>
            <a:r>
              <a:rPr lang="en-US" baseline="0" dirty="0">
                <a:effectLst/>
              </a:rPr>
              <a:t>constraints.</a:t>
            </a:r>
          </a:p>
          <a:p>
            <a:pPr lvl="0" rtl="0" eaLnBrk="1" latinLnBrk="0" hangingPunct="1"/>
            <a:r>
              <a:rPr lang="en-US" baseline="0" dirty="0">
                <a:effectLst/>
              </a:rPr>
              <a:t>This sets up the child element for the next iteration of the method.</a:t>
            </a:r>
            <a:endParaRPr lang="en-US" dirty="0">
              <a:effectLst/>
            </a:endParaRP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Len Bass, Paul Clements, Rick Kazman, distributed under Creative Commons Attribution License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76322563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rtl="0" eaLnBrk="1" latinLnBrk="0" hangingPunct="1"/>
            <a:r>
              <a:rPr lang="en-US" sz="4400" b="0" i="0" kern="1200" baseline="0" dirty="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Summary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rtl="0" eaLnBrk="1" latinLnBrk="0" hangingPunct="1"/>
            <a:r>
              <a:rPr lang="en-US" dirty="0">
                <a:effectLst/>
              </a:rPr>
              <a:t>Designing the architecture is a matter of</a:t>
            </a:r>
          </a:p>
          <a:p>
            <a:pPr lvl="1" rtl="0" eaLnBrk="1" latinLnBrk="0" hangingPunct="1"/>
            <a:r>
              <a:rPr lang="en-US" dirty="0">
                <a:effectLst/>
              </a:rPr>
              <a:t>Determining the ASRs</a:t>
            </a:r>
          </a:p>
          <a:p>
            <a:pPr lvl="1" rtl="0" eaLnBrk="1" latinLnBrk="0" hangingPunct="1"/>
            <a:r>
              <a:rPr lang="en-US" dirty="0">
                <a:effectLst/>
              </a:rPr>
              <a:t>Performing generate and test one</a:t>
            </a:r>
            <a:r>
              <a:rPr lang="en-US" baseline="0" dirty="0">
                <a:effectLst/>
              </a:rPr>
              <a:t> an element to decompose it to satisfy the ASRs</a:t>
            </a:r>
          </a:p>
          <a:p>
            <a:pPr lvl="1" rtl="0" eaLnBrk="1" latinLnBrk="0" hangingPunct="1"/>
            <a:r>
              <a:rPr lang="en-US" baseline="0" dirty="0">
                <a:effectLst/>
              </a:rPr>
              <a:t>Iterating until requirements are satisfied.</a:t>
            </a:r>
            <a:endParaRPr lang="en-US" dirty="0">
              <a:effectLst/>
            </a:endParaRP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AU"/>
              <a:t>© Len Bass, Paul Clements, Rick Kazman, distributed under Creative Commons Attribution License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3058386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270</TotalTime>
  <Words>1401</Words>
  <Application>Microsoft Office PowerPoint</Application>
  <PresentationFormat>全屏显示(4:3)</PresentationFormat>
  <Paragraphs>168</Paragraphs>
  <Slides>24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24</vt:i4>
      </vt:variant>
    </vt:vector>
  </HeadingPairs>
  <TitlesOfParts>
    <vt:vector size="29" baseType="lpstr">
      <vt:lpstr>Arial</vt:lpstr>
      <vt:lpstr>Calibri</vt:lpstr>
      <vt:lpstr>Times New Roman</vt:lpstr>
      <vt:lpstr>Wingdings</vt:lpstr>
      <vt:lpstr>Office Theme</vt:lpstr>
      <vt:lpstr>Chapter 17: Designing an Architecture</vt:lpstr>
      <vt:lpstr>Chapter Outline</vt:lpstr>
      <vt:lpstr>Design Strategy</vt:lpstr>
      <vt:lpstr>Decomposition</vt:lpstr>
      <vt:lpstr>Designing to Architecturally Significant Requirements</vt:lpstr>
      <vt:lpstr>How Many ASRs Simultaneously?</vt:lpstr>
      <vt:lpstr>Generate and Test</vt:lpstr>
      <vt:lpstr>Raises the Following Questions</vt:lpstr>
      <vt:lpstr>Where Does the Initial Hypothesis Come From?</vt:lpstr>
      <vt:lpstr>How Do I Test a Hypothesis?</vt:lpstr>
      <vt:lpstr>How Do I Generate the Next Hypothesis?</vt:lpstr>
      <vt:lpstr>When Am I Done?</vt:lpstr>
      <vt:lpstr>The Attribute-Driven Design Method </vt:lpstr>
      <vt:lpstr>ADD Inputs and Outputs</vt:lpstr>
      <vt:lpstr>The Steps of ADD </vt:lpstr>
      <vt:lpstr>Step 1: Choose an Element of the System to Design</vt:lpstr>
      <vt:lpstr>Which Element Comes Next?</vt:lpstr>
      <vt:lpstr>Step 2: Identify the ASRs for the Chosen Element</vt:lpstr>
      <vt:lpstr>Step 3: Generate a Design Solution for the Chosen Element</vt:lpstr>
      <vt:lpstr>Step 4: Select the Input for the Next Iteration</vt:lpstr>
      <vt:lpstr>Quality Attribute Requirements </vt:lpstr>
      <vt:lpstr>Constraints</vt:lpstr>
      <vt:lpstr>Repeat Steps 1–4 Until All ASRs are Satisfied</vt:lpstr>
      <vt:lpstr>Summary </vt:lpstr>
    </vt:vector>
  </TitlesOfParts>
  <Company>NICTA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Len Bass</dc:creator>
  <cp:lastModifiedBy>七七 许</cp:lastModifiedBy>
  <cp:revision>33</cp:revision>
  <dcterms:created xsi:type="dcterms:W3CDTF">2012-04-18T22:57:58Z</dcterms:created>
  <dcterms:modified xsi:type="dcterms:W3CDTF">2025-11-03T07:13:42Z</dcterms:modified>
</cp:coreProperties>
</file>